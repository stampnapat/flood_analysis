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B2631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B2631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B2631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B2631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B2631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B2631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B2631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B2631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B2631"/>
        </a:solidFill>
        <a:effectLst/>
        <a:uFillTx/>
        <a:latin typeface="+mj-lt"/>
        <a:ea typeface="+mj-ea"/>
        <a:cs typeface="+mj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1B2631"/>
        </a:fontRef>
        <a:srgbClr val="1B2631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5D5"/>
          </a:solidFill>
        </a:fill>
      </a:tcStyle>
    </a:wholeTbl>
    <a:band2H>
      <a:tcTxStyle b="def" i="def"/>
      <a:tcStyle>
        <a:tcBdr/>
        <a:fill>
          <a:solidFill>
            <a:srgbClr val="E7EBEB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1B2631"/>
        </a:fontRef>
        <a:srgbClr val="1B2631"/>
      </a:tcTxStyle>
      <a:tcStyle>
        <a:tcBdr>
          <a:left>
            <a:ln w="12700" cap="flat">
              <a:solidFill>
                <a:srgbClr val="0B3C5D"/>
              </a:solidFill>
              <a:prstDash val="solid"/>
              <a:round/>
            </a:ln>
          </a:left>
          <a:right>
            <a:ln w="12700" cap="flat">
              <a:solidFill>
                <a:srgbClr val="0B3C5D"/>
              </a:solidFill>
              <a:prstDash val="solid"/>
              <a:round/>
            </a:ln>
          </a:right>
          <a:top>
            <a:ln w="12700" cap="flat">
              <a:solidFill>
                <a:srgbClr val="0B3C5D"/>
              </a:solidFill>
              <a:prstDash val="solid"/>
              <a:round/>
            </a:ln>
          </a:top>
          <a:bottom>
            <a:ln w="12700" cap="flat">
              <a:solidFill>
                <a:srgbClr val="0B3C5D"/>
              </a:solidFill>
              <a:prstDash val="solid"/>
              <a:round/>
            </a:ln>
          </a:bottom>
          <a:insideH>
            <a:ln w="12700" cap="flat">
              <a:solidFill>
                <a:srgbClr val="0B3C5D"/>
              </a:solidFill>
              <a:prstDash val="solid"/>
              <a:round/>
            </a:ln>
          </a:insideH>
          <a:insideV>
            <a:ln w="12700" cap="flat">
              <a:solidFill>
                <a:srgbClr val="0B3C5D"/>
              </a:solidFill>
              <a:prstDash val="solid"/>
              <a:round/>
            </a:ln>
          </a:insideV>
        </a:tcBdr>
        <a:fill>
          <a:solidFill>
            <a:srgbClr val="CBD5D5"/>
          </a:solidFill>
        </a:fill>
      </a:tcStyle>
    </a:wholeTbl>
    <a:band2H>
      <a:tcTxStyle b="def" i="def"/>
      <a:tcStyle>
        <a:tcBdr/>
        <a:fill>
          <a:solidFill>
            <a:srgbClr val="E7EBEB"/>
          </a:solidFill>
        </a:fill>
      </a:tcStyle>
    </a:band2H>
    <a:firstCol>
      <a:tcTxStyle b="on" i="off">
        <a:fontRef idx="major">
          <a:srgbClr val="0B3C5D"/>
        </a:fontRef>
        <a:srgbClr val="0B3C5D"/>
      </a:tcTxStyle>
      <a:tcStyle>
        <a:tcBdr>
          <a:left>
            <a:ln w="12700" cap="flat">
              <a:solidFill>
                <a:srgbClr val="0B3C5D"/>
              </a:solidFill>
              <a:prstDash val="solid"/>
              <a:round/>
            </a:ln>
          </a:left>
          <a:right>
            <a:ln w="12700" cap="flat">
              <a:solidFill>
                <a:srgbClr val="0B3C5D"/>
              </a:solidFill>
              <a:prstDash val="solid"/>
              <a:round/>
            </a:ln>
          </a:right>
          <a:top>
            <a:ln w="12700" cap="flat">
              <a:solidFill>
                <a:srgbClr val="0B3C5D"/>
              </a:solidFill>
              <a:prstDash val="solid"/>
              <a:round/>
            </a:ln>
          </a:top>
          <a:bottom>
            <a:ln w="12700" cap="flat">
              <a:solidFill>
                <a:srgbClr val="0B3C5D"/>
              </a:solidFill>
              <a:prstDash val="solid"/>
              <a:round/>
            </a:ln>
          </a:bottom>
          <a:insideH>
            <a:ln w="12700" cap="flat">
              <a:solidFill>
                <a:srgbClr val="0B3C5D"/>
              </a:solidFill>
              <a:prstDash val="solid"/>
              <a:round/>
            </a:ln>
          </a:insideH>
          <a:insideV>
            <a:ln w="12700" cap="flat">
              <a:solidFill>
                <a:srgbClr val="0B3C5D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3C5D"/>
        </a:fontRef>
        <a:srgbClr val="0B3C5D"/>
      </a:tcTxStyle>
      <a:tcStyle>
        <a:tcBdr>
          <a:left>
            <a:ln w="12700" cap="flat">
              <a:solidFill>
                <a:srgbClr val="0B3C5D"/>
              </a:solidFill>
              <a:prstDash val="solid"/>
              <a:round/>
            </a:ln>
          </a:left>
          <a:right>
            <a:ln w="12700" cap="flat">
              <a:solidFill>
                <a:srgbClr val="0B3C5D"/>
              </a:solidFill>
              <a:prstDash val="solid"/>
              <a:round/>
            </a:ln>
          </a:right>
          <a:top>
            <a:ln w="38100" cap="flat">
              <a:solidFill>
                <a:srgbClr val="0B3C5D"/>
              </a:solidFill>
              <a:prstDash val="solid"/>
              <a:round/>
            </a:ln>
          </a:top>
          <a:bottom>
            <a:ln w="12700" cap="flat">
              <a:solidFill>
                <a:srgbClr val="0B3C5D"/>
              </a:solidFill>
              <a:prstDash val="solid"/>
              <a:round/>
            </a:ln>
          </a:bottom>
          <a:insideH>
            <a:ln w="12700" cap="flat">
              <a:solidFill>
                <a:srgbClr val="0B3C5D"/>
              </a:solidFill>
              <a:prstDash val="solid"/>
              <a:round/>
            </a:ln>
          </a:insideH>
          <a:insideV>
            <a:ln w="12700" cap="flat">
              <a:solidFill>
                <a:srgbClr val="0B3C5D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0B3C5D"/>
        </a:fontRef>
        <a:srgbClr val="0B3C5D"/>
      </a:tcTxStyle>
      <a:tcStyle>
        <a:tcBdr>
          <a:left>
            <a:ln w="12700" cap="flat">
              <a:solidFill>
                <a:srgbClr val="0B3C5D"/>
              </a:solidFill>
              <a:prstDash val="solid"/>
              <a:round/>
            </a:ln>
          </a:left>
          <a:right>
            <a:ln w="12700" cap="flat">
              <a:solidFill>
                <a:srgbClr val="0B3C5D"/>
              </a:solidFill>
              <a:prstDash val="solid"/>
              <a:round/>
            </a:ln>
          </a:right>
          <a:top>
            <a:ln w="12700" cap="flat">
              <a:solidFill>
                <a:srgbClr val="0B3C5D"/>
              </a:solidFill>
              <a:prstDash val="solid"/>
              <a:round/>
            </a:ln>
          </a:top>
          <a:bottom>
            <a:ln w="38100" cap="flat">
              <a:solidFill>
                <a:srgbClr val="0B3C5D"/>
              </a:solidFill>
              <a:prstDash val="solid"/>
              <a:round/>
            </a:ln>
          </a:bottom>
          <a:insideH>
            <a:ln w="12700" cap="flat">
              <a:solidFill>
                <a:srgbClr val="0B3C5D"/>
              </a:solidFill>
              <a:prstDash val="solid"/>
              <a:round/>
            </a:ln>
          </a:insideH>
          <a:insideV>
            <a:ln w="12700" cap="flat">
              <a:solidFill>
                <a:srgbClr val="0B3C5D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1B2631"/>
        </a:fontRef>
        <a:srgbClr val="1B2631"/>
      </a:tcTxStyle>
      <a:tcStyle>
        <a:tcBdr>
          <a:left>
            <a:ln w="12700" cap="flat">
              <a:solidFill>
                <a:srgbClr val="0B3C5D"/>
              </a:solidFill>
              <a:prstDash val="solid"/>
              <a:round/>
            </a:ln>
          </a:left>
          <a:right>
            <a:ln w="12700" cap="flat">
              <a:solidFill>
                <a:srgbClr val="0B3C5D"/>
              </a:solidFill>
              <a:prstDash val="solid"/>
              <a:round/>
            </a:ln>
          </a:right>
          <a:top>
            <a:ln w="12700" cap="flat">
              <a:solidFill>
                <a:srgbClr val="0B3C5D"/>
              </a:solidFill>
              <a:prstDash val="solid"/>
              <a:round/>
            </a:ln>
          </a:top>
          <a:bottom>
            <a:ln w="12700" cap="flat">
              <a:solidFill>
                <a:srgbClr val="0B3C5D"/>
              </a:solidFill>
              <a:prstDash val="solid"/>
              <a:round/>
            </a:ln>
          </a:bottom>
          <a:insideH>
            <a:ln w="12700" cap="flat">
              <a:solidFill>
                <a:srgbClr val="0B3C5D"/>
              </a:solidFill>
              <a:prstDash val="solid"/>
              <a:round/>
            </a:ln>
          </a:insideH>
          <a:insideV>
            <a:ln w="12700" cap="flat">
              <a:solidFill>
                <a:srgbClr val="0B3C5D"/>
              </a:solidFill>
              <a:prstDash val="solid"/>
              <a:round/>
            </a:ln>
          </a:insideV>
        </a:tcBdr>
        <a:fill>
          <a:solidFill>
            <a:srgbClr val="FEE3D1"/>
          </a:solidFill>
        </a:fill>
      </a:tcStyle>
    </a:wholeTbl>
    <a:band2H>
      <a:tcTxStyle b="def" i="def"/>
      <a:tcStyle>
        <a:tcBdr/>
        <a:fill>
          <a:solidFill>
            <a:srgbClr val="FFF1EA"/>
          </a:solidFill>
        </a:fill>
      </a:tcStyle>
    </a:band2H>
    <a:firstCol>
      <a:tcTxStyle b="on" i="off">
        <a:fontRef idx="major">
          <a:srgbClr val="0B3C5D"/>
        </a:fontRef>
        <a:srgbClr val="0B3C5D"/>
      </a:tcTxStyle>
      <a:tcStyle>
        <a:tcBdr>
          <a:left>
            <a:ln w="12700" cap="flat">
              <a:solidFill>
                <a:srgbClr val="0B3C5D"/>
              </a:solidFill>
              <a:prstDash val="solid"/>
              <a:round/>
            </a:ln>
          </a:left>
          <a:right>
            <a:ln w="12700" cap="flat">
              <a:solidFill>
                <a:srgbClr val="0B3C5D"/>
              </a:solidFill>
              <a:prstDash val="solid"/>
              <a:round/>
            </a:ln>
          </a:right>
          <a:top>
            <a:ln w="12700" cap="flat">
              <a:solidFill>
                <a:srgbClr val="0B3C5D"/>
              </a:solidFill>
              <a:prstDash val="solid"/>
              <a:round/>
            </a:ln>
          </a:top>
          <a:bottom>
            <a:ln w="12700" cap="flat">
              <a:solidFill>
                <a:srgbClr val="0B3C5D"/>
              </a:solidFill>
              <a:prstDash val="solid"/>
              <a:round/>
            </a:ln>
          </a:bottom>
          <a:insideH>
            <a:ln w="12700" cap="flat">
              <a:solidFill>
                <a:srgbClr val="0B3C5D"/>
              </a:solidFill>
              <a:prstDash val="solid"/>
              <a:round/>
            </a:ln>
          </a:insideH>
          <a:insideV>
            <a:ln w="12700" cap="flat">
              <a:solidFill>
                <a:srgbClr val="0B3C5D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0B3C5D"/>
        </a:fontRef>
        <a:srgbClr val="0B3C5D"/>
      </a:tcTxStyle>
      <a:tcStyle>
        <a:tcBdr>
          <a:left>
            <a:ln w="12700" cap="flat">
              <a:solidFill>
                <a:srgbClr val="0B3C5D"/>
              </a:solidFill>
              <a:prstDash val="solid"/>
              <a:round/>
            </a:ln>
          </a:left>
          <a:right>
            <a:ln w="12700" cap="flat">
              <a:solidFill>
                <a:srgbClr val="0B3C5D"/>
              </a:solidFill>
              <a:prstDash val="solid"/>
              <a:round/>
            </a:ln>
          </a:right>
          <a:top>
            <a:ln w="38100" cap="flat">
              <a:solidFill>
                <a:srgbClr val="0B3C5D"/>
              </a:solidFill>
              <a:prstDash val="solid"/>
              <a:round/>
            </a:ln>
          </a:top>
          <a:bottom>
            <a:ln w="12700" cap="flat">
              <a:solidFill>
                <a:srgbClr val="0B3C5D"/>
              </a:solidFill>
              <a:prstDash val="solid"/>
              <a:round/>
            </a:ln>
          </a:bottom>
          <a:insideH>
            <a:ln w="12700" cap="flat">
              <a:solidFill>
                <a:srgbClr val="0B3C5D"/>
              </a:solidFill>
              <a:prstDash val="solid"/>
              <a:round/>
            </a:ln>
          </a:insideH>
          <a:insideV>
            <a:ln w="12700" cap="flat">
              <a:solidFill>
                <a:srgbClr val="0B3C5D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0B3C5D"/>
        </a:fontRef>
        <a:srgbClr val="0B3C5D"/>
      </a:tcTxStyle>
      <a:tcStyle>
        <a:tcBdr>
          <a:left>
            <a:ln w="12700" cap="flat">
              <a:solidFill>
                <a:srgbClr val="0B3C5D"/>
              </a:solidFill>
              <a:prstDash val="solid"/>
              <a:round/>
            </a:ln>
          </a:left>
          <a:right>
            <a:ln w="12700" cap="flat">
              <a:solidFill>
                <a:srgbClr val="0B3C5D"/>
              </a:solidFill>
              <a:prstDash val="solid"/>
              <a:round/>
            </a:ln>
          </a:right>
          <a:top>
            <a:ln w="12700" cap="flat">
              <a:solidFill>
                <a:srgbClr val="0B3C5D"/>
              </a:solidFill>
              <a:prstDash val="solid"/>
              <a:round/>
            </a:ln>
          </a:top>
          <a:bottom>
            <a:ln w="38100" cap="flat">
              <a:solidFill>
                <a:srgbClr val="0B3C5D"/>
              </a:solidFill>
              <a:prstDash val="solid"/>
              <a:round/>
            </a:ln>
          </a:bottom>
          <a:insideH>
            <a:ln w="12700" cap="flat">
              <a:solidFill>
                <a:srgbClr val="0B3C5D"/>
              </a:solidFill>
              <a:prstDash val="solid"/>
              <a:round/>
            </a:ln>
          </a:insideH>
          <a:insideV>
            <a:ln w="12700" cap="flat">
              <a:solidFill>
                <a:srgbClr val="0B3C5D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1B2631"/>
        </a:fontRef>
        <a:srgbClr val="1B2631"/>
      </a:tcTxStyle>
      <a:tcStyle>
        <a:tcBdr>
          <a:left>
            <a:ln w="12700" cap="flat">
              <a:solidFill>
                <a:srgbClr val="0B3C5D"/>
              </a:solidFill>
              <a:prstDash val="solid"/>
              <a:round/>
            </a:ln>
          </a:left>
          <a:right>
            <a:ln w="12700" cap="flat">
              <a:solidFill>
                <a:srgbClr val="0B3C5D"/>
              </a:solidFill>
              <a:prstDash val="solid"/>
              <a:round/>
            </a:ln>
          </a:right>
          <a:top>
            <a:ln w="12700" cap="flat">
              <a:solidFill>
                <a:srgbClr val="0B3C5D"/>
              </a:solidFill>
              <a:prstDash val="solid"/>
              <a:round/>
            </a:ln>
          </a:top>
          <a:bottom>
            <a:ln w="12700" cap="flat">
              <a:solidFill>
                <a:srgbClr val="0B3C5D"/>
              </a:solidFill>
              <a:prstDash val="solid"/>
              <a:round/>
            </a:ln>
          </a:bottom>
          <a:insideH>
            <a:ln w="12700" cap="flat">
              <a:solidFill>
                <a:srgbClr val="0B3C5D"/>
              </a:solidFill>
              <a:prstDash val="solid"/>
              <a:round/>
            </a:ln>
          </a:insideH>
          <a:insideV>
            <a:ln w="12700" cap="flat">
              <a:solidFill>
                <a:srgbClr val="0B3C5D"/>
              </a:solidFill>
              <a:prstDash val="solid"/>
              <a:round/>
            </a:ln>
          </a:insideV>
        </a:tcBdr>
        <a:fill>
          <a:solidFill>
            <a:srgbClr val="D1D3D7"/>
          </a:solidFill>
        </a:fill>
      </a:tcStyle>
    </a:wholeTbl>
    <a:band2H>
      <a:tcTxStyle b="def" i="def"/>
      <a:tcStyle>
        <a:tcBdr/>
        <a:fill>
          <a:solidFill>
            <a:srgbClr val="E9EAEC"/>
          </a:solidFill>
        </a:fill>
      </a:tcStyle>
    </a:band2H>
    <a:firstCol>
      <a:tcTxStyle b="on" i="off">
        <a:fontRef idx="major">
          <a:srgbClr val="0B3C5D"/>
        </a:fontRef>
        <a:srgbClr val="0B3C5D"/>
      </a:tcTxStyle>
      <a:tcStyle>
        <a:tcBdr>
          <a:left>
            <a:ln w="12700" cap="flat">
              <a:solidFill>
                <a:srgbClr val="0B3C5D"/>
              </a:solidFill>
              <a:prstDash val="solid"/>
              <a:round/>
            </a:ln>
          </a:left>
          <a:right>
            <a:ln w="12700" cap="flat">
              <a:solidFill>
                <a:srgbClr val="0B3C5D"/>
              </a:solidFill>
              <a:prstDash val="solid"/>
              <a:round/>
            </a:ln>
          </a:right>
          <a:top>
            <a:ln w="12700" cap="flat">
              <a:solidFill>
                <a:srgbClr val="0B3C5D"/>
              </a:solidFill>
              <a:prstDash val="solid"/>
              <a:round/>
            </a:ln>
          </a:top>
          <a:bottom>
            <a:ln w="12700" cap="flat">
              <a:solidFill>
                <a:srgbClr val="0B3C5D"/>
              </a:solidFill>
              <a:prstDash val="solid"/>
              <a:round/>
            </a:ln>
          </a:bottom>
          <a:insideH>
            <a:ln w="12700" cap="flat">
              <a:solidFill>
                <a:srgbClr val="0B3C5D"/>
              </a:solidFill>
              <a:prstDash val="solid"/>
              <a:round/>
            </a:ln>
          </a:insideH>
          <a:insideV>
            <a:ln w="12700" cap="flat">
              <a:solidFill>
                <a:srgbClr val="0B3C5D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0B3C5D"/>
        </a:fontRef>
        <a:srgbClr val="0B3C5D"/>
      </a:tcTxStyle>
      <a:tcStyle>
        <a:tcBdr>
          <a:left>
            <a:ln w="12700" cap="flat">
              <a:solidFill>
                <a:srgbClr val="0B3C5D"/>
              </a:solidFill>
              <a:prstDash val="solid"/>
              <a:round/>
            </a:ln>
          </a:left>
          <a:right>
            <a:ln w="12700" cap="flat">
              <a:solidFill>
                <a:srgbClr val="0B3C5D"/>
              </a:solidFill>
              <a:prstDash val="solid"/>
              <a:round/>
            </a:ln>
          </a:right>
          <a:top>
            <a:ln w="38100" cap="flat">
              <a:solidFill>
                <a:srgbClr val="0B3C5D"/>
              </a:solidFill>
              <a:prstDash val="solid"/>
              <a:round/>
            </a:ln>
          </a:top>
          <a:bottom>
            <a:ln w="12700" cap="flat">
              <a:solidFill>
                <a:srgbClr val="0B3C5D"/>
              </a:solidFill>
              <a:prstDash val="solid"/>
              <a:round/>
            </a:ln>
          </a:bottom>
          <a:insideH>
            <a:ln w="12700" cap="flat">
              <a:solidFill>
                <a:srgbClr val="0B3C5D"/>
              </a:solidFill>
              <a:prstDash val="solid"/>
              <a:round/>
            </a:ln>
          </a:insideH>
          <a:insideV>
            <a:ln w="12700" cap="flat">
              <a:solidFill>
                <a:srgbClr val="0B3C5D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0B3C5D"/>
        </a:fontRef>
        <a:srgbClr val="0B3C5D"/>
      </a:tcTxStyle>
      <a:tcStyle>
        <a:tcBdr>
          <a:left>
            <a:ln w="12700" cap="flat">
              <a:solidFill>
                <a:srgbClr val="0B3C5D"/>
              </a:solidFill>
              <a:prstDash val="solid"/>
              <a:round/>
            </a:ln>
          </a:left>
          <a:right>
            <a:ln w="12700" cap="flat">
              <a:solidFill>
                <a:srgbClr val="0B3C5D"/>
              </a:solidFill>
              <a:prstDash val="solid"/>
              <a:round/>
            </a:ln>
          </a:right>
          <a:top>
            <a:ln w="12700" cap="flat">
              <a:solidFill>
                <a:srgbClr val="0B3C5D"/>
              </a:solidFill>
              <a:prstDash val="solid"/>
              <a:round/>
            </a:ln>
          </a:top>
          <a:bottom>
            <a:ln w="38100" cap="flat">
              <a:solidFill>
                <a:srgbClr val="0B3C5D"/>
              </a:solidFill>
              <a:prstDash val="solid"/>
              <a:round/>
            </a:ln>
          </a:bottom>
          <a:insideH>
            <a:ln w="12700" cap="flat">
              <a:solidFill>
                <a:srgbClr val="0B3C5D"/>
              </a:solidFill>
              <a:prstDash val="solid"/>
              <a:round/>
            </a:ln>
          </a:insideH>
          <a:insideV>
            <a:ln w="12700" cap="flat">
              <a:solidFill>
                <a:srgbClr val="0B3C5D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1B2631"/>
        </a:fontRef>
        <a:srgbClr val="1B2631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7E7E7"/>
          </a:solidFill>
        </a:fill>
      </a:tcStyle>
    </a:wholeTbl>
    <a:band2H>
      <a:tcTxStyle b="def" i="def"/>
      <a:tcStyle>
        <a:tcBdr/>
        <a:fill>
          <a:solidFill>
            <a:srgbClr val="0B3C5D"/>
          </a:solidFill>
        </a:fill>
      </a:tcStyle>
    </a:band2H>
    <a:firstCol>
      <a:tcTxStyle b="on" i="off">
        <a:fontRef idx="major">
          <a:srgbClr val="0B3C5D"/>
        </a:fontRef>
        <a:srgbClr val="0B3C5D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1B2631"/>
        </a:fontRef>
        <a:srgbClr val="1B2631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1B2631"/>
              </a:solidFill>
              <a:prstDash val="solid"/>
              <a:round/>
            </a:ln>
          </a:top>
          <a:bottom>
            <a:ln w="25400" cap="flat">
              <a:solidFill>
                <a:srgbClr val="1B2631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B3C5D"/>
          </a:solidFill>
        </a:fill>
      </a:tcStyle>
    </a:lastRow>
    <a:firstRow>
      <a:tcTxStyle b="on" i="off">
        <a:fontRef idx="major">
          <a:srgbClr val="0B3C5D"/>
        </a:fontRef>
        <a:srgbClr val="0B3C5D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1B2631"/>
              </a:solidFill>
              <a:prstDash val="solid"/>
              <a:round/>
            </a:ln>
          </a:top>
          <a:bottom>
            <a:ln w="25400" cap="flat">
              <a:solidFill>
                <a:srgbClr val="1B2631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1B2631"/>
        </a:fontRef>
        <a:srgbClr val="1B2631"/>
      </a:tcTxStyle>
      <a:tcStyle>
        <a:tcBdr>
          <a:left>
            <a:ln w="12700" cap="flat">
              <a:solidFill>
                <a:srgbClr val="0B3C5D"/>
              </a:solidFill>
              <a:prstDash val="solid"/>
              <a:round/>
            </a:ln>
          </a:left>
          <a:right>
            <a:ln w="12700" cap="flat">
              <a:solidFill>
                <a:srgbClr val="0B3C5D"/>
              </a:solidFill>
              <a:prstDash val="solid"/>
              <a:round/>
            </a:ln>
          </a:right>
          <a:top>
            <a:ln w="12700" cap="flat">
              <a:solidFill>
                <a:srgbClr val="0B3C5D"/>
              </a:solidFill>
              <a:prstDash val="solid"/>
              <a:round/>
            </a:ln>
          </a:top>
          <a:bottom>
            <a:ln w="12700" cap="flat">
              <a:solidFill>
                <a:srgbClr val="0B3C5D"/>
              </a:solidFill>
              <a:prstDash val="solid"/>
              <a:round/>
            </a:ln>
          </a:bottom>
          <a:insideH>
            <a:ln w="12700" cap="flat">
              <a:solidFill>
                <a:srgbClr val="0B3C5D"/>
              </a:solidFill>
              <a:prstDash val="solid"/>
              <a:round/>
            </a:ln>
          </a:insideH>
          <a:insideV>
            <a:ln w="12700" cap="flat">
              <a:solidFill>
                <a:srgbClr val="0B3C5D"/>
              </a:solidFill>
              <a:prstDash val="solid"/>
              <a:round/>
            </a:ln>
          </a:insideV>
        </a:tcBdr>
        <a:fill>
          <a:solidFill>
            <a:srgbClr val="CBCBCC"/>
          </a:solidFill>
        </a:fill>
      </a:tcStyle>
    </a:wholeTbl>
    <a:band2H>
      <a:tcTxStyle b="def" i="def"/>
      <a:tcStyle>
        <a:tcBdr/>
        <a:fill>
          <a:solidFill>
            <a:srgbClr val="E7E7E7"/>
          </a:solidFill>
        </a:fill>
      </a:tcStyle>
    </a:band2H>
    <a:firstCol>
      <a:tcTxStyle b="on" i="off">
        <a:fontRef idx="major">
          <a:srgbClr val="0B3C5D"/>
        </a:fontRef>
        <a:srgbClr val="0B3C5D"/>
      </a:tcTxStyle>
      <a:tcStyle>
        <a:tcBdr>
          <a:left>
            <a:ln w="12700" cap="flat">
              <a:solidFill>
                <a:srgbClr val="0B3C5D"/>
              </a:solidFill>
              <a:prstDash val="solid"/>
              <a:round/>
            </a:ln>
          </a:left>
          <a:right>
            <a:ln w="12700" cap="flat">
              <a:solidFill>
                <a:srgbClr val="0B3C5D"/>
              </a:solidFill>
              <a:prstDash val="solid"/>
              <a:round/>
            </a:ln>
          </a:right>
          <a:top>
            <a:ln w="12700" cap="flat">
              <a:solidFill>
                <a:srgbClr val="0B3C5D"/>
              </a:solidFill>
              <a:prstDash val="solid"/>
              <a:round/>
            </a:ln>
          </a:top>
          <a:bottom>
            <a:ln w="12700" cap="flat">
              <a:solidFill>
                <a:srgbClr val="0B3C5D"/>
              </a:solidFill>
              <a:prstDash val="solid"/>
              <a:round/>
            </a:ln>
          </a:bottom>
          <a:insideH>
            <a:ln w="12700" cap="flat">
              <a:solidFill>
                <a:srgbClr val="0B3C5D"/>
              </a:solidFill>
              <a:prstDash val="solid"/>
              <a:round/>
            </a:ln>
          </a:insideH>
          <a:insideV>
            <a:ln w="12700" cap="flat">
              <a:solidFill>
                <a:srgbClr val="0B3C5D"/>
              </a:solidFill>
              <a:prstDash val="solid"/>
              <a:round/>
            </a:ln>
          </a:insideV>
        </a:tcBdr>
        <a:fill>
          <a:solidFill>
            <a:srgbClr val="1B2631"/>
          </a:solidFill>
        </a:fill>
      </a:tcStyle>
    </a:firstCol>
    <a:lastRow>
      <a:tcTxStyle b="on" i="off">
        <a:fontRef idx="major">
          <a:srgbClr val="0B3C5D"/>
        </a:fontRef>
        <a:srgbClr val="0B3C5D"/>
      </a:tcTxStyle>
      <a:tcStyle>
        <a:tcBdr>
          <a:left>
            <a:ln w="12700" cap="flat">
              <a:solidFill>
                <a:srgbClr val="0B3C5D"/>
              </a:solidFill>
              <a:prstDash val="solid"/>
              <a:round/>
            </a:ln>
          </a:left>
          <a:right>
            <a:ln w="12700" cap="flat">
              <a:solidFill>
                <a:srgbClr val="0B3C5D"/>
              </a:solidFill>
              <a:prstDash val="solid"/>
              <a:round/>
            </a:ln>
          </a:right>
          <a:top>
            <a:ln w="38100" cap="flat">
              <a:solidFill>
                <a:srgbClr val="0B3C5D"/>
              </a:solidFill>
              <a:prstDash val="solid"/>
              <a:round/>
            </a:ln>
          </a:top>
          <a:bottom>
            <a:ln w="12700" cap="flat">
              <a:solidFill>
                <a:srgbClr val="0B3C5D"/>
              </a:solidFill>
              <a:prstDash val="solid"/>
              <a:round/>
            </a:ln>
          </a:bottom>
          <a:insideH>
            <a:ln w="12700" cap="flat">
              <a:solidFill>
                <a:srgbClr val="0B3C5D"/>
              </a:solidFill>
              <a:prstDash val="solid"/>
              <a:round/>
            </a:ln>
          </a:insideH>
          <a:insideV>
            <a:ln w="12700" cap="flat">
              <a:solidFill>
                <a:srgbClr val="0B3C5D"/>
              </a:solidFill>
              <a:prstDash val="solid"/>
              <a:round/>
            </a:ln>
          </a:insideV>
        </a:tcBdr>
        <a:fill>
          <a:solidFill>
            <a:srgbClr val="1B2631"/>
          </a:solidFill>
        </a:fill>
      </a:tcStyle>
    </a:lastRow>
    <a:firstRow>
      <a:tcTxStyle b="on" i="off">
        <a:fontRef idx="major">
          <a:srgbClr val="0B3C5D"/>
        </a:fontRef>
        <a:srgbClr val="0B3C5D"/>
      </a:tcTxStyle>
      <a:tcStyle>
        <a:tcBdr>
          <a:left>
            <a:ln w="12700" cap="flat">
              <a:solidFill>
                <a:srgbClr val="0B3C5D"/>
              </a:solidFill>
              <a:prstDash val="solid"/>
              <a:round/>
            </a:ln>
          </a:left>
          <a:right>
            <a:ln w="12700" cap="flat">
              <a:solidFill>
                <a:srgbClr val="0B3C5D"/>
              </a:solidFill>
              <a:prstDash val="solid"/>
              <a:round/>
            </a:ln>
          </a:right>
          <a:top>
            <a:ln w="12700" cap="flat">
              <a:solidFill>
                <a:srgbClr val="0B3C5D"/>
              </a:solidFill>
              <a:prstDash val="solid"/>
              <a:round/>
            </a:ln>
          </a:top>
          <a:bottom>
            <a:ln w="38100" cap="flat">
              <a:solidFill>
                <a:srgbClr val="0B3C5D"/>
              </a:solidFill>
              <a:prstDash val="solid"/>
              <a:round/>
            </a:ln>
          </a:bottom>
          <a:insideH>
            <a:ln w="12700" cap="flat">
              <a:solidFill>
                <a:srgbClr val="0B3C5D"/>
              </a:solidFill>
              <a:prstDash val="solid"/>
              <a:round/>
            </a:ln>
          </a:insideH>
          <a:insideV>
            <a:ln w="12700" cap="flat">
              <a:solidFill>
                <a:srgbClr val="0B3C5D"/>
              </a:solidFill>
              <a:prstDash val="solid"/>
              <a:round/>
            </a:ln>
          </a:insideV>
        </a:tcBdr>
        <a:fill>
          <a:solidFill>
            <a:srgbClr val="1B263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44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5" name="Shape 45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solidFill>
          <a:srgbClr val="1B2631"/>
        </a:solidFill>
        <a:latin typeface="+mn-lt"/>
        <a:ea typeface="+mn-ea"/>
        <a:cs typeface="+mn-cs"/>
        <a:sym typeface="Calibri"/>
      </a:defRPr>
    </a:lvl1pPr>
    <a:lvl2pPr indent="228600" latinLnBrk="0">
      <a:defRPr sz="1200">
        <a:solidFill>
          <a:srgbClr val="1B2631"/>
        </a:solidFill>
        <a:latin typeface="+mn-lt"/>
        <a:ea typeface="+mn-ea"/>
        <a:cs typeface="+mn-cs"/>
        <a:sym typeface="Calibri"/>
      </a:defRPr>
    </a:lvl2pPr>
    <a:lvl3pPr indent="457200" latinLnBrk="0">
      <a:defRPr sz="1200">
        <a:solidFill>
          <a:srgbClr val="1B2631"/>
        </a:solidFill>
        <a:latin typeface="+mn-lt"/>
        <a:ea typeface="+mn-ea"/>
        <a:cs typeface="+mn-cs"/>
        <a:sym typeface="Calibri"/>
      </a:defRPr>
    </a:lvl3pPr>
    <a:lvl4pPr indent="685800" latinLnBrk="0">
      <a:defRPr sz="1200">
        <a:solidFill>
          <a:srgbClr val="1B2631"/>
        </a:solidFill>
        <a:latin typeface="+mn-lt"/>
        <a:ea typeface="+mn-ea"/>
        <a:cs typeface="+mn-cs"/>
        <a:sym typeface="Calibri"/>
      </a:defRPr>
    </a:lvl4pPr>
    <a:lvl5pPr indent="914400" latinLnBrk="0">
      <a:defRPr sz="1200">
        <a:solidFill>
          <a:srgbClr val="1B2631"/>
        </a:solidFill>
        <a:latin typeface="+mn-lt"/>
        <a:ea typeface="+mn-ea"/>
        <a:cs typeface="+mn-cs"/>
        <a:sym typeface="Calibri"/>
      </a:defRPr>
    </a:lvl5pPr>
    <a:lvl6pPr indent="1143000" latinLnBrk="0">
      <a:defRPr sz="1200">
        <a:solidFill>
          <a:srgbClr val="1B2631"/>
        </a:solidFill>
        <a:latin typeface="+mn-lt"/>
        <a:ea typeface="+mn-ea"/>
        <a:cs typeface="+mn-cs"/>
        <a:sym typeface="Calibri"/>
      </a:defRPr>
    </a:lvl6pPr>
    <a:lvl7pPr indent="1371600" latinLnBrk="0">
      <a:defRPr sz="1200">
        <a:solidFill>
          <a:srgbClr val="1B2631"/>
        </a:solidFill>
        <a:latin typeface="+mn-lt"/>
        <a:ea typeface="+mn-ea"/>
        <a:cs typeface="+mn-cs"/>
        <a:sym typeface="Calibri"/>
      </a:defRPr>
    </a:lvl7pPr>
    <a:lvl8pPr indent="1600200" latinLnBrk="0">
      <a:defRPr sz="1200">
        <a:solidFill>
          <a:srgbClr val="1B2631"/>
        </a:solidFill>
        <a:latin typeface="+mn-lt"/>
        <a:ea typeface="+mn-ea"/>
        <a:cs typeface="+mn-cs"/>
        <a:sym typeface="Calibri"/>
      </a:defRPr>
    </a:lvl8pPr>
    <a:lvl9pPr indent="1828800" latinLnBrk="0">
      <a:defRPr sz="1200">
        <a:solidFill>
          <a:srgbClr val="1B2631"/>
        </a:solidFill>
        <a:latin typeface="+mn-lt"/>
        <a:ea typeface="+mn-ea"/>
        <a:cs typeface="+mn-cs"/>
        <a:sym typeface="Calibri"/>
      </a:defRPr>
    </a:lvl9pPr>
  </p:notesStyle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hape 4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0" name="Shape 5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>
                <a:latin typeface="+mj-lt"/>
                <a:ea typeface="+mj-ea"/>
                <a:cs typeface="+mj-cs"/>
                <a:sym typeface="Helvetica"/>
              </a:defRPr>
            </a:pPr>
            <a:r>
              <a:t>สวัสดีครับ หัวข้อของกลุ่มเราคือการจัดกลุ่มจังหวัดตามรูปแบบผลกระทบจากน้ำท่วมในประเทศไทยช่วงปี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2019–2024 </a:t>
            </a:r>
            <a:r>
              <a:t>และหา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hotspot </a:t>
            </a:r>
            <a:r>
              <a:t>เชิงพื้นที่ โดยใช้ข้อมูลจาก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4 </a:t>
            </a:r>
            <a:r>
              <a:t>หน่วยงาน คำถามหลักคือ จังหวัดที่ได้รับความเสียหายจากน้ำท่วมมาก เป็นจังหวัดเดียวกับที่น้ำท่วมซ้ำซากหรือไม่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Shape 68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69" name="Shape 69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>
                <a:latin typeface="+mj-lt"/>
                <a:ea typeface="+mj-ea"/>
                <a:cs typeface="+mj-cs"/>
                <a:sym typeface="Helvetica"/>
              </a:defRPr>
            </a:pPr>
            <a:r>
              <a:t>ข้อมูลของเราเป็น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complex data </a:t>
            </a:r>
            <a:r>
              <a:t>เพราะมาจาก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4 </a:t>
            </a:r>
            <a:r>
              <a:t>หน่วยงาน คนละรูปแบบไฟล์ คนละความละเอียด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: </a:t>
            </a:r>
            <a:r>
              <a:t>ปภ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. </a:t>
            </a:r>
            <a:r>
              <a:t>ให้สถิติความเสียหาย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, </a:t>
            </a:r>
            <a:r>
              <a:t>สถาบันสารสนเทศทรัพยากรน้ำ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(ThaiWater) </a:t>
            </a:r>
            <a:r>
              <a:t>ให้ปริมาณฝนรายเดือนรายจังหวัด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, </a:t>
            </a:r>
            <a:r>
              <a:t>กรมการปกครองให้จำนวนประชากร ซึ่งไฟล์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.xls </a:t>
            </a:r>
            <a:r>
              <a:t>จริงๆ เป็นตาราง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HTML, </a:t>
            </a:r>
            <a:r>
              <a:t>และแผนที่น้ำท่วมซ้ำซากที่เราใช้เป็นตัวอ้างอิงตอนประเมินผล เป็นข้อมูลเชิงพื้นที่และเวลา และมี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attribute </a:t>
            </a:r>
            <a:r>
              <a:t>ที่เบ้มาก การประยุกต์ใช้คือช่วยจัดลำดับพื้นที่เสี่ยงให้หน่วยงานวางแผนงบประมาณและการเตรียมรับมือ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Shape 8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4" name="Shape 8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>
                <a:latin typeface="+mj-lt"/>
                <a:ea typeface="+mj-ea"/>
                <a:cs typeface="+mj-cs"/>
                <a:sym typeface="Helvetica"/>
              </a:defRPr>
            </a:pPr>
            <a:r>
              <a:t>ตัวเลขนี้แสดงความซับซ้อนของข้อมูล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: </a:t>
            </a:r>
            <a:r>
              <a:t>แถวดิบของ ปภ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. </a:t>
            </a:r>
            <a:r>
              <a:t>รวม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44,044 </a:t>
            </a:r>
            <a:r>
              <a:t>แถว แต่ละปีมีคอลัมน์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44 </a:t>
            </a:r>
            <a:r>
              <a:t>ถึง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66 </a:t>
            </a:r>
            <a:r>
              <a:t>คอลัมน์และ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schema </a:t>
            </a:r>
            <a:r>
              <a:t>ไม่เหมือนกันเลย ปี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2019 </a:t>
            </a:r>
            <a:r>
              <a:t>เป็นระดับจังหวัด ปี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2020–2022 </a:t>
            </a:r>
            <a:r>
              <a:t>เป็นระดับอำเภอต่อเหตุการณ์ ปี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2024 </a:t>
            </a:r>
            <a:r>
              <a:t>เป็นระดับหมู่บ้านเกือบ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35,000 </a:t>
            </a:r>
            <a:r>
              <a:t>แถว และปี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2023 </a:t>
            </a:r>
            <a:r>
              <a:t>เปลี่ยนเป็นหมวดความเสียหายแบบหยาบ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13 </a:t>
            </a:r>
            <a:r>
              <a:t>หมวด นอกจากนี้ยังมีแถวยอดรวม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144 </a:t>
            </a:r>
            <a:r>
              <a:t>แถวแทรกอยู่ในข้อมูล ถ้าไม่ลบจะนับซ้ำ และชื่อจังหวัดเขียนได้หลายแบบ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Shape 9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1" name="Shape 9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>
                <a:latin typeface="+mj-lt"/>
                <a:ea typeface="+mj-ea"/>
                <a:cs typeface="+mj-cs"/>
                <a:sym typeface="Helvetica"/>
              </a:defRPr>
            </a:pPr>
            <a:r>
              <a:t>จากการสำรวจข้อมูล ผลกระทบต่างกันมากในแต่ละปี ปี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2022 </a:t>
            </a:r>
            <a:r>
              <a:t>จากพายุโนรูมีผู้ได้รับผลกระทบ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8.2 </a:t>
            </a:r>
            <a:r>
              <a:t>ล้านคน มากกว่าปี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2023 </a:t>
            </a:r>
            <a:r>
              <a:t>ถึง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7 </a:t>
            </a:r>
            <a:r>
              <a:t>เท่า แผนที่ด้านขวาแสดงว่าผู้ได้รับผลกระทบต่อประชากรพันคนสูงในภาคเหนือและใต้สุด ขณะที่ฝนมากที่สุดอยู่ภาคตะวันออกและฝั่งอันดามัน แปลว่าฝนอย่างเดียวอธิบายผลกระทบไม่ได้ เกือบทุกจังหวัดมีการประกาศภัยทุกปี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Shape 10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4" name="Shape 10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attribute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ความเสียหาย </a:t>
            </a:r>
            <a:r>
              <a:t>48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ตัวในไฟล์ปี </a:t>
            </a:r>
            <a:r>
              <a:t>2019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มีค่าความเบ้มัธยฐาน </a:t>
            </a:r>
            <a:r>
              <a:t>5.3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และมีค่าศูนย์เฉลี่ยถึง </a:t>
            </a:r>
            <a:r>
              <a:t>82%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ของจังหวัด ถ้าเอาค่าดิบไปทำ </a:t>
            </a:r>
            <a:r>
              <a:t>clustering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ที่ใช้ระยะทาง จังหวัดไม่กี่จังหวัดจะครอบงำผลทั้งหมด จึงต้องทำ </a:t>
            </a:r>
            <a:r>
              <a:t>normalisation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ด้วยประชากร</a:t>
            </a:r>
            <a:r>
              <a:t>/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พื้นที่ และ </a:t>
            </a:r>
            <a:r>
              <a:t>log transform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และ </a:t>
            </a:r>
            <a:r>
              <a:t>feature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หลายตัวมีความสัมพันธ์กัน จึงใช้ </a:t>
            </a:r>
            <a:r>
              <a:t>PCA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ต่อ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Shape 13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37" name="Shape 13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>
                <a:latin typeface="+mj-lt"/>
                <a:ea typeface="+mj-ea"/>
                <a:cs typeface="+mj-cs"/>
                <a:sym typeface="Helvetica"/>
              </a:defRPr>
            </a:pPr>
            <a:r>
              <a:t>ขั้นตอนรวมข้อมูลมี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5 </a:t>
            </a:r>
            <a:r>
              <a:t>ขั้น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: </a:t>
            </a:r>
            <a:r>
              <a:t>อ่านไฟล์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6 </a:t>
            </a:r>
            <a:r>
              <a:t>รูปแบบ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, </a:t>
            </a:r>
            <a:r>
              <a:t>ทำความสะอาดโดยลบแถวยอดรวม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144 </a:t>
            </a:r>
            <a:r>
              <a:t>แถว และแปลง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'-' </a:t>
            </a:r>
            <a:r>
              <a:t>กับช่องว่างเป็นศูนย์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, harmonise </a:t>
            </a:r>
            <a:r>
              <a:t>คอลัมน์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44–66 </a:t>
            </a:r>
            <a:r>
              <a:t>คอลัมน์ให้เหลือ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attribute </a:t>
            </a:r>
            <a:r>
              <a:t>ร่วมกัน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, </a:t>
            </a:r>
            <a:r>
              <a:t>จับคู่ชื่อจังหวัดเป็นรหัสจังหวัด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77 </a:t>
            </a:r>
            <a:r>
              <a:t>รหัสโดยไม่มีชื่อที่จับคู่ไม่ได้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, </a:t>
            </a:r>
            <a:r>
              <a:t>แล้ว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join </a:t>
            </a:r>
            <a:r>
              <a:t>กับฝนและประชากรด้วยจังหวัดและปี เราตรวจว่ายอดรวมรายปีตรงกับแถวยอดรวมทางการของ ปภ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. </a:t>
            </a:r>
            <a:r>
              <a:t>ก่อนเติมค่าที่หายไป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Shape 14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4" name="Shape 14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>
                <a:latin typeface="+mj-lt"/>
                <a:ea typeface="+mj-ea"/>
                <a:cs typeface="+mj-cs"/>
                <a:sym typeface="Helvetica"/>
              </a:defRPr>
            </a:pPr>
            <a:r>
              <a:t>ต่อมาคือการจัดการค่าที่หายไป ข้อมูลมีศูนย์ที่จริงๆ คือค่าหาย เช่น ร้อยเอ็ดปี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2019 </a:t>
            </a:r>
            <a:r>
              <a:t>มีครัวเรือน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47,822 </a:t>
            </a:r>
            <a:r>
              <a:t>แต่จำนวนคนเป็นศูนย์ เราเติมด้วยจำนวนครัวเรือนคูณค่ามัธยฐานคนต่อครัวเรือน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2.74 </a:t>
            </a:r>
            <a:r>
              <a:t>นอกจากนี้ตัด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feature </a:t>
            </a:r>
            <a:r>
              <a:t>ที่ไม่น่าเชื่อถือ เช่น ผู้อพยพ ที่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schema </a:t>
            </a:r>
            <a:r>
              <a:t>ปี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2023 </a:t>
            </a:r>
            <a:r>
              <a:t>บันทึกได้แค่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20 </a:t>
            </a:r>
            <a:r>
              <a:t>คนทั้งประเทศ แล้ว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normalise </a:t>
            </a:r>
            <a:r>
              <a:t>ต่อประชากรหรือพื้นที่ ทำ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log1p </a:t>
            </a:r>
            <a:r>
              <a:t>และ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z-score </a:t>
            </a:r>
            <a:r>
              <a:t>ทำให้ความเบ้ลดเหลือใกล้ศูนย์ สุดท้ายใช้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PCA </a:t>
            </a:r>
            <a:r>
              <a:t>เหลือ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5 </a:t>
            </a:r>
            <a:r>
              <a:t>องค์ประกอบ ครอบคลุม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85% </a:t>
            </a:r>
            <a:r>
              <a:t>ของความแปรปรวน และ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PC1 </a:t>
            </a:r>
            <a:r>
              <a:t>ใช้เป็นดัชนีความรุนแรง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Shape 15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56" name="Shape 15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>
                <a:latin typeface="+mj-lt"/>
                <a:ea typeface="+mj-ea"/>
                <a:cs typeface="+mj-cs"/>
                <a:sym typeface="Helvetica"/>
              </a:defRPr>
            </a:pPr>
            <a:r>
              <a:t>เทคนิคแรกคือ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clustering </a:t>
            </a:r>
            <a:r>
              <a:t>เปรียบเทียบ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K-Means </a:t>
            </a:r>
            <a:r>
              <a:t>ที่เรียนในห้อง กับ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HDBSCAN </a:t>
            </a:r>
            <a:r>
              <a:t>ที่ไม่ได้เรียน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HDBSCAN </a:t>
            </a:r>
            <a:r>
              <a:t>เป็น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clustering </a:t>
            </a:r>
            <a:r>
              <a:t>แบบอิงความหนาแน่นเชิงลำดับชั้น ไม่ต้องกำหนดจำนวน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k </a:t>
            </a:r>
            <a:r>
              <a:t>ล่วงหน้า และติดป้าย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noise </a:t>
            </a:r>
            <a:r>
              <a:t>ให้จุดที่อยู่ในบริเวณความหนาแน่นต่ำ จึงใช้หา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outlier </a:t>
            </a:r>
            <a:r>
              <a:t>ได้ ส่วน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K-Means </a:t>
            </a:r>
            <a:r>
              <a:t>เราเลือก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k </a:t>
            </a:r>
            <a:r>
              <a:t>ด้วย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elbow, silhouette </a:t>
            </a:r>
            <a:r>
              <a:t>และความเสถียรเมื่อเปลี่ยน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random seed 20 </a:t>
            </a:r>
            <a:r>
              <a:t>ครั้ง ทั้งสองวิธีใช้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PCA score 5 </a:t>
            </a:r>
            <a:r>
              <a:t>มิติของ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77 </a:t>
            </a:r>
            <a:r>
              <a:t>จังหวัดเป็น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input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Shape 178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79" name="Shape 179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>
                <a:latin typeface="+mj-lt"/>
                <a:ea typeface="+mj-ea"/>
                <a:cs typeface="+mj-cs"/>
                <a:sym typeface="Helvetica"/>
              </a:defRPr>
            </a:pPr>
            <a:r>
              <a:t>เทคนิคที่สองคือสถิติ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spatial autocorrelation </a:t>
            </a:r>
            <a:r>
              <a:t>ซึ่งไม่ได้เรียนในห้อง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Global Moran's I </a:t>
            </a:r>
            <a:r>
              <a:t>วัดว่าจังหวัดที่ติดกันมีความรุนแรงคล้ายกันหรือไม่ ถ้ามากกว่าศูนย์แปลว่าจับกลุ่มเชิงพื้นที่ ส่วน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LISA </a:t>
            </a:r>
            <a:r>
              <a:t>หรือ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Local Moran </a:t>
            </a:r>
            <a:r>
              <a:t>คำนวณค่าให้แต่ละจังหวัด แบ่งเป็น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HH </a:t>
            </a:r>
            <a:r>
              <a:t>คือ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hotspot </a:t>
            </a:r>
            <a:r>
              <a:t>ที่จังหวัดนั้นและเพื่อนบ้านรุนแรงสูง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, LL </a:t>
            </a:r>
            <a:r>
              <a:t>คือ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coldspot, </a:t>
            </a:r>
            <a:r>
              <a:t>และ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HL/LH </a:t>
            </a:r>
            <a:r>
              <a:t>คือ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outlier </a:t>
            </a:r>
            <a:r>
              <a:t>เชิงพื้นที่ ทดสอบนัยสำคัญด้วย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permutation 9,999 </a:t>
            </a:r>
            <a:r>
              <a:t>ครั้ง น้ำหนักเชิงพื้นที่ใช้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Queen contiguity </a:t>
            </a:r>
            <a:r>
              <a:t>คือจังหวัดที่มีเขตแดนติดกัน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Shape 20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01" name="Shape 20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>
                <a:latin typeface="+mj-lt"/>
                <a:ea typeface="+mj-ea"/>
                <a:cs typeface="+mj-cs"/>
                <a:sym typeface="Helvetica"/>
              </a:defRPr>
            </a:pPr>
            <a:r>
              <a:t>ผลจาก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K-Means </a:t>
            </a:r>
            <a:r>
              <a:t>ได้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4 </a:t>
            </a:r>
            <a:r>
              <a:t>กลุ่ม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: K2 </a:t>
            </a:r>
            <a:r>
              <a:t>น้ำป่าไหลหลาก ผลกระทบต่อคนสูง อยู่ภาคเหนือตอนบนและใต้สุด ผู้ได้รับผลกระทบเฉลี่ย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70 </a:t>
            </a:r>
            <a:r>
              <a:t>คนต่อพันคนต่อปี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; K3 </a:t>
            </a:r>
            <a:r>
              <a:t>น้ำท่วมพื้นที่เกษตรในลุ่มน้ำ อยู่อีสานและภาคเหนือตอนล่าง พื้นที่เกษตรเสียหาย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10 </a:t>
            </a:r>
            <a:r>
              <a:t>ไร่ต่อตารางกิโลเมตรต่อปี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; K1 </a:t>
            </a:r>
            <a:r>
              <a:t>ผลกระทบปานกลาง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; </a:t>
            </a:r>
            <a:r>
              <a:t>และ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K0 </a:t>
            </a:r>
            <a:r>
              <a:t>ผลกระทบที่รายงานต่ำ คือกรุงเทพฯ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-</a:t>
            </a:r>
            <a:r>
              <a:t>ปริมณฑลและริมโขง ชื่อกลุ่มตั้งจากโปรไฟล์ค่ามัธยฐานของแต่ละกลุ่ม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Shape 208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09" name="Shape 209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HDBSCAN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ให้ผลต่างจาก </a:t>
            </a:r>
            <a:r>
              <a:t>K-Means: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เจอแกนหนาแน่นกลุ่มเดียว </a:t>
            </a:r>
            <a:r>
              <a:t>71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จังหวัด กลุ่มเล็กอีก </a:t>
            </a:r>
            <a:r>
              <a:t>1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กลุ่ม และ </a:t>
            </a:r>
            <a:r>
              <a:t>noise 3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จังหวัด คือ กรุงเทพฯ อยุธยา และสิงห์บุรี แปลว่าผลกระทบน้ำท่วมเปลี่ยนแบบต่อเนื่อง ไม่มีช่องว่างความหนาแน่นแบ่งกลุ่มตามธรรมชาติ </a:t>
            </a:r>
            <a:r>
              <a:t>K-Means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จึงเป็นการแบ่งช่วงของ </a:t>
            </a:r>
            <a:r>
              <a:t>gradient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ให้ใช้งานได้ ส่วน </a:t>
            </a:r>
            <a:r>
              <a:t>HDBSCAN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มีประโยชน์ในการชี้จังหวัดที่ผิดปกติ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Shape 21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18" name="Shape 21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Global Moran's I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ของดัชนีความรุนแรงเท่ากับ </a:t>
            </a:r>
            <a:r>
              <a:t>0.44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มีนัยสำคัญสูงมาก แปลว่าจังหวัดที่ติดกันมีความรุนแรงคล้ายกัน และเป็นแบบนี้ทุกปีตั้งแต่ </a:t>
            </a:r>
            <a:r>
              <a:t>2019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ถึง </a:t>
            </a:r>
            <a:r>
              <a:t>2024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ค่า </a:t>
            </a:r>
            <a:r>
              <a:t>I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อยู่ระหว่าง </a:t>
            </a:r>
            <a:r>
              <a:t>0.26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ถึง </a:t>
            </a:r>
            <a:r>
              <a:t>0.42 LISA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พบ </a:t>
            </a:r>
            <a:r>
              <a:t>hotspot 9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จังหวัด กระจุกตัวในภาคเหนือตอนบนและตอนล่าง เช่น เชียงราย ลำปาง แพร่ ตาก สุโขทัย และ </a:t>
            </a:r>
            <a:r>
              <a:t>coldspot 12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จังหวัด คือกรุงเทพฯ</a:t>
            </a:r>
            <a:r>
              <a:t>-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ปริมณฑล ริมโขงอีสาน และชายฝั่งตะวันตก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Shape 22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27" name="Shape 22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>
                <a:latin typeface="+mj-lt"/>
                <a:ea typeface="+mj-ea"/>
                <a:cs typeface="+mj-cs"/>
                <a:sym typeface="Helvetica"/>
              </a:defRPr>
            </a:pPr>
            <a:r>
              <a:t>ส่วน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demo: </a:t>
            </a:r>
            <a:r>
              <a:t>โค้ดแบ่งเป็นสองส่วน ไฟล์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build_dataset.py </a:t>
            </a:r>
            <a:r>
              <a:t>สำหรับอ่านและรวมข้อมูล และ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notebook </a:t>
            </a:r>
            <a:r>
              <a:t>สำหรับการวิเคราะห์ทั้งหมด ใช้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pandas, geopandas, scikit-learn </a:t>
            </a:r>
            <a:r>
              <a:t>สำหรับ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K-Means, HDBSCAN, PCA </a:t>
            </a:r>
            <a:r>
              <a:t>และ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PySAL </a:t>
            </a:r>
            <a:r>
              <a:t>สำหรับ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Moran's I </a:t>
            </a:r>
            <a:r>
              <a:t>กับ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LISA </a:t>
            </a:r>
            <a:r>
              <a:t>ในวิดีโอให้รัน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notebook </a:t>
            </a:r>
            <a:r>
              <a:t>ตั้งแต่ต้นจนจบ ใช้เวลาประมาณ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1 </a:t>
            </a:r>
            <a:r>
              <a:t>นาที แล้วโชว์แผนที่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cluster </a:t>
            </a:r>
            <a:r>
              <a:t>และ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LISA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Shape 238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39" name="Shape 239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>
                <a:latin typeface="+mj-lt"/>
                <a:ea typeface="+mj-ea"/>
                <a:cs typeface="+mj-cs"/>
                <a:sym typeface="Helvetica"/>
              </a:defRPr>
            </a:pPr>
            <a:r>
              <a:t>การประเมินภายใน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: </a:t>
            </a:r>
            <a:r>
              <a:t>ตารางซ้ายคือการเลือก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k silhouette </a:t>
            </a:r>
            <a:r>
              <a:t>สูงสุดที่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k=2 </a:t>
            </a:r>
            <a:r>
              <a:t>แต่เป็นแค่การแบ่งท่วมมากกับท่วมน้อย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k=3 </a:t>
            </a:r>
            <a:r>
              <a:t>ถึง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8 </a:t>
            </a:r>
            <a:r>
              <a:t>มี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silhouette </a:t>
            </a:r>
            <a:r>
              <a:t>ใกล้กันมาก ประมาณ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0.2 </a:t>
            </a:r>
            <a:r>
              <a:t>เราจึงใช้เกณฑ์ความเสถียรเพิ่ม เลือก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k=4 </a:t>
            </a:r>
            <a:r>
              <a:t>ซึ่ง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ARI </a:t>
            </a:r>
            <a:r>
              <a:t>ระหว่าง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seed </a:t>
            </a:r>
            <a:r>
              <a:t>เท่ากับ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0.80 </a:t>
            </a:r>
            <a:r>
              <a:t>ด้านขวา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HDBSCAN </a:t>
            </a:r>
            <a:r>
              <a:t>มี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silhouette </a:t>
            </a:r>
            <a:r>
              <a:t>สูงกว่า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0.47 </a:t>
            </a:r>
            <a:r>
              <a:t>แต่เพราะมีกลุ่มใหญ่กลุ่มเดียว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71 </a:t>
            </a:r>
            <a:r>
              <a:t>จังหวัด ค่า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silhouette </a:t>
            </a:r>
            <a:r>
              <a:t>ประมาณ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0.2 </a:t>
            </a:r>
            <a:r>
              <a:t>บอกว่าโครงสร้างกลุ่มอ่อน ข้อมูลเป็น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gradient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Shape 24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47" name="Shape 24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>
                <a:latin typeface="+mj-lt"/>
                <a:ea typeface="+mj-ea"/>
                <a:cs typeface="+mj-cs"/>
                <a:sym typeface="Helvetica"/>
              </a:defRPr>
            </a:pPr>
            <a:r>
              <a:t>การประเมินภายนอกเทียบกับแผนที่น้ำท่วมซ้ำซาก ดัชนีความรุนแรงโดยรวมไม่สัมพันธ์กับสัดส่วนพื้นที่น้ำท่วมซ้ำซาก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ρ </a:t>
            </a:r>
            <a:r>
              <a:t>เท่ากับ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0.03 </a:t>
            </a:r>
            <a:r>
              <a:t>แต่กลุ่ม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K3 </a:t>
            </a:r>
            <a:r>
              <a:t>น้ำท่วมพื้นที่เกษตรสอดคล้องกับแผนที่อย่างมีนัยสำคัญ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F1 0.51 </a:t>
            </a:r>
            <a:r>
              <a:t>เทียบกับสุ่มที่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0.30 p </a:t>
            </a:r>
            <a:r>
              <a:t>เท่ากับ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0.007 </a:t>
            </a:r>
            <a:r>
              <a:t>ส่วน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hotspot </a:t>
            </a:r>
            <a:r>
              <a:t>น้ำป่าภาคเหนือไม่ตรงเลย เพราะเป็นภัยคนละแบบ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LISA </a:t>
            </a:r>
            <a:r>
              <a:t>ของแผนที่อ้างอิงพบ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hotspot </a:t>
            </a:r>
            <a:r>
              <a:t>ที่ลุ่มเจ้าพระยาตอนล่าง ซึ่งเป็นจังหวัดที่รายงานผลกระทบต่ำ แผนที่ขวาสุดแสดงการจับคู่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: </a:t>
            </a:r>
            <a:r>
              <a:t>ม่วงคือสูงทั้งคู่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, </a:t>
            </a:r>
            <a:r>
              <a:t>แดงคือผลกระทบอย่างเดียว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, </a:t>
            </a:r>
            <a:r>
              <a:t>น้ำเงินคือท่วมซ้ำซากอย่างเดียว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Shape 27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72" name="Shape 27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>
                <a:latin typeface="+mj-lt"/>
                <a:ea typeface="+mj-ea"/>
                <a:cs typeface="+mj-cs"/>
                <a:sym typeface="Helvetica"/>
              </a:defRPr>
            </a:pPr>
            <a:r>
              <a:t>ข้อค้นพบหลัก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4 </a:t>
            </a:r>
            <a:r>
              <a:t>ข้อ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: </a:t>
            </a:r>
            <a:r>
              <a:t>หนึ่ง ประเทศไทยมีปัญหาน้ำท่วมสองแบบ คือน้ำป่าไหลหลากที่กระทบคนในภาคเหนือและใต้สุด และน้ำท่วมลุ่มน้ำที่กระทบพื้นที่เกษตร สอง ผลกระทบจับกลุ่มเชิงพื้นที่อย่างมีนัยสำคัญทุกปี สาม พื้นที่ท่วมซ้ำซากไม่ใช่พื้นที่ที่รายงานความเสียหายมาก ลุ่มเจ้าพระยาตอนล่างท่วมบ่อยที่สุดแต่รายงานผลกระทบน้อย อาจเพราะมีระบบป้องกันหรือรายงานไม่ครบ สี่ งานส่วนใหญ่คือการเตรียมข้อมูล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Shape 288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89" name="Shape 289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>
                <a:latin typeface="+mj-lt"/>
                <a:ea typeface="+mj-ea"/>
                <a:cs typeface="+mj-cs"/>
                <a:sym typeface="Helvetica"/>
              </a:defRPr>
            </a:pPr>
            <a:r>
              <a:t>การนำไปใช้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: </a:t>
            </a:r>
            <a:r>
              <a:t>หนึ่ง เตรียมรับมือให้ตรงประเภท จังหวัดน้ำป่าเน้นเตือนภัยล่วงหน้าและอพยพ จังหวัดลุ่มน้ำเน้นประกันพืชผลและการระบายน้ำ สอง จัดสรรงบประมาณตาม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hotspot </a:t>
            </a:r>
            <a:r>
              <a:t>ระดับภูมิภาค สาม ตรวจคุณภาพข้อมูล จังหวัดที่ท่วมซ้ำซากแต่รายงานผลกระทบต่ำอาจมีการรายงานไม่ครบ สี่ รันซ้ำทุกปีเพื่อติดตามว่า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hotspot </a:t>
            </a:r>
            <a:r>
              <a:t>เคลื่อนที่หรือไม่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Shape 29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95" name="Shape 29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รายการอ้างอิงแหล่งข้อมูลและเอกสารวิชาการของเทคนิคที่ใช้</a:t>
            </a:r>
          </a:p>
        </p:txBody>
      </p:sp>
    </p:spTree>
  </p:cSld>
  <p:clrMapOvr>
    <a:masterClrMapping/>
  </p:clrMapOvr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lick to add title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19" name="Body Level One…"/>
          <p:cNvSpPr txBox="1"/>
          <p:nvPr>
            <p:ph type="body" sz="half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lick to add title"/>
          <p:cNvSpPr txBox="1"/>
          <p:nvPr>
            <p:ph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0B3C5D"/>
                </a:solidFill>
              </a:defRPr>
            </a:lvl1pPr>
          </a:lstStyle>
          <a:p>
            <a:pPr/>
            <a:r>
              <a:t>Click to add title</a:t>
            </a:r>
          </a:p>
        </p:txBody>
      </p:sp>
      <p:sp>
        <p:nvSpPr>
          <p:cNvPr id="28" name="Text 0"/>
          <p:cNvSpPr txBox="1"/>
          <p:nvPr/>
        </p:nvSpPr>
        <p:spPr>
          <a:xfrm>
            <a:off x="502919" y="4811944"/>
            <a:ext cx="5394962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900">
                <a:solidFill>
                  <a:schemeClr val="accent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Flood impact clustering · Thailand 2019–2024</a:t>
            </a:r>
          </a:p>
        </p:txBody>
      </p:sp>
      <p:sp>
        <p:nvSpPr>
          <p:cNvPr id="29" name="Slide Number"/>
          <p:cNvSpPr txBox="1"/>
          <p:nvPr>
            <p:ph type="sldNum" sz="quarter" idx="2"/>
          </p:nvPr>
        </p:nvSpPr>
        <p:spPr>
          <a:xfrm>
            <a:off x="8466799" y="4800600"/>
            <a:ext cx="220002" cy="205912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Click to add title"/>
          <p:cNvSpPr txBox="1"/>
          <p:nvPr>
            <p:ph type="title" hasCustomPrompt="1"/>
          </p:nvPr>
        </p:nvSpPr>
        <p:spPr>
          <a:xfrm>
            <a:off x="548640" y="1737360"/>
            <a:ext cx="8046720" cy="914402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37" name="Body Level One…"/>
          <p:cNvSpPr txBox="1"/>
          <p:nvPr>
            <p:ph type="body" sz="quarter" idx="1" hasCustomPrompt="1"/>
          </p:nvPr>
        </p:nvSpPr>
        <p:spPr>
          <a:xfrm>
            <a:off x="548640" y="2697478"/>
            <a:ext cx="8046720" cy="73152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ick to add title"/>
          <p:cNvSpPr txBox="1"/>
          <p:nvPr>
            <p:ph type="title" hasCustomPrompt="1"/>
          </p:nvPr>
        </p:nvSpPr>
        <p:spPr>
          <a:xfrm>
            <a:off x="548640" y="1097280"/>
            <a:ext cx="8046720" cy="14630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Click to add title</a:t>
            </a:r>
          </a:p>
        </p:txBody>
      </p:sp>
      <p:sp>
        <p:nvSpPr>
          <p:cNvPr id="3" name="Body Level One…"/>
          <p:cNvSpPr txBox="1"/>
          <p:nvPr>
            <p:ph type="body" idx="1" hasCustomPrompt="1"/>
          </p:nvPr>
        </p:nvSpPr>
        <p:spPr>
          <a:xfrm>
            <a:off x="548640" y="2743200"/>
            <a:ext cx="8046720" cy="17373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6333199" y="4767262"/>
            <a:ext cx="220002" cy="20591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>
            <a:spAutoFit/>
          </a:bodyPr>
          <a:lstStyle>
            <a:lvl1pPr algn="r">
              <a:defRPr sz="900">
                <a:solidFill>
                  <a:schemeClr val="accent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600" u="none">
          <a:solidFill>
            <a:srgbClr val="FFFFFF"/>
          </a:solidFill>
          <a:uFillTx/>
          <a:latin typeface="Cambria"/>
          <a:ea typeface="Cambria"/>
          <a:cs typeface="Cambria"/>
          <a:sym typeface="Cambria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600" u="none">
          <a:solidFill>
            <a:srgbClr val="FFFFFF"/>
          </a:solidFill>
          <a:uFillTx/>
          <a:latin typeface="Cambria"/>
          <a:ea typeface="Cambria"/>
          <a:cs typeface="Cambria"/>
          <a:sym typeface="Cambria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600" u="none">
          <a:solidFill>
            <a:srgbClr val="FFFFFF"/>
          </a:solidFill>
          <a:uFillTx/>
          <a:latin typeface="Cambria"/>
          <a:ea typeface="Cambria"/>
          <a:cs typeface="Cambria"/>
          <a:sym typeface="Cambria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600" u="none">
          <a:solidFill>
            <a:srgbClr val="FFFFFF"/>
          </a:solidFill>
          <a:uFillTx/>
          <a:latin typeface="Cambria"/>
          <a:ea typeface="Cambria"/>
          <a:cs typeface="Cambria"/>
          <a:sym typeface="Cambria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600" u="none">
          <a:solidFill>
            <a:srgbClr val="FFFFFF"/>
          </a:solidFill>
          <a:uFillTx/>
          <a:latin typeface="Cambria"/>
          <a:ea typeface="Cambria"/>
          <a:cs typeface="Cambria"/>
          <a:sym typeface="Cambria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600" u="none">
          <a:solidFill>
            <a:srgbClr val="FFFFFF"/>
          </a:solidFill>
          <a:uFillTx/>
          <a:latin typeface="Cambria"/>
          <a:ea typeface="Cambria"/>
          <a:cs typeface="Cambria"/>
          <a:sym typeface="Cambria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600" u="none">
          <a:solidFill>
            <a:srgbClr val="FFFFFF"/>
          </a:solidFill>
          <a:uFillTx/>
          <a:latin typeface="Cambria"/>
          <a:ea typeface="Cambria"/>
          <a:cs typeface="Cambria"/>
          <a:sym typeface="Cambria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600" u="none">
          <a:solidFill>
            <a:srgbClr val="FFFFFF"/>
          </a:solidFill>
          <a:uFillTx/>
          <a:latin typeface="Cambria"/>
          <a:ea typeface="Cambria"/>
          <a:cs typeface="Cambria"/>
          <a:sym typeface="Cambria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600" u="none">
          <a:solidFill>
            <a:srgbClr val="FFFFFF"/>
          </a:solidFill>
          <a:uFillTx/>
          <a:latin typeface="Cambria"/>
          <a:ea typeface="Cambria"/>
          <a:cs typeface="Cambria"/>
          <a:sym typeface="Cambria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EAF2F8"/>
          </a:solidFill>
          <a:uFillTx/>
          <a:latin typeface="+mn-lt"/>
          <a:ea typeface="+mn-ea"/>
          <a:cs typeface="+mn-cs"/>
          <a:sym typeface="Calibri"/>
        </a:defRPr>
      </a:lvl1pPr>
      <a:lvl2pPr marL="640896" marR="0" indent="-183696" algn="l" defTabSz="914400" rtl="0" latinLnBrk="0">
        <a:lnSpc>
          <a:spcPct val="100000"/>
        </a:lnSpc>
        <a:spcBef>
          <a:spcPts val="400"/>
        </a:spcBef>
        <a:spcAft>
          <a:spcPts val="0"/>
        </a:spcAft>
        <a:buClrTx/>
        <a:buSzPct val="100000"/>
        <a:buFontTx/>
        <a:buChar char="–"/>
        <a:tabLst/>
        <a:defRPr b="0" baseline="0" cap="none" i="0" spc="0" strike="noStrike" sz="1800" u="none">
          <a:solidFill>
            <a:srgbClr val="EAF2F8"/>
          </a:solidFill>
          <a:uFillTx/>
          <a:latin typeface="+mn-lt"/>
          <a:ea typeface="+mn-ea"/>
          <a:cs typeface="+mn-cs"/>
          <a:sym typeface="Calibri"/>
        </a:defRPr>
      </a:lvl2pPr>
      <a:lvl3pPr marL="1085850" marR="0" indent="-171450" algn="l" defTabSz="914400" rtl="0" latinLnBrk="0">
        <a:lnSpc>
          <a:spcPct val="100000"/>
        </a:lnSpc>
        <a:spcBef>
          <a:spcPts val="4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1800" u="none">
          <a:solidFill>
            <a:srgbClr val="EAF2F8"/>
          </a:solidFill>
          <a:uFillTx/>
          <a:latin typeface="+mn-lt"/>
          <a:ea typeface="+mn-ea"/>
          <a:cs typeface="+mn-cs"/>
          <a:sym typeface="Calibri"/>
        </a:defRPr>
      </a:lvl3pPr>
      <a:lvl4pPr marL="1577338" marR="0" indent="-205738" algn="l" defTabSz="914400" rtl="0" latinLnBrk="0">
        <a:lnSpc>
          <a:spcPct val="100000"/>
        </a:lnSpc>
        <a:spcBef>
          <a:spcPts val="400"/>
        </a:spcBef>
        <a:spcAft>
          <a:spcPts val="0"/>
        </a:spcAft>
        <a:buClrTx/>
        <a:buSzPct val="100000"/>
        <a:buFontTx/>
        <a:buChar char="–"/>
        <a:tabLst/>
        <a:defRPr b="0" baseline="0" cap="none" i="0" spc="0" strike="noStrike" sz="1800" u="none">
          <a:solidFill>
            <a:srgbClr val="EAF2F8"/>
          </a:solidFill>
          <a:uFillTx/>
          <a:latin typeface="+mn-lt"/>
          <a:ea typeface="+mn-ea"/>
          <a:cs typeface="+mn-cs"/>
          <a:sym typeface="Calibri"/>
        </a:defRPr>
      </a:lvl4pPr>
      <a:lvl5pPr marL="2034538" marR="0" indent="-205738" algn="l" defTabSz="914400" rtl="0" latinLnBrk="0">
        <a:lnSpc>
          <a:spcPct val="100000"/>
        </a:lnSpc>
        <a:spcBef>
          <a:spcPts val="400"/>
        </a:spcBef>
        <a:spcAft>
          <a:spcPts val="0"/>
        </a:spcAft>
        <a:buClrTx/>
        <a:buSzPct val="100000"/>
        <a:buFontTx/>
        <a:buChar char="»"/>
        <a:tabLst/>
        <a:defRPr b="0" baseline="0" cap="none" i="0" spc="0" strike="noStrike" sz="1800" u="none">
          <a:solidFill>
            <a:srgbClr val="EAF2F8"/>
          </a:solidFill>
          <a:uFillTx/>
          <a:latin typeface="+mn-lt"/>
          <a:ea typeface="+mn-ea"/>
          <a:cs typeface="+mn-cs"/>
          <a:sym typeface="Calibri"/>
        </a:defRPr>
      </a:lvl5pPr>
      <a:lvl6pPr marL="2491739" marR="0" indent="-205739" algn="l" defTabSz="914400" rtl="0" latinLnBrk="0">
        <a:lnSpc>
          <a:spcPct val="100000"/>
        </a:lnSpc>
        <a:spcBef>
          <a:spcPts val="4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1800" u="none">
          <a:solidFill>
            <a:srgbClr val="EAF2F8"/>
          </a:solidFill>
          <a:uFillTx/>
          <a:latin typeface="+mn-lt"/>
          <a:ea typeface="+mn-ea"/>
          <a:cs typeface="+mn-cs"/>
          <a:sym typeface="Calibri"/>
        </a:defRPr>
      </a:lvl6pPr>
      <a:lvl7pPr marL="2948939" marR="0" indent="-205739" algn="l" defTabSz="914400" rtl="0" latinLnBrk="0">
        <a:lnSpc>
          <a:spcPct val="100000"/>
        </a:lnSpc>
        <a:spcBef>
          <a:spcPts val="4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1800" u="none">
          <a:solidFill>
            <a:srgbClr val="EAF2F8"/>
          </a:solidFill>
          <a:uFillTx/>
          <a:latin typeface="+mn-lt"/>
          <a:ea typeface="+mn-ea"/>
          <a:cs typeface="+mn-cs"/>
          <a:sym typeface="Calibri"/>
        </a:defRPr>
      </a:lvl7pPr>
      <a:lvl8pPr marL="3406139" marR="0" indent="-205739" algn="l" defTabSz="914400" rtl="0" latinLnBrk="0">
        <a:lnSpc>
          <a:spcPct val="100000"/>
        </a:lnSpc>
        <a:spcBef>
          <a:spcPts val="4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1800" u="none">
          <a:solidFill>
            <a:srgbClr val="EAF2F8"/>
          </a:solidFill>
          <a:uFillTx/>
          <a:latin typeface="+mn-lt"/>
          <a:ea typeface="+mn-ea"/>
          <a:cs typeface="+mn-cs"/>
          <a:sym typeface="Calibri"/>
        </a:defRPr>
      </a:lvl8pPr>
      <a:lvl9pPr marL="3863339" marR="0" indent="-205739" algn="l" defTabSz="914400" rtl="0" latinLnBrk="0">
        <a:lnSpc>
          <a:spcPct val="100000"/>
        </a:lnSpc>
        <a:spcBef>
          <a:spcPts val="4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1800" u="none">
          <a:solidFill>
            <a:srgbClr val="EAF2F8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 0"/>
          <p:cNvSpPr txBox="1"/>
          <p:nvPr>
            <p:ph type="title"/>
          </p:nvPr>
        </p:nvSpPr>
        <p:spPr>
          <a:xfrm>
            <a:off x="548640" y="1097280"/>
            <a:ext cx="8046719" cy="1463042"/>
          </a:xfrm>
          <a:prstGeom prst="rect">
            <a:avLst/>
          </a:prstGeom>
        </p:spPr>
        <p:txBody>
          <a:bodyPr anchor="b"/>
          <a:lstStyle>
            <a:lvl1pPr defTabSz="786383">
              <a:defRPr sz="3000"/>
            </a:lvl1pPr>
          </a:lstStyle>
          <a:p>
            <a:pPr/>
            <a:r>
              <a:t>Where Floods Hurt vs. Where Water Recurs: Spatial Clustering of Flood Impact in Thailand (2019–2024)</a:t>
            </a:r>
          </a:p>
        </p:txBody>
      </p:sp>
      <p:sp>
        <p:nvSpPr>
          <p:cNvPr id="48" name="Text 0"/>
          <p:cNvSpPr txBox="1"/>
          <p:nvPr>
            <p:ph type="body" sz="half" idx="1"/>
          </p:nvPr>
        </p:nvSpPr>
        <p:spPr>
          <a:xfrm>
            <a:off x="806903" y="2835697"/>
            <a:ext cx="7530194" cy="1737362"/>
          </a:xfrm>
          <a:prstGeom prst="rect">
            <a:avLst/>
          </a:prstGeom>
        </p:spPr>
        <p:txBody>
          <a:bodyPr/>
          <a:lstStyle/>
          <a:p>
            <a:pPr algn="ctr" defTabSz="704087">
              <a:spcBef>
                <a:spcPts val="300"/>
              </a:spcBef>
              <a:defRPr sz="1300"/>
            </a:pPr>
            <a:r>
              <a:t>Group Assignment: Analytics on Complex Data</a:t>
            </a:r>
          </a:p>
          <a:p>
            <a:pPr algn="ctr" defTabSz="704087">
              <a:spcBef>
                <a:spcPts val="300"/>
              </a:spcBef>
              <a:defRPr sz="1300"/>
            </a:pPr>
            <a:r>
              <a:t>Presented by: </a:t>
            </a:r>
          </a:p>
          <a:p>
            <a:pPr algn="ctr" defTabSz="704087">
              <a:spcBef>
                <a:spcPts val="300"/>
              </a:spcBef>
              <a:defRPr sz="1300"/>
            </a:pPr>
            <a:r>
              <a:t>เกียรติภูมิ พละสาร 6710503755</a:t>
            </a:r>
          </a:p>
          <a:p>
            <a:pPr algn="ctr" defTabSz="704087">
              <a:spcBef>
                <a:spcPts val="300"/>
              </a:spcBef>
              <a:defRPr sz="1300"/>
            </a:pPr>
            <a:r>
              <a:t>ณภัทร โพธิบัวทอง 6710503887 </a:t>
            </a:r>
          </a:p>
          <a:p>
            <a:pPr algn="ctr" defTabSz="704087">
              <a:spcBef>
                <a:spcPts val="300"/>
              </a:spcBef>
              <a:defRPr sz="1300"/>
            </a:pPr>
            <a:r>
              <a:t>ปวีณกฤษฏิ์ ท่าห้อง 6710504069</a:t>
            </a:r>
          </a:p>
          <a:p>
            <a:pPr algn="ctr" defTabSz="704087">
              <a:spcBef>
                <a:spcPts val="300"/>
              </a:spcBef>
              <a:defRPr sz="1300"/>
            </a:pPr>
            <a:r>
              <a:t>Faculty of Engineering, Kasetsart University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 0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 anchor="ctr"/>
          <a:lstStyle/>
          <a:p>
            <a:pPr/>
            <a:r>
              <a:t>Complex data: 4 agencies, 6 schemas, 1 map</a:t>
            </a:r>
          </a:p>
        </p:txBody>
      </p:sp>
      <p:sp>
        <p:nvSpPr>
          <p:cNvPr id="53" name="Shape 1"/>
          <p:cNvSpPr/>
          <p:nvPr/>
        </p:nvSpPr>
        <p:spPr>
          <a:xfrm>
            <a:off x="457200" y="1051560"/>
            <a:ext cx="4023360" cy="1097282"/>
          </a:xfrm>
          <a:prstGeom prst="roundRect">
            <a:avLst>
              <a:gd name="adj" fmla="val 6667"/>
            </a:avLst>
          </a:prstGeom>
          <a:solidFill>
            <a:srgbClr val="EAF2F8"/>
          </a:solidFill>
          <a:ln w="12700">
            <a:solidFill>
              <a:srgbClr val="EAF2F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4" name="Text 2"/>
          <p:cNvSpPr txBox="1"/>
          <p:nvPr/>
        </p:nvSpPr>
        <p:spPr>
          <a:xfrm>
            <a:off x="594358" y="1143000"/>
            <a:ext cx="3749044" cy="246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/>
          <a:p>
            <a:pPr>
              <a:defRPr b="1" sz="1500">
                <a:solidFill>
                  <a:srgbClr val="0B3C5D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DDPM (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ปภ</a:t>
            </a:r>
            <a:r>
              <a:t>.)</a:t>
            </a:r>
          </a:p>
        </p:txBody>
      </p:sp>
      <p:sp>
        <p:nvSpPr>
          <p:cNvPr id="55" name="Text 3"/>
          <p:cNvSpPr txBox="1"/>
          <p:nvPr/>
        </p:nvSpPr>
        <p:spPr>
          <a:xfrm>
            <a:off x="594358" y="1463038"/>
            <a:ext cx="3749044" cy="3486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>
              <a:defRPr sz="12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Flood disaster statistics 2019–2024: affected people, houses, farmland, roads … (xlsx)</a:t>
            </a:r>
          </a:p>
        </p:txBody>
      </p:sp>
      <p:sp>
        <p:nvSpPr>
          <p:cNvPr id="56" name="Shape 4"/>
          <p:cNvSpPr/>
          <p:nvPr/>
        </p:nvSpPr>
        <p:spPr>
          <a:xfrm>
            <a:off x="4663440" y="1051560"/>
            <a:ext cx="4023360" cy="1097282"/>
          </a:xfrm>
          <a:prstGeom prst="roundRect">
            <a:avLst>
              <a:gd name="adj" fmla="val 6667"/>
            </a:avLst>
          </a:prstGeom>
          <a:solidFill>
            <a:srgbClr val="EAF2F8"/>
          </a:solidFill>
          <a:ln w="12700">
            <a:solidFill>
              <a:srgbClr val="EAF2F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7" name="Text 5"/>
          <p:cNvSpPr txBox="1"/>
          <p:nvPr/>
        </p:nvSpPr>
        <p:spPr>
          <a:xfrm>
            <a:off x="4800600" y="1142999"/>
            <a:ext cx="3749041" cy="1878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>
              <a:defRPr b="1" sz="1500">
                <a:solidFill>
                  <a:srgbClr val="0B3C5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HII / ThaiWater</a:t>
            </a:r>
          </a:p>
        </p:txBody>
      </p:sp>
      <p:sp>
        <p:nvSpPr>
          <p:cNvPr id="58" name="Text 6"/>
          <p:cNvSpPr txBox="1"/>
          <p:nvPr/>
        </p:nvSpPr>
        <p:spPr>
          <a:xfrm>
            <a:off x="4800600" y="1463038"/>
            <a:ext cx="3749041" cy="1581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>
              <a:defRPr sz="12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Monthly areal rainfall per province + 30-yr normal (csv)</a:t>
            </a:r>
          </a:p>
        </p:txBody>
      </p:sp>
      <p:sp>
        <p:nvSpPr>
          <p:cNvPr id="59" name="Shape 7"/>
          <p:cNvSpPr/>
          <p:nvPr/>
        </p:nvSpPr>
        <p:spPr>
          <a:xfrm>
            <a:off x="457200" y="2286000"/>
            <a:ext cx="4023360" cy="1097281"/>
          </a:xfrm>
          <a:prstGeom prst="roundRect">
            <a:avLst>
              <a:gd name="adj" fmla="val 6667"/>
            </a:avLst>
          </a:prstGeom>
          <a:solidFill>
            <a:srgbClr val="EAF2F8"/>
          </a:solidFill>
          <a:ln w="12700">
            <a:solidFill>
              <a:srgbClr val="EAF2F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0" name="Text 8"/>
          <p:cNvSpPr txBox="1"/>
          <p:nvPr/>
        </p:nvSpPr>
        <p:spPr>
          <a:xfrm>
            <a:off x="594358" y="2377438"/>
            <a:ext cx="3749044" cy="2467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/>
          <a:p>
            <a:pPr>
              <a:defRPr b="1" sz="1500">
                <a:solidFill>
                  <a:srgbClr val="0B3C5D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DOPA (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กรมการปกครอง</a:t>
            </a:r>
            <a:r>
              <a:t>)</a:t>
            </a:r>
          </a:p>
        </p:txBody>
      </p:sp>
      <p:sp>
        <p:nvSpPr>
          <p:cNvPr id="61" name="Text 9"/>
          <p:cNvSpPr txBox="1"/>
          <p:nvPr/>
        </p:nvSpPr>
        <p:spPr>
          <a:xfrm>
            <a:off x="594358" y="2697478"/>
            <a:ext cx="3749044" cy="3486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>
              <a:defRPr sz="12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Registered population per province per year (HTML tables saved as .xls)</a:t>
            </a:r>
          </a:p>
        </p:txBody>
      </p:sp>
      <p:sp>
        <p:nvSpPr>
          <p:cNvPr id="62" name="Shape 10"/>
          <p:cNvSpPr/>
          <p:nvPr/>
        </p:nvSpPr>
        <p:spPr>
          <a:xfrm>
            <a:off x="4663440" y="2286000"/>
            <a:ext cx="4023360" cy="1097281"/>
          </a:xfrm>
          <a:prstGeom prst="roundRect">
            <a:avLst>
              <a:gd name="adj" fmla="val 6667"/>
            </a:avLst>
          </a:prstGeom>
          <a:solidFill>
            <a:srgbClr val="EAF2F8"/>
          </a:solidFill>
          <a:ln w="12700">
            <a:solidFill>
              <a:srgbClr val="EAF2F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3" name="Text 11"/>
          <p:cNvSpPr txBox="1"/>
          <p:nvPr/>
        </p:nvSpPr>
        <p:spPr>
          <a:xfrm>
            <a:off x="4800600" y="2377438"/>
            <a:ext cx="3749041" cy="1878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>
              <a:defRPr b="1" sz="1500">
                <a:solidFill>
                  <a:srgbClr val="0B3C5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Recurrent-flood map (LDD)</a:t>
            </a:r>
          </a:p>
        </p:txBody>
      </p:sp>
      <p:sp>
        <p:nvSpPr>
          <p:cNvPr id="64" name="Text 12"/>
          <p:cNvSpPr txBox="1"/>
          <p:nvPr/>
        </p:nvSpPr>
        <p:spPr>
          <a:xfrm>
            <a:off x="4800600" y="2697478"/>
            <a:ext cx="3749041" cy="3486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>
              <a:defRPr sz="12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Land flooded ≥4 times in 10 yrs, per sub-district – used as validation reference</a:t>
            </a:r>
          </a:p>
        </p:txBody>
      </p:sp>
      <p:sp>
        <p:nvSpPr>
          <p:cNvPr id="65" name="Text 13"/>
          <p:cNvSpPr txBox="1"/>
          <p:nvPr/>
        </p:nvSpPr>
        <p:spPr>
          <a:xfrm>
            <a:off x="457200" y="3611879"/>
            <a:ext cx="8229600" cy="3712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/>
          <a:p>
            <a:pPr>
              <a:defRPr b="1" sz="1300">
                <a:latin typeface="+mn-lt"/>
                <a:ea typeface="+mn-ea"/>
                <a:cs typeface="+mn-cs"/>
                <a:sym typeface="Calibri"/>
              </a:defRPr>
            </a:pPr>
            <a:r>
              <a:t>Why complex? </a:t>
            </a:r>
            <a:r>
              <a:rPr b="0"/>
              <a:t>multi-source &amp; multi-format · spatial (polygons + neighbours) · temporal (6 yrs) · heterogeneous granularity (province / district-event / village) · ~49 heavily skewed, zero-inflated attributes</a:t>
            </a:r>
          </a:p>
        </p:txBody>
      </p:sp>
      <p:sp>
        <p:nvSpPr>
          <p:cNvPr id="66" name="Text 14"/>
          <p:cNvSpPr txBox="1"/>
          <p:nvPr/>
        </p:nvSpPr>
        <p:spPr>
          <a:xfrm>
            <a:off x="457200" y="4160520"/>
            <a:ext cx="8229600" cy="1680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/>
          <a:p>
            <a:pPr>
              <a:defRPr b="1" sz="1300">
                <a:solidFill>
                  <a:schemeClr val="accent1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Application: </a:t>
            </a:r>
            <a:r>
              <a:rPr b="0"/>
              <a:t>flood-risk zoning for DDPM budget &amp; preparedness – which provinces need which type of intervention?</a:t>
            </a:r>
          </a:p>
        </p:txBody>
      </p:sp>
      <p:sp>
        <p:nvSpPr>
          <p:cNvPr id="67" name="Slide Number Placeholder 0"/>
          <p:cNvSpPr txBox="1"/>
          <p:nvPr>
            <p:ph type="sldNum" sz="quarter" idx="4294967295"/>
          </p:nvPr>
        </p:nvSpPr>
        <p:spPr>
          <a:xfrm>
            <a:off x="8524727" y="4800599"/>
            <a:ext cx="162071" cy="20591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 0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 anchor="ctr"/>
          <a:lstStyle/>
          <a:p>
            <a:pPr/>
            <a:r>
              <a:t>The raw data is messy by design</a:t>
            </a:r>
          </a:p>
        </p:txBody>
      </p:sp>
      <p:sp>
        <p:nvSpPr>
          <p:cNvPr id="72" name="Text 1"/>
          <p:cNvSpPr txBox="1"/>
          <p:nvPr/>
        </p:nvSpPr>
        <p:spPr>
          <a:xfrm>
            <a:off x="457200" y="1097280"/>
            <a:ext cx="1920240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400">
                <a:solidFill>
                  <a:schemeClr val="accent1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44,044</a:t>
            </a:r>
          </a:p>
        </p:txBody>
      </p:sp>
      <p:sp>
        <p:nvSpPr>
          <p:cNvPr id="73" name="Text 2"/>
          <p:cNvSpPr txBox="1"/>
          <p:nvPr/>
        </p:nvSpPr>
        <p:spPr>
          <a:xfrm>
            <a:off x="457200" y="1691638"/>
            <a:ext cx="1920240" cy="2993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chemeClr val="accent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raw DDPM rows (province, district-event and village level)</a:t>
            </a:r>
          </a:p>
        </p:txBody>
      </p:sp>
      <p:sp>
        <p:nvSpPr>
          <p:cNvPr id="74" name="Text 3"/>
          <p:cNvSpPr txBox="1"/>
          <p:nvPr/>
        </p:nvSpPr>
        <p:spPr>
          <a:xfrm>
            <a:off x="2514600" y="1097280"/>
            <a:ext cx="1920240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400">
                <a:solidFill>
                  <a:schemeClr val="accent1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44–66</a:t>
            </a:r>
          </a:p>
        </p:txBody>
      </p:sp>
      <p:sp>
        <p:nvSpPr>
          <p:cNvPr id="75" name="Text 4"/>
          <p:cNvSpPr txBox="1"/>
          <p:nvPr/>
        </p:nvSpPr>
        <p:spPr>
          <a:xfrm>
            <a:off x="2514600" y="1691638"/>
            <a:ext cx="1920240" cy="2993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chemeClr val="accent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columns per year – a different schema every year</a:t>
            </a:r>
          </a:p>
        </p:txBody>
      </p:sp>
      <p:sp>
        <p:nvSpPr>
          <p:cNvPr id="76" name="Text 5"/>
          <p:cNvSpPr txBox="1"/>
          <p:nvPr/>
        </p:nvSpPr>
        <p:spPr>
          <a:xfrm>
            <a:off x="4572000" y="1097280"/>
            <a:ext cx="1920240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400">
                <a:solidFill>
                  <a:schemeClr val="accent2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144</a:t>
            </a:r>
          </a:p>
        </p:txBody>
      </p:sp>
      <p:sp>
        <p:nvSpPr>
          <p:cNvPr id="77" name="Text 6"/>
          <p:cNvSpPr txBox="1"/>
          <p:nvPr/>
        </p:nvSpPr>
        <p:spPr>
          <a:xfrm>
            <a:off x="4572000" y="1691638"/>
            <a:ext cx="1920240" cy="2993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chemeClr val="accent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embedded subtotal / grand-total rows to remove</a:t>
            </a:r>
          </a:p>
        </p:txBody>
      </p:sp>
      <p:sp>
        <p:nvSpPr>
          <p:cNvPr id="78" name="Text 7"/>
          <p:cNvSpPr txBox="1"/>
          <p:nvPr/>
        </p:nvSpPr>
        <p:spPr>
          <a:xfrm>
            <a:off x="6629400" y="1097280"/>
            <a:ext cx="1920240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400">
                <a:solidFill>
                  <a:schemeClr val="accent1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462</a:t>
            </a:r>
          </a:p>
        </p:txBody>
      </p:sp>
      <p:sp>
        <p:nvSpPr>
          <p:cNvPr id="79" name="Text 8"/>
          <p:cNvSpPr txBox="1"/>
          <p:nvPr/>
        </p:nvSpPr>
        <p:spPr>
          <a:xfrm>
            <a:off x="6629400" y="1691638"/>
            <a:ext cx="1920240" cy="2993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chemeClr val="accent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clean province × year records (77 × 6)</a:t>
            </a:r>
          </a:p>
        </p:txBody>
      </p:sp>
      <p:graphicFrame>
        <p:nvGraphicFramePr>
          <p:cNvPr id="80" name="schema_table"/>
          <p:cNvGraphicFramePr/>
          <p:nvPr/>
        </p:nvGraphicFramePr>
        <p:xfrm>
          <a:off x="457200" y="2423160"/>
          <a:ext cx="8229600" cy="164592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188720"/>
                <a:gridCol w="2103120"/>
                <a:gridCol w="2011679"/>
                <a:gridCol w="2926080"/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Year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Granularity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Header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Damage scheme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solidFill>
                      <a:srgbClr val="0B3C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1B2631"/>
                          </a:solidFill>
                        </a:rPr>
                        <a:t>2019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1B2631"/>
                          </a:solidFill>
                        </a:rPr>
                        <a:t>province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1B2631"/>
                          </a:solidFill>
                        </a:rPr>
                        <a:t>Eng + Thai rows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1B2631"/>
                          </a:solidFill>
                        </a:rPr>
                        <a:t>49 detailed + THB value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1B2631"/>
                          </a:solidFill>
                        </a:rPr>
                        <a:t>2020–2022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1B2631"/>
                          </a:solidFill>
                        </a:rPr>
                        <a:t>district-event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1B2631"/>
                          </a:solidFill>
                        </a:rPr>
                        <a:t>1–2 merged rows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1B2631"/>
                          </a:solidFill>
                        </a:rPr>
                        <a:t>56–60 detailed items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1B2631"/>
                          </a:solidFill>
                        </a:rPr>
                        <a:t>2023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1B2631"/>
                          </a:solidFill>
                        </a:rPr>
                        <a:t>province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1B2631"/>
                          </a:solidFill>
                        </a:rPr>
                        <a:t>3 merged rows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1B2631"/>
                          </a:solidFill>
                        </a:rPr>
                        <a:t>13 coarse categories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1B2631"/>
                          </a:solidFill>
                        </a:rPr>
                        <a:t>2024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1B2631"/>
                          </a:solidFill>
                        </a:rPr>
                        <a:t>village (34,881 rows)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1B2631"/>
                          </a:solidFill>
                        </a:rPr>
                        <a:t>English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1B2631"/>
                          </a:solidFill>
                        </a:rPr>
                        <a:t>13 coarse categories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1" name="Text 9"/>
          <p:cNvSpPr txBox="1"/>
          <p:nvPr/>
        </p:nvSpPr>
        <p:spPr>
          <a:xfrm>
            <a:off x="457200" y="4160520"/>
            <a:ext cx="8229600" cy="4008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/>
          <a:p>
            <a:pPr>
              <a:defRPr sz="1200">
                <a:solidFill>
                  <a:schemeClr val="accent6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Other traps: province names written 3 ways (“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สมุทรปราการ</a:t>
            </a:r>
            <a:r>
              <a:t>”, “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จังหวัดสมุทรปราการ</a:t>
            </a:r>
            <a:r>
              <a:t>”, “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จ</a:t>
            </a:r>
            <a:r>
              <a:t>.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สมุทรปราการ</a:t>
            </a:r>
            <a:r>
              <a:t>”), merged cells, “-” and blanks for zero, 2026 rainfall rows with swapped columns.</a:t>
            </a:r>
          </a:p>
        </p:txBody>
      </p:sp>
      <p:sp>
        <p:nvSpPr>
          <p:cNvPr id="82" name="Slide Number Placeholder 0"/>
          <p:cNvSpPr txBox="1"/>
          <p:nvPr>
            <p:ph type="sldNum" sz="quarter" idx="4294967295"/>
          </p:nvPr>
        </p:nvSpPr>
        <p:spPr>
          <a:xfrm>
            <a:off x="8524727" y="4800599"/>
            <a:ext cx="162071" cy="20591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 0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 anchor="ctr"/>
          <a:lstStyle/>
          <a:p>
            <a:pPr/>
            <a:r>
              <a:t>Exploration: impact varies by year and by region</a:t>
            </a:r>
          </a:p>
        </p:txBody>
      </p:sp>
      <p:pic>
        <p:nvPicPr>
          <p:cNvPr id="87" name="fig_eda_maps" descr="fig_eda_maps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749040" y="1171549"/>
            <a:ext cx="5029202" cy="2686103"/>
          </a:xfrm>
          <a:prstGeom prst="rect">
            <a:avLst/>
          </a:prstGeom>
          <a:ln w="12700">
            <a:miter lim="400000"/>
          </a:ln>
        </p:spPr>
      </p:pic>
      <p:sp>
        <p:nvSpPr>
          <p:cNvPr id="88" name="Text 1"/>
          <p:cNvSpPr txBox="1"/>
          <p:nvPr/>
        </p:nvSpPr>
        <p:spPr>
          <a:xfrm>
            <a:off x="457200" y="4160520"/>
            <a:ext cx="8229600" cy="3712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/>
          <a:p>
            <a:pPr>
              <a:defRPr b="1" sz="1300">
                <a:latin typeface="+mn-lt"/>
                <a:ea typeface="+mn-ea"/>
                <a:cs typeface="+mn-cs"/>
                <a:sym typeface="Calibri"/>
              </a:defRPr>
            </a:pPr>
            <a:r>
              <a:t>2022 </a:t>
            </a:r>
            <a:r>
              <a:rPr b="0"/>
              <a:t>(storm Noru) affected 8.2 M people – 7× the 2023 total. Impact per capita is highest in the </a:t>
            </a:r>
            <a:r>
              <a:t>north and deep south</a:t>
            </a:r>
            <a:r>
              <a:rPr b="0"/>
              <a:t>, not in the rain-richest east/south-west.</a:t>
            </a:r>
          </a:p>
        </p:txBody>
      </p:sp>
      <p:sp>
        <p:nvSpPr>
          <p:cNvPr id="89" name="Slide Number Placeholder 0"/>
          <p:cNvSpPr txBox="1"/>
          <p:nvPr>
            <p:ph type="sldNum" sz="quarter" idx="4294967295"/>
          </p:nvPr>
        </p:nvSpPr>
        <p:spPr>
          <a:xfrm>
            <a:off x="8524727" y="4800599"/>
            <a:ext cx="162071" cy="20591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ext 0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 anchor="ctr"/>
          <a:lstStyle/>
          <a:p>
            <a:pPr/>
            <a:r>
              <a:t>Exploration: skewed, zero-inflated data</a:t>
            </a:r>
          </a:p>
        </p:txBody>
      </p:sp>
      <p:sp>
        <p:nvSpPr>
          <p:cNvPr id="94" name="Text 1"/>
          <p:cNvSpPr txBox="1"/>
          <p:nvPr/>
        </p:nvSpPr>
        <p:spPr>
          <a:xfrm>
            <a:off x="457200" y="1051560"/>
            <a:ext cx="1828800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400">
                <a:solidFill>
                  <a:schemeClr val="accent1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48</a:t>
            </a:r>
          </a:p>
        </p:txBody>
      </p:sp>
      <p:sp>
        <p:nvSpPr>
          <p:cNvPr id="95" name="Text 2"/>
          <p:cNvSpPr txBox="1"/>
          <p:nvPr/>
        </p:nvSpPr>
        <p:spPr>
          <a:xfrm>
            <a:off x="457200" y="1645920"/>
            <a:ext cx="1828800" cy="2993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chemeClr val="accent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damage attributes in the 2019 file</a:t>
            </a:r>
          </a:p>
        </p:txBody>
      </p:sp>
      <p:sp>
        <p:nvSpPr>
          <p:cNvPr id="96" name="Text 3"/>
          <p:cNvSpPr txBox="1"/>
          <p:nvPr/>
        </p:nvSpPr>
        <p:spPr>
          <a:xfrm>
            <a:off x="457200" y="2103120"/>
            <a:ext cx="1828800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400">
                <a:solidFill>
                  <a:schemeClr val="accent2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5.34</a:t>
            </a:r>
          </a:p>
        </p:txBody>
      </p:sp>
      <p:sp>
        <p:nvSpPr>
          <p:cNvPr id="97" name="Text 4"/>
          <p:cNvSpPr txBox="1"/>
          <p:nvPr/>
        </p:nvSpPr>
        <p:spPr>
          <a:xfrm>
            <a:off x="457200" y="2697478"/>
            <a:ext cx="1828800" cy="2993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chemeClr val="accent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median skewness (&gt;1 is already 'highly skewed')</a:t>
            </a:r>
          </a:p>
        </p:txBody>
      </p:sp>
      <p:sp>
        <p:nvSpPr>
          <p:cNvPr id="98" name="Text 5"/>
          <p:cNvSpPr txBox="1"/>
          <p:nvPr/>
        </p:nvSpPr>
        <p:spPr>
          <a:xfrm>
            <a:off x="457200" y="3154678"/>
            <a:ext cx="1828800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400">
                <a:solidFill>
                  <a:schemeClr val="accent2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82%</a:t>
            </a:r>
          </a:p>
        </p:txBody>
      </p:sp>
      <p:sp>
        <p:nvSpPr>
          <p:cNvPr id="99" name="Text 6"/>
          <p:cNvSpPr txBox="1"/>
          <p:nvPr/>
        </p:nvSpPr>
        <p:spPr>
          <a:xfrm>
            <a:off x="457200" y="3749040"/>
            <a:ext cx="1828800" cy="2993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chemeClr val="accent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median share of zeros per attribute</a:t>
            </a:r>
          </a:p>
        </p:txBody>
      </p:sp>
      <p:pic>
        <p:nvPicPr>
          <p:cNvPr id="100" name="fig_eda_skew" descr="fig_eda_skew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468878" y="1088063"/>
            <a:ext cx="6309362" cy="2304434"/>
          </a:xfrm>
          <a:prstGeom prst="rect">
            <a:avLst/>
          </a:prstGeom>
          <a:ln w="12700">
            <a:miter lim="400000"/>
          </a:ln>
        </p:spPr>
      </p:pic>
      <p:sp>
        <p:nvSpPr>
          <p:cNvPr id="101" name="Text 7"/>
          <p:cNvSpPr txBox="1"/>
          <p:nvPr/>
        </p:nvSpPr>
        <p:spPr>
          <a:xfrm>
            <a:off x="2560319" y="3657600"/>
            <a:ext cx="6217923" cy="574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>
              <a:defRPr sz="13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→ Raw values cannot go into a distance-based model: a few provinces would dominate every distance. We need population/area normalisation + log transform. Most impact features are also positively correlated (Spearman up to 0.65) → PCA.</a:t>
            </a:r>
          </a:p>
        </p:txBody>
      </p:sp>
      <p:sp>
        <p:nvSpPr>
          <p:cNvPr id="102" name="Slide Number Placeholder 0"/>
          <p:cNvSpPr txBox="1"/>
          <p:nvPr>
            <p:ph type="sldNum" sz="quarter" idx="4294967295"/>
          </p:nvPr>
        </p:nvSpPr>
        <p:spPr>
          <a:xfrm>
            <a:off x="8524727" y="4800599"/>
            <a:ext cx="162071" cy="20591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 0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 anchor="ctr"/>
          <a:lstStyle/>
          <a:p>
            <a:pPr/>
            <a:r>
              <a:t>Pre-processing 1: integrating four sources</a:t>
            </a:r>
          </a:p>
        </p:txBody>
      </p:sp>
      <p:sp>
        <p:nvSpPr>
          <p:cNvPr id="107" name="Shape 1"/>
          <p:cNvSpPr/>
          <p:nvPr/>
        </p:nvSpPr>
        <p:spPr>
          <a:xfrm>
            <a:off x="1005838" y="1097280"/>
            <a:ext cx="457203" cy="457203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08" name="Text 2"/>
          <p:cNvSpPr txBox="1"/>
          <p:nvPr/>
        </p:nvSpPr>
        <p:spPr>
          <a:xfrm>
            <a:off x="1005838" y="1221302"/>
            <a:ext cx="457203" cy="2091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09" name="Shape 3"/>
          <p:cNvSpPr/>
          <p:nvPr/>
        </p:nvSpPr>
        <p:spPr>
          <a:xfrm>
            <a:off x="1508760" y="1325880"/>
            <a:ext cx="1133857" cy="2"/>
          </a:xfrm>
          <a:prstGeom prst="line">
            <a:avLst/>
          </a:prstGeom>
          <a:ln w="15875">
            <a:solidFill>
              <a:srgbClr val="B3B6B7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0" name="Text 4"/>
          <p:cNvSpPr txBox="1"/>
          <p:nvPr/>
        </p:nvSpPr>
        <p:spPr>
          <a:xfrm>
            <a:off x="457200" y="1645920"/>
            <a:ext cx="1554481" cy="1878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 algn="ctr">
              <a:defRPr b="1" sz="1500">
                <a:solidFill>
                  <a:srgbClr val="0B3C5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Parse</a:t>
            </a:r>
          </a:p>
        </p:txBody>
      </p:sp>
      <p:sp>
        <p:nvSpPr>
          <p:cNvPr id="111" name="Text 5"/>
          <p:cNvSpPr txBox="1"/>
          <p:nvPr/>
        </p:nvSpPr>
        <p:spPr>
          <a:xfrm>
            <a:off x="457200" y="1965960"/>
            <a:ext cx="1554481" cy="3006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 algn="ctr">
              <a:defRPr sz="11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6 DDPM layouts, HTML-in-.xls, merged-cell CSV</a:t>
            </a:r>
          </a:p>
        </p:txBody>
      </p:sp>
      <p:sp>
        <p:nvSpPr>
          <p:cNvPr id="112" name="Shape 6"/>
          <p:cNvSpPr/>
          <p:nvPr/>
        </p:nvSpPr>
        <p:spPr>
          <a:xfrm>
            <a:off x="2688334" y="1097280"/>
            <a:ext cx="457203" cy="457203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3" name="Text 7"/>
          <p:cNvSpPr txBox="1"/>
          <p:nvPr/>
        </p:nvSpPr>
        <p:spPr>
          <a:xfrm>
            <a:off x="2688334" y="1221302"/>
            <a:ext cx="457202" cy="2091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14" name="Shape 8"/>
          <p:cNvSpPr/>
          <p:nvPr/>
        </p:nvSpPr>
        <p:spPr>
          <a:xfrm>
            <a:off x="3191255" y="1325880"/>
            <a:ext cx="1133857" cy="2"/>
          </a:xfrm>
          <a:prstGeom prst="line">
            <a:avLst/>
          </a:prstGeom>
          <a:ln w="15875">
            <a:solidFill>
              <a:srgbClr val="B3B6B7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5" name="Text 9"/>
          <p:cNvSpPr txBox="1"/>
          <p:nvPr/>
        </p:nvSpPr>
        <p:spPr>
          <a:xfrm>
            <a:off x="2139694" y="1645920"/>
            <a:ext cx="1554482" cy="1878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 algn="ctr">
              <a:defRPr b="1" sz="1500">
                <a:solidFill>
                  <a:srgbClr val="0B3C5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Clean</a:t>
            </a:r>
          </a:p>
        </p:txBody>
      </p:sp>
      <p:sp>
        <p:nvSpPr>
          <p:cNvPr id="116" name="Text 10"/>
          <p:cNvSpPr txBox="1"/>
          <p:nvPr/>
        </p:nvSpPr>
        <p:spPr>
          <a:xfrm>
            <a:off x="2139694" y="1965960"/>
            <a:ext cx="1554482" cy="4657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 algn="ctr">
              <a:defRPr sz="11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drop 144 subtotal rows; '-', blanks → 0; strip zero-width chars</a:t>
            </a:r>
          </a:p>
        </p:txBody>
      </p:sp>
      <p:sp>
        <p:nvSpPr>
          <p:cNvPr id="117" name="Shape 11"/>
          <p:cNvSpPr/>
          <p:nvPr/>
        </p:nvSpPr>
        <p:spPr>
          <a:xfrm>
            <a:off x="4370832" y="1097280"/>
            <a:ext cx="457203" cy="457203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8" name="Text 12"/>
          <p:cNvSpPr txBox="1"/>
          <p:nvPr/>
        </p:nvSpPr>
        <p:spPr>
          <a:xfrm>
            <a:off x="4370832" y="1221302"/>
            <a:ext cx="457202" cy="2091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19" name="Shape 13"/>
          <p:cNvSpPr/>
          <p:nvPr/>
        </p:nvSpPr>
        <p:spPr>
          <a:xfrm>
            <a:off x="4873752" y="1325880"/>
            <a:ext cx="1133858" cy="2"/>
          </a:xfrm>
          <a:prstGeom prst="line">
            <a:avLst/>
          </a:prstGeom>
          <a:ln w="15875">
            <a:solidFill>
              <a:srgbClr val="B3B6B7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0" name="Text 14"/>
          <p:cNvSpPr txBox="1"/>
          <p:nvPr/>
        </p:nvSpPr>
        <p:spPr>
          <a:xfrm>
            <a:off x="3822191" y="1645920"/>
            <a:ext cx="1554482" cy="1878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 algn="ctr">
              <a:defRPr b="1" sz="1500">
                <a:solidFill>
                  <a:srgbClr val="0B3C5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Harmonise</a:t>
            </a:r>
          </a:p>
        </p:txBody>
      </p:sp>
      <p:sp>
        <p:nvSpPr>
          <p:cNvPr id="121" name="Text 15"/>
          <p:cNvSpPr txBox="1"/>
          <p:nvPr/>
        </p:nvSpPr>
        <p:spPr>
          <a:xfrm>
            <a:off x="3822191" y="1965960"/>
            <a:ext cx="1554482" cy="4657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 algn="ctr">
              <a:defRPr sz="11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44–66 columns → 13 common attributes by keyword mapping</a:t>
            </a:r>
          </a:p>
        </p:txBody>
      </p:sp>
      <p:sp>
        <p:nvSpPr>
          <p:cNvPr id="122" name="Shape 16"/>
          <p:cNvSpPr/>
          <p:nvPr/>
        </p:nvSpPr>
        <p:spPr>
          <a:xfrm>
            <a:off x="6053328" y="1097280"/>
            <a:ext cx="457203" cy="457203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23" name="Text 17"/>
          <p:cNvSpPr txBox="1"/>
          <p:nvPr/>
        </p:nvSpPr>
        <p:spPr>
          <a:xfrm>
            <a:off x="6053328" y="1221302"/>
            <a:ext cx="457202" cy="2091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24" name="Shape 18"/>
          <p:cNvSpPr/>
          <p:nvPr/>
        </p:nvSpPr>
        <p:spPr>
          <a:xfrm>
            <a:off x="6556247" y="1325880"/>
            <a:ext cx="1133858" cy="2"/>
          </a:xfrm>
          <a:prstGeom prst="line">
            <a:avLst/>
          </a:prstGeom>
          <a:ln w="15875">
            <a:solidFill>
              <a:srgbClr val="B3B6B7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5" name="Text 19"/>
          <p:cNvSpPr txBox="1"/>
          <p:nvPr/>
        </p:nvSpPr>
        <p:spPr>
          <a:xfrm>
            <a:off x="5504688" y="1645920"/>
            <a:ext cx="1554482" cy="1878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 algn="ctr">
              <a:defRPr b="1" sz="1500">
                <a:solidFill>
                  <a:srgbClr val="0B3C5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Match</a:t>
            </a:r>
          </a:p>
        </p:txBody>
      </p:sp>
      <p:sp>
        <p:nvSpPr>
          <p:cNvPr id="126" name="Text 20"/>
          <p:cNvSpPr txBox="1"/>
          <p:nvPr/>
        </p:nvSpPr>
        <p:spPr>
          <a:xfrm>
            <a:off x="5504688" y="1965960"/>
            <a:ext cx="1554482" cy="4657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 algn="ctr">
              <a:defRPr sz="11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normalise province names → 77 official codes (0 unmatched)</a:t>
            </a:r>
          </a:p>
        </p:txBody>
      </p:sp>
      <p:sp>
        <p:nvSpPr>
          <p:cNvPr id="127" name="Shape 21"/>
          <p:cNvSpPr/>
          <p:nvPr/>
        </p:nvSpPr>
        <p:spPr>
          <a:xfrm>
            <a:off x="7735823" y="1097280"/>
            <a:ext cx="457203" cy="457203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28" name="Text 22"/>
          <p:cNvSpPr txBox="1"/>
          <p:nvPr/>
        </p:nvSpPr>
        <p:spPr>
          <a:xfrm>
            <a:off x="7735823" y="1221302"/>
            <a:ext cx="457202" cy="2091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29" name="Text 23"/>
          <p:cNvSpPr txBox="1"/>
          <p:nvPr/>
        </p:nvSpPr>
        <p:spPr>
          <a:xfrm>
            <a:off x="7187183" y="1645920"/>
            <a:ext cx="1554482" cy="1878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 algn="ctr">
              <a:defRPr b="1" sz="1500">
                <a:solidFill>
                  <a:srgbClr val="0B3C5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Join</a:t>
            </a:r>
          </a:p>
        </p:txBody>
      </p:sp>
      <p:sp>
        <p:nvSpPr>
          <p:cNvPr id="130" name="Text 24"/>
          <p:cNvSpPr txBox="1"/>
          <p:nvPr/>
        </p:nvSpPr>
        <p:spPr>
          <a:xfrm>
            <a:off x="7187183" y="1965960"/>
            <a:ext cx="1554482" cy="4657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 algn="ctr">
              <a:defRPr sz="11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province × year grid with rain + population; absent year = no flood</a:t>
            </a:r>
          </a:p>
        </p:txBody>
      </p:sp>
      <p:sp>
        <p:nvSpPr>
          <p:cNvPr id="131" name="Shape 25"/>
          <p:cNvSpPr/>
          <p:nvPr/>
        </p:nvSpPr>
        <p:spPr>
          <a:xfrm>
            <a:off x="457200" y="3154678"/>
            <a:ext cx="8229600" cy="1463042"/>
          </a:xfrm>
          <a:prstGeom prst="roundRect">
            <a:avLst>
              <a:gd name="adj" fmla="val 5000"/>
            </a:avLst>
          </a:prstGeom>
          <a:solidFill>
            <a:srgbClr val="EAF2F8"/>
          </a:solidFill>
          <a:ln w="12700">
            <a:solidFill>
              <a:srgbClr val="EAF2F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32" name="Text 26"/>
          <p:cNvSpPr txBox="1"/>
          <p:nvPr/>
        </p:nvSpPr>
        <p:spPr>
          <a:xfrm>
            <a:off x="640079" y="3246120"/>
            <a:ext cx="7863841" cy="1680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>
              <a:defRPr b="1" sz="1300">
                <a:solidFill>
                  <a:srgbClr val="0B3C5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Harmonised attributes (sum of the matching raw columns per year)</a:t>
            </a:r>
          </a:p>
        </p:txBody>
      </p:sp>
      <p:sp>
        <p:nvSpPr>
          <p:cNvPr id="133" name="Text 27"/>
          <p:cNvSpPr txBox="1"/>
          <p:nvPr/>
        </p:nvSpPr>
        <p:spPr>
          <a:xfrm>
            <a:off x="640079" y="3611879"/>
            <a:ext cx="7863841" cy="3486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>
              <a:defRPr sz="12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affected people · affected households · evacuated · deaths · injured/missing · housing · farmland (rai) · livestock · fishery · roads &amp; bridges · public sites · districts · villages</a:t>
            </a:r>
          </a:p>
        </p:txBody>
      </p:sp>
      <p:sp>
        <p:nvSpPr>
          <p:cNvPr id="134" name="Text 28"/>
          <p:cNvSpPr txBox="1"/>
          <p:nvPr/>
        </p:nvSpPr>
        <p:spPr>
          <a:xfrm>
            <a:off x="640079" y="4114799"/>
            <a:ext cx="7863841" cy="198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/>
          <a:p>
            <a:pPr>
              <a:defRPr i="1" sz="1100">
                <a:solidFill>
                  <a:schemeClr val="accent6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Check: yearly totals reproduce the official '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รวมทั้งหมด</a:t>
            </a:r>
            <a:r>
              <a:t>' rows exactly (e.g. 2020: 3,576,314 people) before imputation.</a:t>
            </a:r>
          </a:p>
        </p:txBody>
      </p:sp>
      <p:sp>
        <p:nvSpPr>
          <p:cNvPr id="135" name="Slide Number Placeholder 0"/>
          <p:cNvSpPr txBox="1"/>
          <p:nvPr>
            <p:ph type="sldNum" sz="quarter" idx="4294967295"/>
          </p:nvPr>
        </p:nvSpPr>
        <p:spPr>
          <a:xfrm>
            <a:off x="8524727" y="4800599"/>
            <a:ext cx="162071" cy="20591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ext 0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 anchor="ctr"/>
          <a:lstStyle/>
          <a:p>
            <a:pPr/>
            <a:r>
              <a:t>Pre-processing 2: missing values, scaling, PCA</a:t>
            </a:r>
          </a:p>
        </p:txBody>
      </p:sp>
      <p:sp>
        <p:nvSpPr>
          <p:cNvPr id="140" name="Text 1"/>
          <p:cNvSpPr txBox="1"/>
          <p:nvPr/>
        </p:nvSpPr>
        <p:spPr>
          <a:xfrm>
            <a:off x="457198" y="1005838"/>
            <a:ext cx="4023362" cy="22536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/>
          <a:p>
            <a:pPr marL="342900" indent="-342900">
              <a:buSzPct val="100000"/>
              <a:buChar char="•"/>
              <a:defRPr b="1" sz="1200">
                <a:latin typeface="+mn-lt"/>
                <a:ea typeface="+mn-ea"/>
                <a:cs typeface="+mn-cs"/>
                <a:sym typeface="Calibri"/>
              </a:defRPr>
            </a:pPr>
            <a:r>
              <a:t>Zeros that mean missing: </a:t>
            </a:r>
            <a:r>
              <a:rPr b="0"/>
              <a:t>households &gt; 0 but people = 0 (e.g. Roi Et 2019: 47,822 households, 0 people) → people = households × 2.74 (median ratio); 8 cells</a:t>
            </a:r>
          </a:p>
          <a:p>
            <a:pPr marL="342900" indent="-342900">
              <a:buSzPct val="100000"/>
              <a:buChar char="•"/>
              <a:defRPr b="1" sz="1200">
                <a:latin typeface="+mn-lt"/>
                <a:ea typeface="+mn-ea"/>
                <a:cs typeface="+mn-cs"/>
                <a:sym typeface="Calibri"/>
              </a:defRPr>
            </a:pPr>
            <a:r>
              <a:t>Unreliable features dropped: </a:t>
            </a:r>
            <a:r>
              <a:rPr b="0"/>
              <a:t>evacuees (2023 schema records only 20 nationwide), livestock (one-off poultry spikes)</a:t>
            </a:r>
          </a:p>
          <a:p>
            <a:pPr marL="342900" indent="-342900">
              <a:buSzPct val="100000"/>
              <a:buChar char="•"/>
              <a:defRPr b="1" sz="1200">
                <a:latin typeface="+mn-lt"/>
                <a:ea typeface="+mn-ea"/>
                <a:cs typeface="+mn-cs"/>
                <a:sym typeface="Calibri"/>
              </a:defRPr>
            </a:pPr>
            <a:r>
              <a:t>Normalisation: </a:t>
            </a:r>
            <a:r>
              <a:rPr b="0"/>
              <a:t>per 1,000 / 100,000 residents or per km² – removes the big-province effect</a:t>
            </a:r>
          </a:p>
          <a:p>
            <a:pPr marL="342900" indent="-342900">
              <a:buSzPct val="100000"/>
              <a:buChar char="•"/>
              <a:defRPr b="1" sz="1200">
                <a:latin typeface="+mn-lt"/>
                <a:ea typeface="+mn-ea"/>
                <a:cs typeface="+mn-cs"/>
                <a:sym typeface="Calibri"/>
              </a:defRPr>
            </a:pPr>
            <a:r>
              <a:t>log1p + z-score: </a:t>
            </a:r>
            <a:r>
              <a:rPr b="0"/>
              <a:t>median skewness 2.88 → 0.09</a:t>
            </a:r>
          </a:p>
          <a:p>
            <a:pPr marL="342900" indent="-342900">
              <a:buSzPct val="100000"/>
              <a:buChar char="•"/>
              <a:defRPr b="1" sz="1200">
                <a:latin typeface="+mn-lt"/>
                <a:ea typeface="+mn-ea"/>
                <a:cs typeface="+mn-cs"/>
                <a:sym typeface="Calibri"/>
              </a:defRPr>
            </a:pPr>
            <a:r>
              <a:t>PCA: </a:t>
            </a:r>
            <a:r>
              <a:rPr b="0"/>
              <a:t>9 features → 5 PCs keep 85% of variance; PC1 (45%) loads on every impact feature → used as the Flood Severity Index</a:t>
            </a:r>
          </a:p>
        </p:txBody>
      </p:sp>
      <p:pic>
        <p:nvPicPr>
          <p:cNvPr id="141" name="fig_pca" descr="fig_pca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572000" y="1854080"/>
            <a:ext cx="4206241" cy="1686800"/>
          </a:xfrm>
          <a:prstGeom prst="rect">
            <a:avLst/>
          </a:prstGeom>
          <a:ln w="12700">
            <a:miter lim="400000"/>
          </a:ln>
        </p:spPr>
      </p:pic>
      <p:sp>
        <p:nvSpPr>
          <p:cNvPr id="142" name="Slide Number Placeholder 0"/>
          <p:cNvSpPr txBox="1"/>
          <p:nvPr>
            <p:ph type="sldNum" sz="quarter" idx="4294967295"/>
          </p:nvPr>
        </p:nvSpPr>
        <p:spPr>
          <a:xfrm>
            <a:off x="8524727" y="4800599"/>
            <a:ext cx="162071" cy="20591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Text 0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 anchor="ctr"/>
          <a:lstStyle/>
          <a:p>
            <a:pPr/>
            <a:r>
              <a:t>Technique 1: K-Means vs HDBSCAN</a:t>
            </a:r>
          </a:p>
        </p:txBody>
      </p:sp>
      <p:sp>
        <p:nvSpPr>
          <p:cNvPr id="147" name="Shape 1"/>
          <p:cNvSpPr/>
          <p:nvPr/>
        </p:nvSpPr>
        <p:spPr>
          <a:xfrm>
            <a:off x="457200" y="1005838"/>
            <a:ext cx="4023360" cy="2743202"/>
          </a:xfrm>
          <a:prstGeom prst="roundRect">
            <a:avLst>
              <a:gd name="adj" fmla="val 2667"/>
            </a:avLst>
          </a:prstGeom>
          <a:solidFill>
            <a:srgbClr val="EAF2F8"/>
          </a:solidFill>
          <a:ln w="12700">
            <a:solidFill>
              <a:srgbClr val="EAF2F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48" name="Text 2"/>
          <p:cNvSpPr txBox="1"/>
          <p:nvPr/>
        </p:nvSpPr>
        <p:spPr>
          <a:xfrm>
            <a:off x="640079" y="1097280"/>
            <a:ext cx="3657603" cy="2104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>
              <a:defRPr b="1" sz="1600">
                <a:solidFill>
                  <a:srgbClr val="0B3C5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K-Means (covered in class)</a:t>
            </a:r>
          </a:p>
        </p:txBody>
      </p:sp>
      <p:sp>
        <p:nvSpPr>
          <p:cNvPr id="149" name="Text 3"/>
          <p:cNvSpPr txBox="1"/>
          <p:nvPr/>
        </p:nvSpPr>
        <p:spPr>
          <a:xfrm>
            <a:off x="640079" y="1508760"/>
            <a:ext cx="3657603" cy="1336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/>
          <a:p>
            <a:pPr marL="342900" indent="-342900">
              <a:spcBef>
                <a:spcPts val="600"/>
              </a:spcBef>
              <a:buSzPct val="100000"/>
              <a:buChar char="•"/>
              <a:defRPr sz="1300">
                <a:latin typeface="+mn-lt"/>
                <a:ea typeface="+mn-ea"/>
                <a:cs typeface="+mn-cs"/>
                <a:sym typeface="Calibri"/>
              </a:defRPr>
            </a:pPr>
            <a:r>
              <a:t>Partitions provinces into k spherical groups around centroids</a:t>
            </a:r>
          </a:p>
          <a:p>
            <a:pPr marL="342900" indent="-342900">
              <a:spcBef>
                <a:spcPts val="600"/>
              </a:spcBef>
              <a:buSzPct val="100000"/>
              <a:buChar char="•"/>
              <a:defRPr sz="1300">
                <a:latin typeface="+mn-lt"/>
                <a:ea typeface="+mn-ea"/>
                <a:cs typeface="+mn-cs"/>
                <a:sym typeface="Calibri"/>
              </a:defRPr>
            </a:pPr>
            <a:r>
              <a:t>k chosen by elbow + silhouette + stability over 20 seeds</a:t>
            </a:r>
          </a:p>
          <a:p>
            <a:pPr marL="342900" indent="-342900">
              <a:spcBef>
                <a:spcPts val="600"/>
              </a:spcBef>
              <a:buSzPct val="100000"/>
              <a:buChar char="•"/>
              <a:defRPr sz="1300">
                <a:latin typeface="+mn-lt"/>
                <a:ea typeface="+mn-ea"/>
                <a:cs typeface="+mn-cs"/>
                <a:sym typeface="Calibri"/>
              </a:defRPr>
            </a:pPr>
            <a:r>
              <a:t>Every province must join a cluster – outliers distort centroids</a:t>
            </a:r>
          </a:p>
        </p:txBody>
      </p:sp>
      <p:sp>
        <p:nvSpPr>
          <p:cNvPr id="150" name="Shape 4"/>
          <p:cNvSpPr/>
          <p:nvPr/>
        </p:nvSpPr>
        <p:spPr>
          <a:xfrm>
            <a:off x="4663440" y="1005838"/>
            <a:ext cx="4023360" cy="2743202"/>
          </a:xfrm>
          <a:prstGeom prst="roundRect">
            <a:avLst>
              <a:gd name="adj" fmla="val 2667"/>
            </a:avLst>
          </a:prstGeom>
          <a:solidFill>
            <a:srgbClr val="FDEBD0"/>
          </a:solidFill>
          <a:ln w="12700">
            <a:solidFill>
              <a:srgbClr val="FDEBD0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51" name="Text 5"/>
          <p:cNvSpPr txBox="1"/>
          <p:nvPr/>
        </p:nvSpPr>
        <p:spPr>
          <a:xfrm>
            <a:off x="4846319" y="1097280"/>
            <a:ext cx="3657603" cy="2104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>
              <a:defRPr b="1" sz="1600">
                <a:solidFill>
                  <a:srgbClr val="0B3C5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HDBSCAN (not covered in class)</a:t>
            </a:r>
          </a:p>
        </p:txBody>
      </p:sp>
      <p:sp>
        <p:nvSpPr>
          <p:cNvPr id="152" name="Text 6"/>
          <p:cNvSpPr txBox="1"/>
          <p:nvPr/>
        </p:nvSpPr>
        <p:spPr>
          <a:xfrm>
            <a:off x="4846319" y="1508760"/>
            <a:ext cx="3657603" cy="1336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/>
          <a:p>
            <a:pPr marL="342900" indent="-342900">
              <a:spcBef>
                <a:spcPts val="600"/>
              </a:spcBef>
              <a:buSzPct val="100000"/>
              <a:buChar char="•"/>
              <a:defRPr sz="1300">
                <a:latin typeface="+mn-lt"/>
                <a:ea typeface="+mn-ea"/>
                <a:cs typeface="+mn-cs"/>
                <a:sym typeface="Calibri"/>
              </a:defRPr>
            </a:pPr>
            <a:r>
              <a:t>Hierarchical density-based clustering: builds a minimum spanning tree on mutual-reachability distance, keeps the most stable density clusters</a:t>
            </a:r>
          </a:p>
          <a:p>
            <a:pPr marL="342900" indent="-342900">
              <a:spcBef>
                <a:spcPts val="600"/>
              </a:spcBef>
              <a:buSzPct val="100000"/>
              <a:buChar char="•"/>
              <a:defRPr sz="1300">
                <a:latin typeface="+mn-lt"/>
                <a:ea typeface="+mn-ea"/>
                <a:cs typeface="+mn-cs"/>
                <a:sym typeface="Calibri"/>
              </a:defRPr>
            </a:pPr>
            <a:r>
              <a:t>No k needed; only min_cluster_size</a:t>
            </a:r>
          </a:p>
          <a:p>
            <a:pPr marL="342900" indent="-342900">
              <a:spcBef>
                <a:spcPts val="600"/>
              </a:spcBef>
              <a:buSzPct val="100000"/>
              <a:buChar char="•"/>
              <a:defRPr sz="1300">
                <a:latin typeface="+mn-lt"/>
                <a:ea typeface="+mn-ea"/>
                <a:cs typeface="+mn-cs"/>
                <a:sym typeface="Calibri"/>
              </a:defRPr>
            </a:pPr>
            <a:r>
              <a:t>Labels low-density points as noise → natural outlier detector</a:t>
            </a:r>
          </a:p>
        </p:txBody>
      </p:sp>
      <p:sp>
        <p:nvSpPr>
          <p:cNvPr id="153" name="Text 7"/>
          <p:cNvSpPr txBox="1"/>
          <p:nvPr/>
        </p:nvSpPr>
        <p:spPr>
          <a:xfrm>
            <a:off x="457200" y="3931920"/>
            <a:ext cx="8229600" cy="3712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>
              <a:defRPr sz="1300">
                <a:solidFill>
                  <a:schemeClr val="accent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Input for both: the 5 PCA scores of 77 provinces. Question: are there natural flood-impact types, and which provinces are atypical?</a:t>
            </a:r>
          </a:p>
        </p:txBody>
      </p:sp>
      <p:sp>
        <p:nvSpPr>
          <p:cNvPr id="154" name="Slide Number Placeholder 0"/>
          <p:cNvSpPr txBox="1"/>
          <p:nvPr>
            <p:ph type="sldNum" sz="quarter" idx="4294967295"/>
          </p:nvPr>
        </p:nvSpPr>
        <p:spPr>
          <a:xfrm>
            <a:off x="8524727" y="4800599"/>
            <a:ext cx="162071" cy="20591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 0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 anchor="ctr"/>
          <a:lstStyle/>
          <a:p>
            <a:pPr/>
            <a:r>
              <a:t>Technique 2: Moran’s I and LISA hotspots</a:t>
            </a:r>
          </a:p>
        </p:txBody>
      </p:sp>
      <p:sp>
        <p:nvSpPr>
          <p:cNvPr id="159" name="Shape 1"/>
          <p:cNvSpPr/>
          <p:nvPr/>
        </p:nvSpPr>
        <p:spPr>
          <a:xfrm>
            <a:off x="457200" y="1005838"/>
            <a:ext cx="4023360" cy="1417323"/>
          </a:xfrm>
          <a:prstGeom prst="roundRect">
            <a:avLst>
              <a:gd name="adj" fmla="val 5161"/>
            </a:avLst>
          </a:prstGeom>
          <a:solidFill>
            <a:srgbClr val="EAF2F8"/>
          </a:solidFill>
          <a:ln w="12700">
            <a:solidFill>
              <a:srgbClr val="EAF2F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60" name="Text 2"/>
          <p:cNvSpPr txBox="1"/>
          <p:nvPr/>
        </p:nvSpPr>
        <p:spPr>
          <a:xfrm>
            <a:off x="640079" y="1051560"/>
            <a:ext cx="3657603" cy="1878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>
              <a:defRPr b="1" sz="1500">
                <a:solidFill>
                  <a:srgbClr val="0B3C5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Global Moran’s I (not covered in class)</a:t>
            </a:r>
          </a:p>
        </p:txBody>
      </p:sp>
      <p:sp>
        <p:nvSpPr>
          <p:cNvPr id="161" name="Text 3"/>
          <p:cNvSpPr txBox="1"/>
          <p:nvPr/>
        </p:nvSpPr>
        <p:spPr>
          <a:xfrm>
            <a:off x="640079" y="1417319"/>
            <a:ext cx="3657603" cy="217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>
              <a:defRPr i="1" sz="1500"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I = (n / ΣΣwᵢⱼ) · ΣΣ wᵢⱼ zᵢ zⱼ / Σ zᵢ²</a:t>
            </a:r>
          </a:p>
        </p:txBody>
      </p:sp>
      <p:sp>
        <p:nvSpPr>
          <p:cNvPr id="162" name="Text 4"/>
          <p:cNvSpPr txBox="1"/>
          <p:nvPr/>
        </p:nvSpPr>
        <p:spPr>
          <a:xfrm>
            <a:off x="640079" y="1783078"/>
            <a:ext cx="3657603" cy="3486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>
              <a:defRPr sz="12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Do neighbouring provinces have similar severity? I &gt; 0 = clustered, ≈ 0 = random.</a:t>
            </a:r>
          </a:p>
        </p:txBody>
      </p:sp>
      <p:sp>
        <p:nvSpPr>
          <p:cNvPr id="163" name="Shape 5"/>
          <p:cNvSpPr/>
          <p:nvPr/>
        </p:nvSpPr>
        <p:spPr>
          <a:xfrm>
            <a:off x="457200" y="2560320"/>
            <a:ext cx="4023360" cy="1417322"/>
          </a:xfrm>
          <a:prstGeom prst="roundRect">
            <a:avLst>
              <a:gd name="adj" fmla="val 5161"/>
            </a:avLst>
          </a:prstGeom>
          <a:solidFill>
            <a:srgbClr val="EAF2F8"/>
          </a:solidFill>
          <a:ln w="12700">
            <a:solidFill>
              <a:srgbClr val="EAF2F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64" name="Text 6"/>
          <p:cNvSpPr txBox="1"/>
          <p:nvPr/>
        </p:nvSpPr>
        <p:spPr>
          <a:xfrm>
            <a:off x="640079" y="2606038"/>
            <a:ext cx="3657603" cy="2336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/>
          <a:p>
            <a:pPr>
              <a:defRPr b="1" sz="1500">
                <a:solidFill>
                  <a:srgbClr val="0B3C5D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LISA – Local Moran’s I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ᵢ</a:t>
            </a:r>
          </a:p>
        </p:txBody>
      </p:sp>
      <p:sp>
        <p:nvSpPr>
          <p:cNvPr id="165" name="Text 7"/>
          <p:cNvSpPr txBox="1"/>
          <p:nvPr/>
        </p:nvSpPr>
        <p:spPr>
          <a:xfrm>
            <a:off x="640079" y="2971799"/>
            <a:ext cx="3657603" cy="5391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>
              <a:defRPr sz="12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One statistic per province: HH = high severity surrounded by high (hotspot), LL = coldspot, HL/LH = spatial outliers. Significance by 9,999 conditional permutations, p &lt; 0.05.</a:t>
            </a:r>
          </a:p>
        </p:txBody>
      </p:sp>
      <p:sp>
        <p:nvSpPr>
          <p:cNvPr id="166" name="Text 8"/>
          <p:cNvSpPr txBox="1"/>
          <p:nvPr/>
        </p:nvSpPr>
        <p:spPr>
          <a:xfrm>
            <a:off x="457198" y="4114800"/>
            <a:ext cx="4023362" cy="3006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>
              <a:defRPr sz="1100">
                <a:solidFill>
                  <a:schemeClr val="accent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Spatial weights: Queen contiguity (shared border), row-standardised; mean 4.6 neighbours per province.</a:t>
            </a:r>
          </a:p>
        </p:txBody>
      </p:sp>
      <p:sp>
        <p:nvSpPr>
          <p:cNvPr id="167" name="Shape 9"/>
          <p:cNvSpPr/>
          <p:nvPr/>
        </p:nvSpPr>
        <p:spPr>
          <a:xfrm>
            <a:off x="4937759" y="1051560"/>
            <a:ext cx="1554482" cy="1554482"/>
          </a:xfrm>
          <a:prstGeom prst="rect">
            <a:avLst/>
          </a:prstGeom>
          <a:solidFill>
            <a:srgbClr val="ABD9E9"/>
          </a:solidFill>
          <a:ln w="12700">
            <a:solidFill>
              <a:srgbClr val="ABD9E9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68" name="Text 10"/>
          <p:cNvSpPr txBox="1"/>
          <p:nvPr/>
        </p:nvSpPr>
        <p:spPr>
          <a:xfrm>
            <a:off x="4937759" y="1734885"/>
            <a:ext cx="1554482" cy="1878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 anchor="ctr">
            <a:spAutoFit/>
          </a:bodyPr>
          <a:lstStyle>
            <a:lvl1pPr algn="ctr">
              <a:defRPr b="1" sz="15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LH</a:t>
            </a:r>
          </a:p>
        </p:txBody>
      </p:sp>
      <p:sp>
        <p:nvSpPr>
          <p:cNvPr id="169" name="Shape 11"/>
          <p:cNvSpPr/>
          <p:nvPr/>
        </p:nvSpPr>
        <p:spPr>
          <a:xfrm>
            <a:off x="6537959" y="1051560"/>
            <a:ext cx="1554482" cy="1554482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0" name="Text 12"/>
          <p:cNvSpPr txBox="1"/>
          <p:nvPr/>
        </p:nvSpPr>
        <p:spPr>
          <a:xfrm>
            <a:off x="6537959" y="1734885"/>
            <a:ext cx="1554482" cy="1878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 anchor="ctr">
            <a:spAutoFit/>
          </a:bodyPr>
          <a:lstStyle>
            <a:lvl1pPr algn="ctr">
              <a:defRPr b="1" sz="15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HH  hotspot</a:t>
            </a:r>
          </a:p>
        </p:txBody>
      </p:sp>
      <p:sp>
        <p:nvSpPr>
          <p:cNvPr id="171" name="Shape 13"/>
          <p:cNvSpPr/>
          <p:nvPr/>
        </p:nvSpPr>
        <p:spPr>
          <a:xfrm>
            <a:off x="4937759" y="2651760"/>
            <a:ext cx="1554482" cy="1554482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2" name="Text 14"/>
          <p:cNvSpPr txBox="1"/>
          <p:nvPr/>
        </p:nvSpPr>
        <p:spPr>
          <a:xfrm>
            <a:off x="4937759" y="3335085"/>
            <a:ext cx="1554482" cy="1878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 anchor="ctr">
            <a:spAutoFit/>
          </a:bodyPr>
          <a:lstStyle>
            <a:lvl1pPr algn="ctr">
              <a:defRPr b="1" sz="15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LL  coldspot</a:t>
            </a:r>
          </a:p>
        </p:txBody>
      </p:sp>
      <p:sp>
        <p:nvSpPr>
          <p:cNvPr id="173" name="Shape 15"/>
          <p:cNvSpPr/>
          <p:nvPr/>
        </p:nvSpPr>
        <p:spPr>
          <a:xfrm>
            <a:off x="6537959" y="2651760"/>
            <a:ext cx="1554482" cy="1554482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4" name="Text 16"/>
          <p:cNvSpPr txBox="1"/>
          <p:nvPr/>
        </p:nvSpPr>
        <p:spPr>
          <a:xfrm>
            <a:off x="6537959" y="3335085"/>
            <a:ext cx="1554482" cy="1878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 anchor="ctr">
            <a:spAutoFit/>
          </a:bodyPr>
          <a:lstStyle>
            <a:lvl1pPr algn="ctr">
              <a:defRPr b="1" sz="15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HL</a:t>
            </a:r>
          </a:p>
        </p:txBody>
      </p:sp>
      <p:sp>
        <p:nvSpPr>
          <p:cNvPr id="175" name="Text 17"/>
          <p:cNvSpPr txBox="1"/>
          <p:nvPr/>
        </p:nvSpPr>
        <p:spPr>
          <a:xfrm>
            <a:off x="4937759" y="4270247"/>
            <a:ext cx="3200402" cy="1355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 algn="ctr">
              <a:defRPr sz="1100">
                <a:solidFill>
                  <a:schemeClr val="accent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own severity (z) →</a:t>
            </a:r>
          </a:p>
        </p:txBody>
      </p:sp>
      <p:sp>
        <p:nvSpPr>
          <p:cNvPr id="176" name="Text 18"/>
          <p:cNvSpPr txBox="1"/>
          <p:nvPr/>
        </p:nvSpPr>
        <p:spPr>
          <a:xfrm rot="16200000">
            <a:off x="6857999" y="2583991"/>
            <a:ext cx="3200402" cy="1355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 anchor="ctr">
            <a:spAutoFit/>
          </a:bodyPr>
          <a:lstStyle>
            <a:lvl1pPr algn="ctr">
              <a:defRPr sz="1100">
                <a:solidFill>
                  <a:schemeClr val="accent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neighbours’ average (spatial lag) →</a:t>
            </a:r>
          </a:p>
        </p:txBody>
      </p:sp>
      <p:sp>
        <p:nvSpPr>
          <p:cNvPr id="177" name="Slide Number Placeholder 0"/>
          <p:cNvSpPr txBox="1"/>
          <p:nvPr>
            <p:ph type="sldNum" sz="quarter" idx="4294967295"/>
          </p:nvPr>
        </p:nvSpPr>
        <p:spPr>
          <a:xfrm>
            <a:off x="8524727" y="4800599"/>
            <a:ext cx="162071" cy="20591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 0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 anchor="ctr"/>
          <a:lstStyle/>
          <a:p>
            <a:pPr/>
            <a:r>
              <a:t>Result: 4 flood-impact types (K-Means)</a:t>
            </a:r>
          </a:p>
        </p:txBody>
      </p:sp>
      <p:pic>
        <p:nvPicPr>
          <p:cNvPr id="182" name="fig_clusters_map" descr="fig_clusters_map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74320" y="1375869"/>
            <a:ext cx="3840480" cy="2917539"/>
          </a:xfrm>
          <a:prstGeom prst="rect">
            <a:avLst/>
          </a:prstGeom>
          <a:ln w="12700">
            <a:miter lim="400000"/>
          </a:ln>
        </p:spPr>
      </p:pic>
      <p:sp>
        <p:nvSpPr>
          <p:cNvPr id="183" name="Shape 1"/>
          <p:cNvSpPr/>
          <p:nvPr/>
        </p:nvSpPr>
        <p:spPr>
          <a:xfrm>
            <a:off x="4297679" y="960119"/>
            <a:ext cx="4434843" cy="850393"/>
          </a:xfrm>
          <a:prstGeom prst="roundRect">
            <a:avLst>
              <a:gd name="adj" fmla="val 8602"/>
            </a:avLst>
          </a:prstGeom>
          <a:solidFill>
            <a:srgbClr val="EAF2F8"/>
          </a:solidFill>
          <a:ln w="12700">
            <a:solidFill>
              <a:srgbClr val="EAF2F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4" name="Shape 2"/>
          <p:cNvSpPr/>
          <p:nvPr/>
        </p:nvSpPr>
        <p:spPr>
          <a:xfrm>
            <a:off x="4407408" y="1069847"/>
            <a:ext cx="292611" cy="292611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5" name="Text 3"/>
          <p:cNvSpPr txBox="1"/>
          <p:nvPr/>
        </p:nvSpPr>
        <p:spPr>
          <a:xfrm>
            <a:off x="4773167" y="1014983"/>
            <a:ext cx="3886202" cy="1680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>
              <a:defRPr b="1" sz="1300">
                <a:solidFill>
                  <a:srgbClr val="0B3C5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K2 Flash-flood / human impact (16)</a:t>
            </a:r>
          </a:p>
        </p:txBody>
      </p:sp>
      <p:sp>
        <p:nvSpPr>
          <p:cNvPr id="186" name="Text 4"/>
          <p:cNvSpPr txBox="1"/>
          <p:nvPr/>
        </p:nvSpPr>
        <p:spPr>
          <a:xfrm>
            <a:off x="4773167" y="1344167"/>
            <a:ext cx="3886202" cy="3006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>
              <a:defRPr sz="11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North uplands &amp; deep south – most people affected (70/1k/yr), casualties, public sites</a:t>
            </a:r>
          </a:p>
        </p:txBody>
      </p:sp>
      <p:sp>
        <p:nvSpPr>
          <p:cNvPr id="187" name="Shape 5"/>
          <p:cNvSpPr/>
          <p:nvPr/>
        </p:nvSpPr>
        <p:spPr>
          <a:xfrm>
            <a:off x="4297679" y="1901950"/>
            <a:ext cx="4434843" cy="850394"/>
          </a:xfrm>
          <a:prstGeom prst="roundRect">
            <a:avLst>
              <a:gd name="adj" fmla="val 8602"/>
            </a:avLst>
          </a:prstGeom>
          <a:solidFill>
            <a:srgbClr val="EAF2F8"/>
          </a:solidFill>
          <a:ln w="12700">
            <a:solidFill>
              <a:srgbClr val="EAF2F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8" name="Shape 6"/>
          <p:cNvSpPr/>
          <p:nvPr/>
        </p:nvSpPr>
        <p:spPr>
          <a:xfrm>
            <a:off x="4407408" y="2011678"/>
            <a:ext cx="292611" cy="292611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9" name="Text 7"/>
          <p:cNvSpPr txBox="1"/>
          <p:nvPr/>
        </p:nvSpPr>
        <p:spPr>
          <a:xfrm>
            <a:off x="4773167" y="1956816"/>
            <a:ext cx="3886202" cy="1680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>
              <a:defRPr b="1" sz="1300">
                <a:solidFill>
                  <a:srgbClr val="0B3C5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K3 Agricultural basin flooding (27)</a:t>
            </a:r>
          </a:p>
        </p:txBody>
      </p:sp>
      <p:sp>
        <p:nvSpPr>
          <p:cNvPr id="190" name="Text 8"/>
          <p:cNvSpPr txBox="1"/>
          <p:nvPr/>
        </p:nvSpPr>
        <p:spPr>
          <a:xfrm>
            <a:off x="4773167" y="2286000"/>
            <a:ext cx="3886202" cy="1355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>
              <a:defRPr sz="11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NE &amp; lower-north basins – 10 rai farmland/km²/yr, fisheries, roads</a:t>
            </a:r>
          </a:p>
        </p:txBody>
      </p:sp>
      <p:sp>
        <p:nvSpPr>
          <p:cNvPr id="191" name="Shape 9"/>
          <p:cNvSpPr/>
          <p:nvPr/>
        </p:nvSpPr>
        <p:spPr>
          <a:xfrm>
            <a:off x="4297679" y="2843783"/>
            <a:ext cx="4434843" cy="850393"/>
          </a:xfrm>
          <a:prstGeom prst="roundRect">
            <a:avLst>
              <a:gd name="adj" fmla="val 8602"/>
            </a:avLst>
          </a:prstGeom>
          <a:solidFill>
            <a:srgbClr val="EAF2F8"/>
          </a:solidFill>
          <a:ln w="12700">
            <a:solidFill>
              <a:srgbClr val="EAF2F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92" name="Shape 10"/>
          <p:cNvSpPr/>
          <p:nvPr/>
        </p:nvSpPr>
        <p:spPr>
          <a:xfrm>
            <a:off x="4407408" y="2953511"/>
            <a:ext cx="292611" cy="292610"/>
          </a:xfrm>
          <a:prstGeom prst="ellipse">
            <a:avLst/>
          </a:prstGeom>
          <a:solidFill>
            <a:srgbClr val="ABD9E9"/>
          </a:solidFill>
          <a:ln w="12700">
            <a:solidFill>
              <a:srgbClr val="ABD9E9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93" name="Text 11"/>
          <p:cNvSpPr txBox="1"/>
          <p:nvPr/>
        </p:nvSpPr>
        <p:spPr>
          <a:xfrm>
            <a:off x="4773167" y="2898648"/>
            <a:ext cx="3886202" cy="1680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>
              <a:defRPr b="1" sz="1300">
                <a:solidFill>
                  <a:srgbClr val="0B3C5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K1 Moderate impact (24)</a:t>
            </a:r>
          </a:p>
        </p:txBody>
      </p:sp>
      <p:sp>
        <p:nvSpPr>
          <p:cNvPr id="194" name="Text 12"/>
          <p:cNvSpPr txBox="1"/>
          <p:nvPr/>
        </p:nvSpPr>
        <p:spPr>
          <a:xfrm>
            <a:off x="4773167" y="3227832"/>
            <a:ext cx="3886202" cy="1355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>
              <a:defRPr sz="11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East, lower south, parts of NE – moderate, frequent but small</a:t>
            </a:r>
          </a:p>
        </p:txBody>
      </p:sp>
      <p:sp>
        <p:nvSpPr>
          <p:cNvPr id="195" name="Shape 13"/>
          <p:cNvSpPr/>
          <p:nvPr/>
        </p:nvSpPr>
        <p:spPr>
          <a:xfrm>
            <a:off x="4297679" y="3785615"/>
            <a:ext cx="4434843" cy="850394"/>
          </a:xfrm>
          <a:prstGeom prst="roundRect">
            <a:avLst>
              <a:gd name="adj" fmla="val 8602"/>
            </a:avLst>
          </a:prstGeom>
          <a:solidFill>
            <a:srgbClr val="EAF2F8"/>
          </a:solidFill>
          <a:ln w="12700">
            <a:solidFill>
              <a:srgbClr val="EAF2F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96" name="Shape 14"/>
          <p:cNvSpPr/>
          <p:nvPr/>
        </p:nvSpPr>
        <p:spPr>
          <a:xfrm>
            <a:off x="4407408" y="3895344"/>
            <a:ext cx="292611" cy="292611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97" name="Text 15"/>
          <p:cNvSpPr txBox="1"/>
          <p:nvPr/>
        </p:nvSpPr>
        <p:spPr>
          <a:xfrm>
            <a:off x="4773167" y="3840479"/>
            <a:ext cx="3886202" cy="1680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>
              <a:defRPr b="1" sz="1300">
                <a:solidFill>
                  <a:srgbClr val="0B3C5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K0 Low reported impact (10)</a:t>
            </a:r>
          </a:p>
        </p:txBody>
      </p:sp>
      <p:sp>
        <p:nvSpPr>
          <p:cNvPr id="198" name="Text 16"/>
          <p:cNvSpPr txBox="1"/>
          <p:nvPr/>
        </p:nvSpPr>
        <p:spPr>
          <a:xfrm>
            <a:off x="4773167" y="4169664"/>
            <a:ext cx="3886202" cy="3006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>
              <a:defRPr sz="11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Bangkok ring &amp; Mekong NE – floods declared rarely; low damage per capita</a:t>
            </a:r>
          </a:p>
        </p:txBody>
      </p:sp>
      <p:sp>
        <p:nvSpPr>
          <p:cNvPr id="199" name="Slide Number Placeholder 0"/>
          <p:cNvSpPr txBox="1"/>
          <p:nvPr>
            <p:ph type="sldNum" sz="quarter" idx="4294967295"/>
          </p:nvPr>
        </p:nvSpPr>
        <p:spPr>
          <a:xfrm>
            <a:off x="8466797" y="4800599"/>
            <a:ext cx="220001" cy="20591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Text 0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 anchor="ctr"/>
          <a:lstStyle/>
          <a:p>
            <a:pPr/>
            <a:r>
              <a:t>Result: HDBSCAN finds a continuum + outliers</a:t>
            </a:r>
          </a:p>
        </p:txBody>
      </p:sp>
      <p:pic>
        <p:nvPicPr>
          <p:cNvPr id="204" name="fig_clusters_pca" descr="fig_clusters_pca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65758" y="1004534"/>
            <a:ext cx="5120644" cy="2288615"/>
          </a:xfrm>
          <a:prstGeom prst="rect">
            <a:avLst/>
          </a:prstGeom>
          <a:ln w="12700">
            <a:miter lim="400000"/>
          </a:ln>
        </p:spPr>
      </p:pic>
      <p:sp>
        <p:nvSpPr>
          <p:cNvPr id="205" name="Text 1"/>
          <p:cNvSpPr txBox="1"/>
          <p:nvPr/>
        </p:nvSpPr>
        <p:spPr>
          <a:xfrm>
            <a:off x="5669279" y="960119"/>
            <a:ext cx="3108962" cy="14916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/>
          <a:p>
            <a:pPr marL="342900" indent="-342900">
              <a:buSzPct val="100000"/>
              <a:buChar char="•"/>
              <a:defRPr b="1" sz="1200">
                <a:latin typeface="+mn-lt"/>
                <a:ea typeface="+mn-ea"/>
                <a:cs typeface="+mn-cs"/>
                <a:sym typeface="Calibri"/>
              </a:defRPr>
            </a:pPr>
            <a:r>
              <a:t>2 density clusters, 3 noise </a:t>
            </a:r>
            <a:r>
              <a:rPr b="0"/>
              <a:t>(min_cluster_size = 3, best silhouette with ≤25% noise)</a:t>
            </a:r>
          </a:p>
          <a:p>
            <a:pPr marL="342900" indent="-342900">
              <a:buSzPct val="100000"/>
              <a:buChar char="•"/>
              <a:defRPr b="1" sz="1200">
                <a:latin typeface="+mn-lt"/>
                <a:ea typeface="+mn-ea"/>
                <a:cs typeface="+mn-cs"/>
                <a:sym typeface="Calibri"/>
              </a:defRPr>
            </a:pPr>
            <a:r>
              <a:t>One dense core of 71 provinces: </a:t>
            </a:r>
            <a:r>
              <a:rPr b="0"/>
              <a:t>impact varies smoothly – no density gaps between 'types'</a:t>
            </a:r>
          </a:p>
          <a:p>
            <a:pPr marL="342900" indent="-342900">
              <a:buSzPct val="100000"/>
              <a:buChar char="•"/>
              <a:defRPr b="1" sz="1200">
                <a:latin typeface="+mn-lt"/>
                <a:ea typeface="+mn-ea"/>
                <a:cs typeface="+mn-cs"/>
                <a:sym typeface="Calibri"/>
              </a:defRPr>
            </a:pPr>
            <a:r>
              <a:t>Noise = </a:t>
            </a:r>
            <a:r>
              <a:rPr b="0"/>
              <a:t>Bangkok, Phra Nakhon Si Ayutthaya, Sing Buri – protected metro / extreme lowland provinces</a:t>
            </a:r>
          </a:p>
        </p:txBody>
      </p:sp>
      <p:sp>
        <p:nvSpPr>
          <p:cNvPr id="206" name="Text 2"/>
          <p:cNvSpPr txBox="1"/>
          <p:nvPr/>
        </p:nvSpPr>
        <p:spPr>
          <a:xfrm>
            <a:off x="457200" y="3520440"/>
            <a:ext cx="5029200" cy="5744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>
              <a:defRPr sz="1300">
                <a:solidFill>
                  <a:schemeClr val="accent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Take-away: K-Means gives a usable typology of a continuous gradient; HDBSCAN tells us the gradient has no natural breaks and flags atypical provinces.</a:t>
            </a:r>
          </a:p>
        </p:txBody>
      </p:sp>
      <p:sp>
        <p:nvSpPr>
          <p:cNvPr id="207" name="Slide Number Placeholder 0"/>
          <p:cNvSpPr txBox="1"/>
          <p:nvPr>
            <p:ph type="sldNum" sz="quarter" idx="4294967295"/>
          </p:nvPr>
        </p:nvSpPr>
        <p:spPr>
          <a:xfrm>
            <a:off x="8466797" y="4800599"/>
            <a:ext cx="220001" cy="20591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Text 0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 anchor="ctr"/>
          <a:lstStyle/>
          <a:p>
            <a:pPr/>
            <a:r>
              <a:t>Result: impact is spatially clustered</a:t>
            </a:r>
          </a:p>
        </p:txBody>
      </p:sp>
      <p:pic>
        <p:nvPicPr>
          <p:cNvPr id="212" name="fig_lisa" descr="fig_lisa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74320" y="923974"/>
            <a:ext cx="5120641" cy="3226971"/>
          </a:xfrm>
          <a:prstGeom prst="rect">
            <a:avLst/>
          </a:prstGeom>
          <a:ln w="12700">
            <a:miter lim="400000"/>
          </a:ln>
        </p:spPr>
      </p:pic>
      <p:sp>
        <p:nvSpPr>
          <p:cNvPr id="213" name="Text 1"/>
          <p:cNvSpPr txBox="1"/>
          <p:nvPr/>
        </p:nvSpPr>
        <p:spPr>
          <a:xfrm>
            <a:off x="5577840" y="914400"/>
            <a:ext cx="3200402" cy="508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400">
                <a:solidFill>
                  <a:schemeClr val="accent2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I = 0.44</a:t>
            </a:r>
          </a:p>
        </p:txBody>
      </p:sp>
      <p:sp>
        <p:nvSpPr>
          <p:cNvPr id="214" name="Text 2"/>
          <p:cNvSpPr txBox="1"/>
          <p:nvPr/>
        </p:nvSpPr>
        <p:spPr>
          <a:xfrm>
            <a:off x="5577840" y="1508760"/>
            <a:ext cx="320040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chemeClr val="accent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Global Moran’s I of severity index (z = 5.84, p &lt; 0.001)</a:t>
            </a:r>
          </a:p>
        </p:txBody>
      </p:sp>
      <p:sp>
        <p:nvSpPr>
          <p:cNvPr id="215" name="Text 3"/>
          <p:cNvSpPr txBox="1"/>
          <p:nvPr/>
        </p:nvSpPr>
        <p:spPr>
          <a:xfrm>
            <a:off x="457200" y="4206240"/>
            <a:ext cx="8229600" cy="3006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/>
          <a:p>
            <a:pPr>
              <a:defRPr b="1" sz="1100">
                <a:latin typeface="+mn-lt"/>
                <a:ea typeface="+mn-ea"/>
                <a:cs typeface="+mn-cs"/>
                <a:sym typeface="Calibri"/>
              </a:defRPr>
            </a:pPr>
            <a:r>
              <a:t>9 hotspots: </a:t>
            </a:r>
            <a:r>
              <a:rPr b="0"/>
              <a:t>Lampang, Uttaradit, Phrae, Phayao, Chiang Rai, Kamphaeng Phet, Tak, Sukhothai, Phetchabun</a:t>
            </a:r>
            <a:r>
              <a:t>  ·  12 coldspots: </a:t>
            </a:r>
            <a:r>
              <a:rPr b="0"/>
              <a:t>Bangkok metro, Mekong NE, west coast</a:t>
            </a:r>
          </a:p>
        </p:txBody>
      </p:sp>
      <p:sp>
        <p:nvSpPr>
          <p:cNvPr id="216" name="Slide Number Placeholder 0"/>
          <p:cNvSpPr txBox="1"/>
          <p:nvPr>
            <p:ph type="sldNum" sz="quarter" idx="4294967295"/>
          </p:nvPr>
        </p:nvSpPr>
        <p:spPr>
          <a:xfrm>
            <a:off x="8466797" y="4800599"/>
            <a:ext cx="220001" cy="20591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Text 0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 anchor="ctr"/>
          <a:lstStyle/>
          <a:p>
            <a:pPr/>
            <a:r>
              <a:t>Demo: Python notebook pipeline</a:t>
            </a:r>
          </a:p>
        </p:txBody>
      </p:sp>
      <p:sp>
        <p:nvSpPr>
          <p:cNvPr id="221" name="Shape 1"/>
          <p:cNvSpPr/>
          <p:nvPr/>
        </p:nvSpPr>
        <p:spPr>
          <a:xfrm>
            <a:off x="457200" y="1005838"/>
            <a:ext cx="5120641" cy="3108962"/>
          </a:xfrm>
          <a:prstGeom prst="roundRect">
            <a:avLst>
              <a:gd name="adj" fmla="val 2353"/>
            </a:avLst>
          </a:prstGeom>
          <a:solidFill>
            <a:srgbClr val="1B2631"/>
          </a:solidFill>
          <a:ln w="12700">
            <a:solidFill>
              <a:srgbClr val="1B2631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22" name="Text 2"/>
          <p:cNvSpPr txBox="1"/>
          <p:nvPr/>
        </p:nvSpPr>
        <p:spPr>
          <a:xfrm>
            <a:off x="594358" y="1097278"/>
            <a:ext cx="4892044" cy="15252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/>
          <a:p>
            <a:pPr>
              <a:defRPr sz="1100">
                <a:solidFill>
                  <a:srgbClr val="D5F5E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py = build_dataset.main()   # 462 province-years</a:t>
            </a:r>
          </a:p>
          <a:p>
            <a:pPr>
              <a:defRPr sz="1100">
                <a:solidFill>
                  <a:srgbClr val="D5F5E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Z = StandardScaler().fit_transform(np.log1p(F))</a:t>
            </a:r>
          </a:p>
          <a:p>
            <a:pPr>
              <a:defRPr sz="1100">
                <a:solidFill>
                  <a:srgbClr val="D5F5E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P = PCA(n_components=5).fit_transform(Z)</a:t>
            </a:r>
          </a:p>
          <a:p>
            <a:pPr>
              <a:defRPr sz="1100">
                <a:solidFill>
                  <a:srgbClr val="D5F5E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</a:t>
            </a:r>
          </a:p>
          <a:p>
            <a:pPr>
              <a:defRPr sz="1100">
                <a:solidFill>
                  <a:srgbClr val="D5F5E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km = KMeans(4, n_init=50).fit(P)</a:t>
            </a:r>
          </a:p>
          <a:p>
            <a:pPr>
              <a:defRPr sz="1100">
                <a:solidFill>
                  <a:srgbClr val="D5F5E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hd = HDBSCAN(min_cluster_size=3, min_samples=2).fit(P)</a:t>
            </a:r>
          </a:p>
          <a:p>
            <a:pPr>
              <a:defRPr sz="1100">
                <a:solidFill>
                  <a:srgbClr val="D5F5E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</a:t>
            </a:r>
          </a:p>
          <a:p>
            <a:pPr>
              <a:defRPr sz="1100">
                <a:solidFill>
                  <a:srgbClr val="D5F5E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w  = Queen.from_dataframe(provinces); w.transform = 'r'</a:t>
            </a:r>
          </a:p>
          <a:p>
            <a:pPr>
              <a:defRPr sz="1100">
                <a:solidFill>
                  <a:srgbClr val="D5F5E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mi   = Moran(severity, w, permutations=9999)</a:t>
            </a:r>
          </a:p>
          <a:p>
            <a:pPr>
              <a:defRPr sz="1100">
                <a:solidFill>
                  <a:srgbClr val="D5F5E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lisa = Moran_Local(severity, w, permutations=9999)</a:t>
            </a:r>
          </a:p>
        </p:txBody>
      </p:sp>
      <p:sp>
        <p:nvSpPr>
          <p:cNvPr id="223" name="Text 3"/>
          <p:cNvSpPr txBox="1"/>
          <p:nvPr/>
        </p:nvSpPr>
        <p:spPr>
          <a:xfrm>
            <a:off x="5760720" y="1005838"/>
            <a:ext cx="3017522" cy="18726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/>
          <a:p>
            <a:pPr marL="342900" indent="-342900">
              <a:buSzPct val="100000"/>
              <a:buChar char="•"/>
              <a:defRPr b="1" sz="1200">
                <a:latin typeface="+mn-lt"/>
                <a:ea typeface="+mn-ea"/>
                <a:cs typeface="+mn-cs"/>
                <a:sym typeface="Calibri"/>
              </a:defRPr>
            </a:pPr>
            <a:r>
              <a:t>src/build_dataset.py </a:t>
            </a:r>
            <a:r>
              <a:rPr b="0"/>
              <a:t>– parse, clean, harmonise, join</a:t>
            </a:r>
          </a:p>
          <a:p>
            <a:pPr marL="342900" indent="-342900">
              <a:buSzPct val="100000"/>
              <a:buChar char="•"/>
              <a:defRPr b="1" sz="1200">
                <a:latin typeface="+mn-lt"/>
                <a:ea typeface="+mn-ea"/>
                <a:cs typeface="+mn-cs"/>
                <a:sym typeface="Calibri"/>
              </a:defRPr>
            </a:pPr>
            <a:r>
              <a:t>flood_analysis.ipynb </a:t>
            </a:r>
            <a:r>
              <a:rPr b="0"/>
              <a:t>– EDA → preprocessing → clustering → Moran/LISA → evaluation</a:t>
            </a:r>
          </a:p>
          <a:p>
            <a:pPr marL="342900" indent="-342900">
              <a:buSzPct val="100000"/>
              <a:buChar char="•"/>
              <a:defRPr b="1" sz="1200">
                <a:latin typeface="+mn-lt"/>
                <a:ea typeface="+mn-ea"/>
                <a:cs typeface="+mn-cs"/>
                <a:sym typeface="Calibri"/>
              </a:defRPr>
            </a:pPr>
            <a:r>
              <a:t>Libraries: </a:t>
            </a:r>
            <a:r>
              <a:rPr b="0"/>
              <a:t>pandas, geopandas, scikit-learn 1.9 (KMeans, HDBSCAN, PCA), PySAL libpysal + esda</a:t>
            </a:r>
          </a:p>
          <a:p>
            <a:pPr marL="342900" indent="-342900">
              <a:buSzPct val="100000"/>
              <a:buChar char="•"/>
              <a:defRPr b="1" sz="1200">
                <a:latin typeface="+mn-lt"/>
                <a:ea typeface="+mn-ea"/>
                <a:cs typeface="+mn-cs"/>
                <a:sym typeface="Calibri"/>
              </a:defRPr>
            </a:pPr>
            <a:r>
              <a:t>Reproducible: </a:t>
            </a:r>
            <a:r>
              <a:rPr b="0"/>
              <a:t>raw files + one command; all figures and numbers regenerate</a:t>
            </a:r>
          </a:p>
        </p:txBody>
      </p:sp>
      <p:sp>
        <p:nvSpPr>
          <p:cNvPr id="224" name="Text 4"/>
          <p:cNvSpPr txBox="1"/>
          <p:nvPr/>
        </p:nvSpPr>
        <p:spPr>
          <a:xfrm>
            <a:off x="457200" y="4251959"/>
            <a:ext cx="8229600" cy="1581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>
              <a:defRPr sz="1200">
                <a:solidFill>
                  <a:schemeClr val="accent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Live demo: run the notebook top-to-bottom (~1 min) and show the cluster + LISA maps.</a:t>
            </a:r>
          </a:p>
        </p:txBody>
      </p:sp>
      <p:sp>
        <p:nvSpPr>
          <p:cNvPr id="225" name="Slide Number Placeholder 0"/>
          <p:cNvSpPr txBox="1"/>
          <p:nvPr>
            <p:ph type="sldNum" sz="quarter" idx="4294967295"/>
          </p:nvPr>
        </p:nvSpPr>
        <p:spPr>
          <a:xfrm>
            <a:off x="8466797" y="4800599"/>
            <a:ext cx="220001" cy="20591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Text 0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 anchor="ctr"/>
          <a:lstStyle/>
          <a:p>
            <a:pPr/>
            <a:r>
              <a:t>Evaluation 1: internal cluster quality</a:t>
            </a:r>
          </a:p>
        </p:txBody>
      </p:sp>
      <p:graphicFrame>
        <p:nvGraphicFramePr>
          <p:cNvPr id="230" name="k_table"/>
          <p:cNvGraphicFramePr/>
          <p:nvPr/>
        </p:nvGraphicFramePr>
        <p:xfrm>
          <a:off x="457200" y="1005838"/>
          <a:ext cx="4754882" cy="2194563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457200"/>
                <a:gridCol w="914400"/>
                <a:gridCol w="1051560"/>
                <a:gridCol w="10515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k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Silhouette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Davies–Bouldin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Smallest cluster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Seed stability (ARI)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solidFill>
                      <a:srgbClr val="0B3C5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2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0.307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1.229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24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0.981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3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0.217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1.433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14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0.886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1B2631"/>
                          </a:solidFill>
                        </a:rPr>
                        <a:t>4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1B2631"/>
                          </a:solidFill>
                        </a:rPr>
                        <a:t>0.223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1B2631"/>
                          </a:solidFill>
                        </a:rPr>
                        <a:t>1.323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1B2631"/>
                          </a:solidFill>
                        </a:rPr>
                        <a:t>10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1B2631"/>
                          </a:solidFill>
                        </a:rPr>
                        <a:t>0.800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solidFill>
                      <a:srgbClr val="D6EA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5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0.200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1.325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4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0.633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6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0.226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1.179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3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0.661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7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0.202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1.224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3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0.692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8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0.225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1.186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3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0.670</a:t>
                      </a:r>
                    </a:p>
                  </a:txBody>
                  <a:tcPr marL="45720" marR="45720" marT="45720" marB="45720" anchor="t" anchorCtr="0" horzOverflow="overflow">
                    <a:lnL>
                      <a:solidFill>
                        <a:srgbClr val="D5DBDB"/>
                      </a:solidFill>
                    </a:lnL>
                    <a:lnR>
                      <a:solidFill>
                        <a:srgbClr val="D5DBDB"/>
                      </a:solidFill>
                    </a:lnR>
                    <a:lnT>
                      <a:solidFill>
                        <a:srgbClr val="D5DBDB"/>
                      </a:solidFill>
                    </a:lnT>
                    <a:lnB>
                      <a:solidFill>
                        <a:srgbClr val="D5DBD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31" name="Text 1"/>
          <p:cNvSpPr txBox="1"/>
          <p:nvPr/>
        </p:nvSpPr>
        <p:spPr>
          <a:xfrm>
            <a:off x="457200" y="3337559"/>
            <a:ext cx="4754880" cy="3006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>
              <a:defRPr sz="1100">
                <a:solidFill>
                  <a:schemeClr val="accent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Rule: best silhouette among k ≥ 3 with smallest cluster ≥ 3 and seed-ARI ≥ 0.75 → k = 4 (k = 2 is only 'more vs less flooded').</a:t>
            </a:r>
          </a:p>
        </p:txBody>
      </p:sp>
      <p:sp>
        <p:nvSpPr>
          <p:cNvPr id="232" name="Shape 2"/>
          <p:cNvSpPr/>
          <p:nvPr/>
        </p:nvSpPr>
        <p:spPr>
          <a:xfrm>
            <a:off x="5486400" y="1005838"/>
            <a:ext cx="3291841" cy="2971802"/>
          </a:xfrm>
          <a:prstGeom prst="roundRect">
            <a:avLst>
              <a:gd name="adj" fmla="val 2462"/>
            </a:avLst>
          </a:prstGeom>
          <a:solidFill>
            <a:srgbClr val="EAF2F8"/>
          </a:solidFill>
          <a:ln w="12700">
            <a:solidFill>
              <a:srgbClr val="EAF2F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33" name="Text 3"/>
          <p:cNvSpPr txBox="1"/>
          <p:nvPr/>
        </p:nvSpPr>
        <p:spPr>
          <a:xfrm>
            <a:off x="5669279" y="1051560"/>
            <a:ext cx="2926083" cy="1906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>
              <a:defRPr b="1" sz="1400">
                <a:solidFill>
                  <a:srgbClr val="0B3C5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Final models</a:t>
            </a:r>
          </a:p>
        </p:txBody>
      </p:sp>
      <p:graphicFrame>
        <p:nvGraphicFramePr>
          <p:cNvPr id="234" name="final_table"/>
          <p:cNvGraphicFramePr/>
          <p:nvPr/>
        </p:nvGraphicFramePr>
        <p:xfrm>
          <a:off x="5577840" y="1371600"/>
          <a:ext cx="3108961" cy="164592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37160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indent="457200"/>
                    </a:p>
                  </a:txBody>
                  <a:tcPr marL="45720" marR="45720" marT="45720" marB="45720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1B2631"/>
                          </a:solidFill>
                        </a:rPr>
                        <a:t>K-Means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1B2631"/>
                          </a:solidFill>
                        </a:rPr>
                        <a:t>HDBSCAN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1B2631"/>
                          </a:solidFill>
                        </a:rPr>
                        <a:t>clusters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4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2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1B2631"/>
                          </a:solidFill>
                        </a:rPr>
                        <a:t>noise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0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3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1B2631"/>
                          </a:solidFill>
                        </a:rPr>
                        <a:t>silhouette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0.223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0.473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1B2631"/>
                          </a:solidFill>
                        </a:rPr>
                        <a:t>Davies–B. (lower)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1.323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0.574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1B2631"/>
                          </a:solidFill>
                        </a:rPr>
                        <a:t>Calinski–H.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28.18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100">
                          <a:solidFill>
                            <a:srgbClr val="1B2631"/>
                          </a:solidFill>
                        </a:rPr>
                        <a:t>17.86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35" name="Text 4"/>
          <p:cNvSpPr txBox="1"/>
          <p:nvPr/>
        </p:nvSpPr>
        <p:spPr>
          <a:xfrm>
            <a:off x="5669279" y="3246120"/>
            <a:ext cx="2926083" cy="3006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>
              <a:defRPr i="1" sz="11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HDBSCAN’s higher silhouette comes from one 71-province cluster – tidy but uninformative.</a:t>
            </a:r>
          </a:p>
        </p:txBody>
      </p:sp>
      <p:sp>
        <p:nvSpPr>
          <p:cNvPr id="236" name="Text 5"/>
          <p:cNvSpPr txBox="1"/>
          <p:nvPr/>
        </p:nvSpPr>
        <p:spPr>
          <a:xfrm>
            <a:off x="457200" y="4069079"/>
            <a:ext cx="8229600" cy="1680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>
              <a:defRPr sz="1300">
                <a:solidFill>
                  <a:schemeClr val="accent1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Silhouette ≈ 0.2 = weak structure: provinces form a gradient, not well-separated groups.</a:t>
            </a:r>
          </a:p>
        </p:txBody>
      </p:sp>
      <p:sp>
        <p:nvSpPr>
          <p:cNvPr id="237" name="Slide Number Placeholder 0"/>
          <p:cNvSpPr txBox="1"/>
          <p:nvPr>
            <p:ph type="sldNum" sz="quarter" idx="4294967295"/>
          </p:nvPr>
        </p:nvSpPr>
        <p:spPr>
          <a:xfrm>
            <a:off x="8466797" y="4800599"/>
            <a:ext cx="220001" cy="20591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Text 0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 anchor="ctr"/>
          <a:lstStyle/>
          <a:p>
            <a:pPr/>
            <a:r>
              <a:t>Evaluation 2: agreement with recurrence map</a:t>
            </a:r>
          </a:p>
        </p:txBody>
      </p:sp>
      <p:pic>
        <p:nvPicPr>
          <p:cNvPr id="242" name="fig_mismatch" descr="fig_mismatch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74320" y="910517"/>
            <a:ext cx="4754880" cy="2430928"/>
          </a:xfrm>
          <a:prstGeom prst="rect">
            <a:avLst/>
          </a:prstGeom>
          <a:ln w="12700">
            <a:miter lim="400000"/>
          </a:ln>
        </p:spPr>
      </p:pic>
      <p:graphicFrame>
        <p:nvGraphicFramePr>
          <p:cNvPr id="243" name="ext_table"/>
          <p:cNvGraphicFramePr/>
          <p:nvPr/>
        </p:nvGraphicFramePr>
        <p:xfrm>
          <a:off x="5120640" y="914400"/>
          <a:ext cx="3657602" cy="192024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828800"/>
                <a:gridCol w="320040"/>
                <a:gridCol w="411480"/>
                <a:gridCol w="594360"/>
                <a:gridCol w="502919"/>
              </a:tblGrid>
              <a:tr h="274320"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900">
                          <a:solidFill>
                            <a:srgbClr val="FFFFFF"/>
                          </a:solidFill>
                        </a:rPr>
                        <a:t>Flagged provinces vs reference top-25%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5DBDB"/>
                      </a:solidFill>
                    </a:lnL>
                    <a:lnR w="6350">
                      <a:solidFill>
                        <a:srgbClr val="D5DBDB"/>
                      </a:solidFill>
                    </a:lnR>
                    <a:lnT w="6350">
                      <a:solidFill>
                        <a:srgbClr val="D5DBDB"/>
                      </a:solidFill>
                    </a:lnT>
                    <a:lnB w="6350">
                      <a:solidFill>
                        <a:srgbClr val="D5DBDB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900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5DBDB"/>
                      </a:solidFill>
                    </a:lnL>
                    <a:lnR w="6350">
                      <a:solidFill>
                        <a:srgbClr val="D5DBDB"/>
                      </a:solidFill>
                    </a:lnR>
                    <a:lnT w="6350">
                      <a:solidFill>
                        <a:srgbClr val="D5DBDB"/>
                      </a:solidFill>
                    </a:lnT>
                    <a:lnB w="6350">
                      <a:solidFill>
                        <a:srgbClr val="D5DBDB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900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5DBDB"/>
                      </a:solidFill>
                    </a:lnL>
                    <a:lnR w="6350">
                      <a:solidFill>
                        <a:srgbClr val="D5DBDB"/>
                      </a:solidFill>
                    </a:lnR>
                    <a:lnT w="6350">
                      <a:solidFill>
                        <a:srgbClr val="D5DBDB"/>
                      </a:solidFill>
                    </a:lnT>
                    <a:lnB w="6350">
                      <a:solidFill>
                        <a:srgbClr val="D5DBDB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900">
                          <a:solidFill>
                            <a:srgbClr val="FFFFFF"/>
                          </a:solidFill>
                        </a:rPr>
                        <a:t>random F1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5DBDB"/>
                      </a:solidFill>
                    </a:lnL>
                    <a:lnR w="6350">
                      <a:solidFill>
                        <a:srgbClr val="D5DBDB"/>
                      </a:solidFill>
                    </a:lnR>
                    <a:lnT w="6350">
                      <a:solidFill>
                        <a:srgbClr val="D5DBDB"/>
                      </a:solidFill>
                    </a:lnT>
                    <a:lnB w="6350">
                      <a:solidFill>
                        <a:srgbClr val="D5DBDB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900">
                          <a:solidFill>
                            <a:srgbClr val="FFFFFF"/>
                          </a:solidFill>
                        </a:rPr>
                        <a:t>p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5DBDB"/>
                      </a:solidFill>
                    </a:lnL>
                    <a:lnR w="6350">
                      <a:solidFill>
                        <a:srgbClr val="D5DBDB"/>
                      </a:solidFill>
                    </a:lnR>
                    <a:lnT w="6350">
                      <a:solidFill>
                        <a:srgbClr val="D5DBDB"/>
                      </a:solidFill>
                    </a:lnT>
                    <a:lnB w="6350">
                      <a:solidFill>
                        <a:srgbClr val="D5DBDB"/>
                      </a:solidFill>
                    </a:lnB>
                    <a:solidFill>
                      <a:srgbClr val="0B3C5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900">
                          <a:solidFill>
                            <a:srgbClr val="1B2631"/>
                          </a:solidFill>
                        </a:rPr>
                        <a:t>K3 Agricultural basin flooding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5DBDB"/>
                      </a:solidFill>
                    </a:lnL>
                    <a:lnR w="6350">
                      <a:solidFill>
                        <a:srgbClr val="D5DBDB"/>
                      </a:solidFill>
                    </a:lnR>
                    <a:lnT w="6350">
                      <a:solidFill>
                        <a:srgbClr val="D5DBDB"/>
                      </a:solidFill>
                    </a:lnT>
                    <a:lnB w="6350">
                      <a:solidFill>
                        <a:srgbClr val="D5DBDB"/>
                      </a:solidFill>
                    </a:lnB>
                    <a:solidFill>
                      <a:srgbClr val="FADBD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900">
                          <a:solidFill>
                            <a:srgbClr val="1B2631"/>
                          </a:solidFill>
                        </a:rPr>
                        <a:t>27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5DBDB"/>
                      </a:solidFill>
                    </a:lnL>
                    <a:lnR w="6350">
                      <a:solidFill>
                        <a:srgbClr val="D5DBDB"/>
                      </a:solidFill>
                    </a:lnR>
                    <a:lnT w="6350">
                      <a:solidFill>
                        <a:srgbClr val="D5DBDB"/>
                      </a:solidFill>
                    </a:lnT>
                    <a:lnB w="6350">
                      <a:solidFill>
                        <a:srgbClr val="D5DBDB"/>
                      </a:solidFill>
                    </a:lnB>
                    <a:solidFill>
                      <a:srgbClr val="FADBD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900">
                          <a:solidFill>
                            <a:srgbClr val="1B2631"/>
                          </a:solidFill>
                        </a:rPr>
                        <a:t>0.51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5DBDB"/>
                      </a:solidFill>
                    </a:lnL>
                    <a:lnR w="6350">
                      <a:solidFill>
                        <a:srgbClr val="D5DBDB"/>
                      </a:solidFill>
                    </a:lnR>
                    <a:lnT w="6350">
                      <a:solidFill>
                        <a:srgbClr val="D5DBDB"/>
                      </a:solidFill>
                    </a:lnT>
                    <a:lnB w="6350">
                      <a:solidFill>
                        <a:srgbClr val="D5DBDB"/>
                      </a:solidFill>
                    </a:lnB>
                    <a:solidFill>
                      <a:srgbClr val="FADBD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900">
                          <a:solidFill>
                            <a:srgbClr val="1B2631"/>
                          </a:solidFill>
                        </a:rPr>
                        <a:t>0.30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5DBDB"/>
                      </a:solidFill>
                    </a:lnL>
                    <a:lnR w="6350">
                      <a:solidFill>
                        <a:srgbClr val="D5DBDB"/>
                      </a:solidFill>
                    </a:lnR>
                    <a:lnT w="6350">
                      <a:solidFill>
                        <a:srgbClr val="D5DBDB"/>
                      </a:solidFill>
                    </a:lnT>
                    <a:lnB w="6350">
                      <a:solidFill>
                        <a:srgbClr val="D5DBDB"/>
                      </a:solidFill>
                    </a:lnB>
                    <a:solidFill>
                      <a:srgbClr val="FADBD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900">
                          <a:solidFill>
                            <a:srgbClr val="1B2631"/>
                          </a:solidFill>
                        </a:rPr>
                        <a:t>0.007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5DBDB"/>
                      </a:solidFill>
                    </a:lnL>
                    <a:lnR w="6350">
                      <a:solidFill>
                        <a:srgbClr val="D5DBDB"/>
                      </a:solidFill>
                    </a:lnR>
                    <a:lnT w="6350">
                      <a:solidFill>
                        <a:srgbClr val="D5DBDB"/>
                      </a:solidFill>
                    </a:lnT>
                    <a:lnB w="6350">
                      <a:solidFill>
                        <a:srgbClr val="D5DBDB"/>
                      </a:solidFill>
                    </a:lnB>
                    <a:solidFill>
                      <a:srgbClr val="FADBD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900">
                          <a:solidFill>
                            <a:srgbClr val="1B2631"/>
                          </a:solidFill>
                        </a:rPr>
                        <a:t>K2 Flash-flood / human impact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5DBDB"/>
                      </a:solidFill>
                    </a:lnL>
                    <a:lnR w="6350">
                      <a:solidFill>
                        <a:srgbClr val="D5DBDB"/>
                      </a:solidFill>
                    </a:lnR>
                    <a:lnT w="6350">
                      <a:solidFill>
                        <a:srgbClr val="D5DBDB"/>
                      </a:solidFill>
                    </a:lnT>
                    <a:lnB w="6350"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900">
                          <a:solidFill>
                            <a:srgbClr val="1B2631"/>
                          </a:solidFill>
                        </a:rPr>
                        <a:t>16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5DBDB"/>
                      </a:solidFill>
                    </a:lnL>
                    <a:lnR w="6350">
                      <a:solidFill>
                        <a:srgbClr val="D5DBDB"/>
                      </a:solidFill>
                    </a:lnR>
                    <a:lnT w="6350">
                      <a:solidFill>
                        <a:srgbClr val="D5DBDB"/>
                      </a:solidFill>
                    </a:lnT>
                    <a:lnB w="6350"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900">
                          <a:solidFill>
                            <a:srgbClr val="1B2631"/>
                          </a:solidFill>
                        </a:rPr>
                        <a:t>0.06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5DBDB"/>
                      </a:solidFill>
                    </a:lnL>
                    <a:lnR w="6350">
                      <a:solidFill>
                        <a:srgbClr val="D5DBDB"/>
                      </a:solidFill>
                    </a:lnR>
                    <a:lnT w="6350">
                      <a:solidFill>
                        <a:srgbClr val="D5DBDB"/>
                      </a:solidFill>
                    </a:lnT>
                    <a:lnB w="6350"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900">
                          <a:solidFill>
                            <a:srgbClr val="1B2631"/>
                          </a:solidFill>
                        </a:rPr>
                        <a:t>0.23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5DBDB"/>
                      </a:solidFill>
                    </a:lnL>
                    <a:lnR w="6350">
                      <a:solidFill>
                        <a:srgbClr val="D5DBDB"/>
                      </a:solidFill>
                    </a:lnR>
                    <a:lnT w="6350">
                      <a:solidFill>
                        <a:srgbClr val="D5DBDB"/>
                      </a:solidFill>
                    </a:lnT>
                    <a:lnB w="6350"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900">
                          <a:solidFill>
                            <a:srgbClr val="1B2631"/>
                          </a:solidFill>
                        </a:rPr>
                        <a:t>1.00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5DBDB"/>
                      </a:solidFill>
                    </a:lnL>
                    <a:lnR w="6350">
                      <a:solidFill>
                        <a:srgbClr val="D5DBDB"/>
                      </a:solidFill>
                    </a:lnR>
                    <a:lnT w="6350">
                      <a:solidFill>
                        <a:srgbClr val="D5DBDB"/>
                      </a:solidFill>
                    </a:lnT>
                    <a:lnB w="6350">
                      <a:solidFill>
                        <a:srgbClr val="D5DBDB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900">
                          <a:solidFill>
                            <a:srgbClr val="1B2631"/>
                          </a:solidFill>
                        </a:rPr>
                        <a:t>both high-impact clusters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5DBDB"/>
                      </a:solidFill>
                    </a:lnL>
                    <a:lnR w="6350">
                      <a:solidFill>
                        <a:srgbClr val="D5DBDB"/>
                      </a:solidFill>
                    </a:lnR>
                    <a:lnT w="6350">
                      <a:solidFill>
                        <a:srgbClr val="D5DBDB"/>
                      </a:solidFill>
                    </a:lnT>
                    <a:lnB w="6350"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900">
                          <a:solidFill>
                            <a:srgbClr val="1B2631"/>
                          </a:solidFill>
                        </a:rPr>
                        <a:t>43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5DBDB"/>
                      </a:solidFill>
                    </a:lnL>
                    <a:lnR w="6350">
                      <a:solidFill>
                        <a:srgbClr val="D5DBDB"/>
                      </a:solidFill>
                    </a:lnR>
                    <a:lnT w="6350">
                      <a:solidFill>
                        <a:srgbClr val="D5DBDB"/>
                      </a:solidFill>
                    </a:lnT>
                    <a:lnB w="6350"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900">
                          <a:solidFill>
                            <a:srgbClr val="1B2631"/>
                          </a:solidFill>
                        </a:rPr>
                        <a:t>0.41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5DBDB"/>
                      </a:solidFill>
                    </a:lnL>
                    <a:lnR w="6350">
                      <a:solidFill>
                        <a:srgbClr val="D5DBDB"/>
                      </a:solidFill>
                    </a:lnR>
                    <a:lnT w="6350">
                      <a:solidFill>
                        <a:srgbClr val="D5DBDB"/>
                      </a:solidFill>
                    </a:lnT>
                    <a:lnB w="6350"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900">
                          <a:solidFill>
                            <a:srgbClr val="1B2631"/>
                          </a:solidFill>
                        </a:rPr>
                        <a:t>0.35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5DBDB"/>
                      </a:solidFill>
                    </a:lnL>
                    <a:lnR w="6350">
                      <a:solidFill>
                        <a:srgbClr val="D5DBDB"/>
                      </a:solidFill>
                    </a:lnR>
                    <a:lnT w="6350">
                      <a:solidFill>
                        <a:srgbClr val="D5DBDB"/>
                      </a:solidFill>
                    </a:lnT>
                    <a:lnB w="6350"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900">
                          <a:solidFill>
                            <a:srgbClr val="1B2631"/>
                          </a:solidFill>
                        </a:rPr>
                        <a:t>0.25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5DBDB"/>
                      </a:solidFill>
                    </a:lnL>
                    <a:lnR w="6350">
                      <a:solidFill>
                        <a:srgbClr val="D5DBDB"/>
                      </a:solidFill>
                    </a:lnR>
                    <a:lnT w="6350">
                      <a:solidFill>
                        <a:srgbClr val="D5DBDB"/>
                      </a:solidFill>
                    </a:lnT>
                    <a:lnB w="6350">
                      <a:solidFill>
                        <a:srgbClr val="D5DBDB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900">
                          <a:solidFill>
                            <a:srgbClr val="1B2631"/>
                          </a:solidFill>
                        </a:rPr>
                        <a:t>HDBSCAN top cluster (H1)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5DBDB"/>
                      </a:solidFill>
                    </a:lnL>
                    <a:lnR w="6350">
                      <a:solidFill>
                        <a:srgbClr val="D5DBDB"/>
                      </a:solidFill>
                    </a:lnR>
                    <a:lnT w="6350">
                      <a:solidFill>
                        <a:srgbClr val="D5DBDB"/>
                      </a:solidFill>
                    </a:lnT>
                    <a:lnB w="6350"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900">
                          <a:solidFill>
                            <a:srgbClr val="1B2631"/>
                          </a:solidFill>
                        </a:rPr>
                        <a:t>71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5DBDB"/>
                      </a:solidFill>
                    </a:lnL>
                    <a:lnR w="6350">
                      <a:solidFill>
                        <a:srgbClr val="D5DBDB"/>
                      </a:solidFill>
                    </a:lnR>
                    <a:lnT w="6350">
                      <a:solidFill>
                        <a:srgbClr val="D5DBDB"/>
                      </a:solidFill>
                    </a:lnT>
                    <a:lnB w="6350"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900">
                          <a:solidFill>
                            <a:srgbClr val="1B2631"/>
                          </a:solidFill>
                        </a:rPr>
                        <a:t>0.37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5DBDB"/>
                      </a:solidFill>
                    </a:lnL>
                    <a:lnR w="6350">
                      <a:solidFill>
                        <a:srgbClr val="D5DBDB"/>
                      </a:solidFill>
                    </a:lnR>
                    <a:lnT w="6350">
                      <a:solidFill>
                        <a:srgbClr val="D5DBDB"/>
                      </a:solidFill>
                    </a:lnT>
                    <a:lnB w="6350"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900">
                          <a:solidFill>
                            <a:srgbClr val="1B2631"/>
                          </a:solidFill>
                        </a:rPr>
                        <a:t>0.41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5DBDB"/>
                      </a:solidFill>
                    </a:lnL>
                    <a:lnR w="6350">
                      <a:solidFill>
                        <a:srgbClr val="D5DBDB"/>
                      </a:solidFill>
                    </a:lnR>
                    <a:lnT w="6350">
                      <a:solidFill>
                        <a:srgbClr val="D5DBDB"/>
                      </a:solidFill>
                    </a:lnT>
                    <a:lnB w="6350"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900">
                          <a:solidFill>
                            <a:srgbClr val="1B2631"/>
                          </a:solidFill>
                        </a:rPr>
                        <a:t>0.97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5DBDB"/>
                      </a:solidFill>
                    </a:lnL>
                    <a:lnR w="6350">
                      <a:solidFill>
                        <a:srgbClr val="D5DBDB"/>
                      </a:solidFill>
                    </a:lnR>
                    <a:lnT w="6350">
                      <a:solidFill>
                        <a:srgbClr val="D5DBDB"/>
                      </a:solidFill>
                    </a:lnT>
                    <a:lnB w="6350">
                      <a:solidFill>
                        <a:srgbClr val="D5DBDB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900">
                          <a:solidFill>
                            <a:srgbClr val="1B2631"/>
                          </a:solidFill>
                        </a:rPr>
                        <a:t>LISA HH hotspots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5DBDB"/>
                      </a:solidFill>
                    </a:lnL>
                    <a:lnR w="6350">
                      <a:solidFill>
                        <a:srgbClr val="D5DBDB"/>
                      </a:solidFill>
                    </a:lnR>
                    <a:lnT w="6350">
                      <a:solidFill>
                        <a:srgbClr val="D5DBDB"/>
                      </a:solidFill>
                    </a:lnT>
                    <a:lnB w="6350"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900">
                          <a:solidFill>
                            <a:srgbClr val="1B2631"/>
                          </a:solidFill>
                        </a:rPr>
                        <a:t>9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5DBDB"/>
                      </a:solidFill>
                    </a:lnL>
                    <a:lnR w="6350">
                      <a:solidFill>
                        <a:srgbClr val="D5DBDB"/>
                      </a:solidFill>
                    </a:lnR>
                    <a:lnT w="6350">
                      <a:solidFill>
                        <a:srgbClr val="D5DBDB"/>
                      </a:solidFill>
                    </a:lnT>
                    <a:lnB w="6350"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900">
                          <a:solidFill>
                            <a:srgbClr val="1B2631"/>
                          </a:solidFill>
                        </a:rPr>
                        <a:t>0.07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5DBDB"/>
                      </a:solidFill>
                    </a:lnL>
                    <a:lnR w="6350">
                      <a:solidFill>
                        <a:srgbClr val="D5DBDB"/>
                      </a:solidFill>
                    </a:lnR>
                    <a:lnT w="6350">
                      <a:solidFill>
                        <a:srgbClr val="D5DBDB"/>
                      </a:solidFill>
                    </a:lnT>
                    <a:lnB w="6350"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900">
                          <a:solidFill>
                            <a:srgbClr val="1B2631"/>
                          </a:solidFill>
                        </a:rPr>
                        <a:t>0.16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5DBDB"/>
                      </a:solidFill>
                    </a:lnL>
                    <a:lnR w="6350">
                      <a:solidFill>
                        <a:srgbClr val="D5DBDB"/>
                      </a:solidFill>
                    </a:lnR>
                    <a:lnT w="6350">
                      <a:solidFill>
                        <a:srgbClr val="D5DBDB"/>
                      </a:solidFill>
                    </a:lnT>
                    <a:lnB w="6350"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900">
                          <a:solidFill>
                            <a:srgbClr val="1B2631"/>
                          </a:solidFill>
                        </a:rPr>
                        <a:t>0.94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5DBDB"/>
                      </a:solidFill>
                    </a:lnL>
                    <a:lnR w="6350">
                      <a:solidFill>
                        <a:srgbClr val="D5DBDB"/>
                      </a:solidFill>
                    </a:lnR>
                    <a:lnT w="6350">
                      <a:solidFill>
                        <a:srgbClr val="D5DBDB"/>
                      </a:solidFill>
                    </a:lnT>
                    <a:lnB w="6350">
                      <a:solidFill>
                        <a:srgbClr val="D5DBDB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900">
                          <a:solidFill>
                            <a:srgbClr val="1B2631"/>
                          </a:solidFill>
                        </a:rPr>
                        <a:t>Severity index top quartile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5DBDB"/>
                      </a:solidFill>
                    </a:lnL>
                    <a:lnR w="6350">
                      <a:solidFill>
                        <a:srgbClr val="D5DBDB"/>
                      </a:solidFill>
                    </a:lnR>
                    <a:lnT w="6350">
                      <a:solidFill>
                        <a:srgbClr val="D5DBDB"/>
                      </a:solidFill>
                    </a:lnT>
                    <a:lnB w="6350"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900">
                          <a:solidFill>
                            <a:srgbClr val="1B2631"/>
                          </a:solidFill>
                        </a:rPr>
                        <a:t>20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5DBDB"/>
                      </a:solidFill>
                    </a:lnL>
                    <a:lnR w="6350">
                      <a:solidFill>
                        <a:srgbClr val="D5DBDB"/>
                      </a:solidFill>
                    </a:lnR>
                    <a:lnT w="6350">
                      <a:solidFill>
                        <a:srgbClr val="D5DBDB"/>
                      </a:solidFill>
                    </a:lnT>
                    <a:lnB w="6350"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900">
                          <a:solidFill>
                            <a:srgbClr val="1B2631"/>
                          </a:solidFill>
                        </a:rPr>
                        <a:t>0.25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5DBDB"/>
                      </a:solidFill>
                    </a:lnL>
                    <a:lnR w="6350">
                      <a:solidFill>
                        <a:srgbClr val="D5DBDB"/>
                      </a:solidFill>
                    </a:lnR>
                    <a:lnT w="6350">
                      <a:solidFill>
                        <a:srgbClr val="D5DBDB"/>
                      </a:solidFill>
                    </a:lnT>
                    <a:lnB w="6350"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900">
                          <a:solidFill>
                            <a:srgbClr val="1B2631"/>
                          </a:solidFill>
                        </a:rPr>
                        <a:t>0.26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5DBDB"/>
                      </a:solidFill>
                    </a:lnL>
                    <a:lnR w="6350">
                      <a:solidFill>
                        <a:srgbClr val="D5DBDB"/>
                      </a:solidFill>
                    </a:lnR>
                    <a:lnT w="6350">
                      <a:solidFill>
                        <a:srgbClr val="D5DBDB"/>
                      </a:solidFill>
                    </a:lnT>
                    <a:lnB w="6350">
                      <a:solidFill>
                        <a:srgbClr val="D5DBD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900">
                          <a:solidFill>
                            <a:srgbClr val="1B2631"/>
                          </a:solidFill>
                        </a:rPr>
                        <a:t>0.65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D5DBDB"/>
                      </a:solidFill>
                    </a:lnL>
                    <a:lnR w="6350">
                      <a:solidFill>
                        <a:srgbClr val="D5DBDB"/>
                      </a:solidFill>
                    </a:lnR>
                    <a:lnT w="6350">
                      <a:solidFill>
                        <a:srgbClr val="D5DBDB"/>
                      </a:solidFill>
                    </a:lnT>
                    <a:lnB w="6350">
                      <a:solidFill>
                        <a:srgbClr val="D5DBD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44" name="Text 1"/>
          <p:cNvSpPr txBox="1"/>
          <p:nvPr/>
        </p:nvSpPr>
        <p:spPr>
          <a:xfrm>
            <a:off x="457199" y="3474720"/>
            <a:ext cx="8321041" cy="5391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/>
          <a:p>
            <a:pPr marL="342900" indent="-342900">
              <a:buSzPct val="100000"/>
              <a:buChar char="•"/>
              <a:defRPr b="1" sz="1200">
                <a:latin typeface="+mn-lt"/>
                <a:ea typeface="+mn-ea"/>
                <a:cs typeface="+mn-cs"/>
                <a:sym typeface="Calibri"/>
              </a:defRPr>
            </a:pPr>
            <a:r>
              <a:t>Severity vs recurrent share: ρ = 0.03 </a:t>
            </a:r>
            <a:r>
              <a:rPr b="0"/>
              <a:t>(no overall relation)</a:t>
            </a:r>
          </a:p>
          <a:p>
            <a:pPr marL="342900" indent="-342900">
              <a:buSzPct val="100000"/>
              <a:buChar char="•"/>
              <a:defRPr b="1" sz="1200">
                <a:latin typeface="+mn-lt"/>
                <a:ea typeface="+mn-ea"/>
                <a:cs typeface="+mn-cs"/>
                <a:sym typeface="Calibri"/>
              </a:defRPr>
            </a:pPr>
            <a:r>
              <a:t>Only the agricultural-basin cluster K3 matches </a:t>
            </a:r>
            <a:r>
              <a:rPr b="0"/>
              <a:t>(F1 0.51 vs 0.30 random, p = 0.007); Kruskal–Wallis across clusters p = 0.016</a:t>
            </a:r>
          </a:p>
          <a:p>
            <a:pPr marL="342900" indent="-342900">
              <a:buSzPct val="100000"/>
              <a:buChar char="•"/>
              <a:defRPr b="1" sz="1200">
                <a:latin typeface="+mn-lt"/>
                <a:ea typeface="+mn-ea"/>
                <a:cs typeface="+mn-cs"/>
                <a:sym typeface="Calibri"/>
              </a:defRPr>
            </a:pPr>
            <a:r>
              <a:t>Recurrent-flood hotspots = lower Chao Phraya </a:t>
            </a:r>
            <a:r>
              <a:rPr b="0"/>
              <a:t>(Bangkok, Pathum Thani, Ayutthaya …) where reported impact is LOW</a:t>
            </a:r>
          </a:p>
        </p:txBody>
      </p:sp>
      <p:sp>
        <p:nvSpPr>
          <p:cNvPr id="245" name="Slide Number Placeholder 0"/>
          <p:cNvSpPr txBox="1"/>
          <p:nvPr>
            <p:ph type="sldNum" sz="quarter" idx="4294967295"/>
          </p:nvPr>
        </p:nvSpPr>
        <p:spPr>
          <a:xfrm>
            <a:off x="8466797" y="4800599"/>
            <a:ext cx="220001" cy="20591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Text 0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 anchor="ctr"/>
          <a:lstStyle/>
          <a:p>
            <a:pPr/>
            <a:r>
              <a:t>Key findings</a:t>
            </a:r>
          </a:p>
        </p:txBody>
      </p:sp>
      <p:sp>
        <p:nvSpPr>
          <p:cNvPr id="250" name="Shape 1"/>
          <p:cNvSpPr/>
          <p:nvPr/>
        </p:nvSpPr>
        <p:spPr>
          <a:xfrm>
            <a:off x="457200" y="1005838"/>
            <a:ext cx="4023360" cy="1691642"/>
          </a:xfrm>
          <a:prstGeom prst="roundRect">
            <a:avLst>
              <a:gd name="adj" fmla="val 4324"/>
            </a:avLst>
          </a:prstGeom>
          <a:solidFill>
            <a:srgbClr val="EAF2F8"/>
          </a:solidFill>
          <a:ln w="12700">
            <a:solidFill>
              <a:srgbClr val="EAF2F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51" name="Shape 2"/>
          <p:cNvSpPr/>
          <p:nvPr/>
        </p:nvSpPr>
        <p:spPr>
          <a:xfrm>
            <a:off x="594359" y="1142999"/>
            <a:ext cx="411483" cy="4114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52" name="Text 3"/>
          <p:cNvSpPr txBox="1"/>
          <p:nvPr/>
        </p:nvSpPr>
        <p:spPr>
          <a:xfrm>
            <a:off x="594359" y="1244163"/>
            <a:ext cx="411483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253" name="Text 4"/>
          <p:cNvSpPr txBox="1"/>
          <p:nvPr/>
        </p:nvSpPr>
        <p:spPr>
          <a:xfrm>
            <a:off x="1142999" y="1276284"/>
            <a:ext cx="3246123" cy="1906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 anchor="ctr">
            <a:spAutoFit/>
          </a:bodyPr>
          <a:lstStyle>
            <a:lvl1pPr>
              <a:defRPr b="1" sz="1400">
                <a:solidFill>
                  <a:srgbClr val="0B3C5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Two different flood problems</a:t>
            </a:r>
          </a:p>
        </p:txBody>
      </p:sp>
      <p:sp>
        <p:nvSpPr>
          <p:cNvPr id="254" name="Text 5"/>
          <p:cNvSpPr txBox="1"/>
          <p:nvPr/>
        </p:nvSpPr>
        <p:spPr>
          <a:xfrm>
            <a:off x="640078" y="1664206"/>
            <a:ext cx="3703324" cy="3486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>
              <a:defRPr sz="12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Flash floods in the northern uplands &amp; deep south hurt people; basin floods in the NE &amp; lower north hurt farmland.</a:t>
            </a:r>
          </a:p>
        </p:txBody>
      </p:sp>
      <p:sp>
        <p:nvSpPr>
          <p:cNvPr id="255" name="Shape 6"/>
          <p:cNvSpPr/>
          <p:nvPr/>
        </p:nvSpPr>
        <p:spPr>
          <a:xfrm>
            <a:off x="4663440" y="1005838"/>
            <a:ext cx="4023360" cy="1691642"/>
          </a:xfrm>
          <a:prstGeom prst="roundRect">
            <a:avLst>
              <a:gd name="adj" fmla="val 4324"/>
            </a:avLst>
          </a:prstGeom>
          <a:solidFill>
            <a:srgbClr val="EAF2F8"/>
          </a:solidFill>
          <a:ln w="12700">
            <a:solidFill>
              <a:srgbClr val="EAF2F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56" name="Shape 7"/>
          <p:cNvSpPr/>
          <p:nvPr/>
        </p:nvSpPr>
        <p:spPr>
          <a:xfrm>
            <a:off x="4800599" y="1142999"/>
            <a:ext cx="411484" cy="4114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57" name="Text 8"/>
          <p:cNvSpPr txBox="1"/>
          <p:nvPr/>
        </p:nvSpPr>
        <p:spPr>
          <a:xfrm>
            <a:off x="4800600" y="1244163"/>
            <a:ext cx="411481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258" name="Text 9"/>
          <p:cNvSpPr txBox="1"/>
          <p:nvPr/>
        </p:nvSpPr>
        <p:spPr>
          <a:xfrm>
            <a:off x="5349240" y="1276284"/>
            <a:ext cx="3246122" cy="1906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 anchor="ctr">
            <a:spAutoFit/>
          </a:bodyPr>
          <a:lstStyle>
            <a:lvl1pPr>
              <a:defRPr b="1" sz="1400">
                <a:solidFill>
                  <a:srgbClr val="0B3C5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Impact is spatially clustered</a:t>
            </a:r>
          </a:p>
        </p:txBody>
      </p:sp>
      <p:sp>
        <p:nvSpPr>
          <p:cNvPr id="259" name="Text 10"/>
          <p:cNvSpPr txBox="1"/>
          <p:nvPr/>
        </p:nvSpPr>
        <p:spPr>
          <a:xfrm>
            <a:off x="4846320" y="1664206"/>
            <a:ext cx="3703321" cy="3486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>
              <a:defRPr sz="12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Moran’s I = 0.44 (p &lt; 0.001), stable every year 2019–2024; 9 northern hotspots.</a:t>
            </a:r>
          </a:p>
        </p:txBody>
      </p:sp>
      <p:sp>
        <p:nvSpPr>
          <p:cNvPr id="260" name="Shape 11"/>
          <p:cNvSpPr/>
          <p:nvPr/>
        </p:nvSpPr>
        <p:spPr>
          <a:xfrm>
            <a:off x="457200" y="2834638"/>
            <a:ext cx="4023360" cy="1691642"/>
          </a:xfrm>
          <a:prstGeom prst="roundRect">
            <a:avLst>
              <a:gd name="adj" fmla="val 4324"/>
            </a:avLst>
          </a:prstGeom>
          <a:solidFill>
            <a:srgbClr val="EAF2F8"/>
          </a:solidFill>
          <a:ln w="12700">
            <a:solidFill>
              <a:srgbClr val="EAF2F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61" name="Shape 12"/>
          <p:cNvSpPr/>
          <p:nvPr/>
        </p:nvSpPr>
        <p:spPr>
          <a:xfrm>
            <a:off x="594359" y="2971799"/>
            <a:ext cx="411483" cy="4114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62" name="Text 13"/>
          <p:cNvSpPr txBox="1"/>
          <p:nvPr/>
        </p:nvSpPr>
        <p:spPr>
          <a:xfrm>
            <a:off x="594359" y="3072963"/>
            <a:ext cx="411483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263" name="Text 14"/>
          <p:cNvSpPr txBox="1"/>
          <p:nvPr/>
        </p:nvSpPr>
        <p:spPr>
          <a:xfrm>
            <a:off x="1142999" y="2990785"/>
            <a:ext cx="3246123" cy="4192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 anchor="ctr">
            <a:spAutoFit/>
          </a:bodyPr>
          <a:lstStyle>
            <a:lvl1pPr>
              <a:defRPr b="1" sz="1400">
                <a:solidFill>
                  <a:srgbClr val="0B3C5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Where water recurs ≠ where damage is reported</a:t>
            </a:r>
          </a:p>
        </p:txBody>
      </p:sp>
      <p:sp>
        <p:nvSpPr>
          <p:cNvPr id="264" name="Text 15"/>
          <p:cNvSpPr txBox="1"/>
          <p:nvPr/>
        </p:nvSpPr>
        <p:spPr>
          <a:xfrm>
            <a:off x="640078" y="3493008"/>
            <a:ext cx="3703324" cy="5391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>
              <a:defRPr sz="12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The lower Chao Phraya floods most often but reports little impact – protection works or under-reporting; only the farmland cluster matches the recurrence map.</a:t>
            </a:r>
          </a:p>
        </p:txBody>
      </p:sp>
      <p:sp>
        <p:nvSpPr>
          <p:cNvPr id="265" name="Shape 16"/>
          <p:cNvSpPr/>
          <p:nvPr/>
        </p:nvSpPr>
        <p:spPr>
          <a:xfrm>
            <a:off x="4663440" y="2834638"/>
            <a:ext cx="4023360" cy="1691642"/>
          </a:xfrm>
          <a:prstGeom prst="roundRect">
            <a:avLst>
              <a:gd name="adj" fmla="val 4324"/>
            </a:avLst>
          </a:prstGeom>
          <a:solidFill>
            <a:srgbClr val="EAF2F8"/>
          </a:solidFill>
          <a:ln w="12700">
            <a:solidFill>
              <a:srgbClr val="EAF2F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66" name="Shape 17"/>
          <p:cNvSpPr/>
          <p:nvPr/>
        </p:nvSpPr>
        <p:spPr>
          <a:xfrm>
            <a:off x="4800599" y="2971799"/>
            <a:ext cx="411484" cy="4114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67" name="Text 18"/>
          <p:cNvSpPr txBox="1"/>
          <p:nvPr/>
        </p:nvSpPr>
        <p:spPr>
          <a:xfrm>
            <a:off x="4800600" y="3072963"/>
            <a:ext cx="411481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268" name="Text 19"/>
          <p:cNvSpPr txBox="1"/>
          <p:nvPr/>
        </p:nvSpPr>
        <p:spPr>
          <a:xfrm>
            <a:off x="5349240" y="3105085"/>
            <a:ext cx="3246122" cy="1906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 anchor="ctr">
            <a:spAutoFit/>
          </a:bodyPr>
          <a:lstStyle>
            <a:lvl1pPr>
              <a:defRPr b="1" sz="1400">
                <a:solidFill>
                  <a:srgbClr val="0B3C5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Data preparation was most of the work</a:t>
            </a:r>
          </a:p>
        </p:txBody>
      </p:sp>
      <p:sp>
        <p:nvSpPr>
          <p:cNvPr id="269" name="Text 20"/>
          <p:cNvSpPr txBox="1"/>
          <p:nvPr/>
        </p:nvSpPr>
        <p:spPr>
          <a:xfrm>
            <a:off x="4846320" y="3493008"/>
            <a:ext cx="3703321" cy="3486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>
            <a:lvl1pPr>
              <a:defRPr sz="12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Without removing 144 subtotal rows and harmonising 6 schemas, every total would be double-counted.</a:t>
            </a:r>
          </a:p>
        </p:txBody>
      </p:sp>
      <p:sp>
        <p:nvSpPr>
          <p:cNvPr id="270" name="Slide Number Placeholder 0"/>
          <p:cNvSpPr txBox="1"/>
          <p:nvPr>
            <p:ph type="sldNum" sz="quarter" idx="4294967295"/>
          </p:nvPr>
        </p:nvSpPr>
        <p:spPr>
          <a:xfrm>
            <a:off x="8466797" y="4800599"/>
            <a:ext cx="220001" cy="20591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Text 0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 anchor="ctr"/>
          <a:lstStyle/>
          <a:p>
            <a:pPr/>
            <a:r>
              <a:t>Possible applications</a:t>
            </a:r>
          </a:p>
        </p:txBody>
      </p:sp>
      <p:sp>
        <p:nvSpPr>
          <p:cNvPr id="275" name="Shape 1"/>
          <p:cNvSpPr/>
          <p:nvPr/>
        </p:nvSpPr>
        <p:spPr>
          <a:xfrm>
            <a:off x="457200" y="1005838"/>
            <a:ext cx="8229600" cy="804674"/>
          </a:xfrm>
          <a:prstGeom prst="roundRect">
            <a:avLst>
              <a:gd name="adj" fmla="val 9091"/>
            </a:avLst>
          </a:prstGeom>
          <a:solidFill>
            <a:srgbClr val="EAF2F8"/>
          </a:solidFill>
          <a:ln w="12700">
            <a:solidFill>
              <a:srgbClr val="EAF2F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76" name="Text 2"/>
          <p:cNvSpPr txBox="1"/>
          <p:nvPr/>
        </p:nvSpPr>
        <p:spPr>
          <a:xfrm>
            <a:off x="640080" y="1312861"/>
            <a:ext cx="2377440" cy="1906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 anchor="ctr">
            <a:spAutoFit/>
          </a:bodyPr>
          <a:lstStyle>
            <a:lvl1pPr>
              <a:defRPr b="1" sz="1400">
                <a:solidFill>
                  <a:srgbClr val="0B3C5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Targeted preparedness</a:t>
            </a:r>
          </a:p>
        </p:txBody>
      </p:sp>
      <p:sp>
        <p:nvSpPr>
          <p:cNvPr id="277" name="Text 3"/>
          <p:cNvSpPr txBox="1"/>
          <p:nvPr/>
        </p:nvSpPr>
        <p:spPr>
          <a:xfrm>
            <a:off x="3017519" y="1233858"/>
            <a:ext cx="5532123" cy="3486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 anchor="ctr">
            <a:spAutoFit/>
          </a:bodyPr>
          <a:lstStyle>
            <a:lvl1pPr>
              <a:defRPr sz="12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K2 flash-flood provinces: early-warning &amp; evacuation; K3 basin provinces: crop insurance, drainage, farmer compensation</a:t>
            </a:r>
          </a:p>
        </p:txBody>
      </p:sp>
      <p:sp>
        <p:nvSpPr>
          <p:cNvPr id="278" name="Shape 4"/>
          <p:cNvSpPr/>
          <p:nvPr/>
        </p:nvSpPr>
        <p:spPr>
          <a:xfrm>
            <a:off x="457200" y="1920238"/>
            <a:ext cx="8229600" cy="804674"/>
          </a:xfrm>
          <a:prstGeom prst="roundRect">
            <a:avLst>
              <a:gd name="adj" fmla="val 9091"/>
            </a:avLst>
          </a:prstGeom>
          <a:solidFill>
            <a:srgbClr val="EAF2F8"/>
          </a:solidFill>
          <a:ln w="12700">
            <a:solidFill>
              <a:srgbClr val="EAF2F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79" name="Text 5"/>
          <p:cNvSpPr txBox="1"/>
          <p:nvPr/>
        </p:nvSpPr>
        <p:spPr>
          <a:xfrm>
            <a:off x="640080" y="2227260"/>
            <a:ext cx="2377440" cy="1906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 anchor="ctr">
            <a:spAutoFit/>
          </a:bodyPr>
          <a:lstStyle>
            <a:lvl1pPr>
              <a:defRPr b="1" sz="1400">
                <a:solidFill>
                  <a:srgbClr val="0B3C5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Budget allocation</a:t>
            </a:r>
          </a:p>
        </p:txBody>
      </p:sp>
      <p:sp>
        <p:nvSpPr>
          <p:cNvPr id="280" name="Text 6"/>
          <p:cNvSpPr txBox="1"/>
          <p:nvPr/>
        </p:nvSpPr>
        <p:spPr>
          <a:xfrm>
            <a:off x="3017519" y="2148258"/>
            <a:ext cx="5532123" cy="3486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 anchor="ctr">
            <a:spAutoFit/>
          </a:bodyPr>
          <a:lstStyle>
            <a:lvl1pPr>
              <a:defRPr sz="12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Use the severity index + LISA hotspots to prioritise DDPM disaster-relief budgets by region rather than province by province</a:t>
            </a:r>
          </a:p>
        </p:txBody>
      </p:sp>
      <p:sp>
        <p:nvSpPr>
          <p:cNvPr id="281" name="Shape 7"/>
          <p:cNvSpPr/>
          <p:nvPr/>
        </p:nvSpPr>
        <p:spPr>
          <a:xfrm>
            <a:off x="457200" y="2834638"/>
            <a:ext cx="8229600" cy="804674"/>
          </a:xfrm>
          <a:prstGeom prst="roundRect">
            <a:avLst>
              <a:gd name="adj" fmla="val 9091"/>
            </a:avLst>
          </a:prstGeom>
          <a:solidFill>
            <a:srgbClr val="EAF2F8"/>
          </a:solidFill>
          <a:ln w="12700">
            <a:solidFill>
              <a:srgbClr val="EAF2F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82" name="Text 8"/>
          <p:cNvSpPr txBox="1"/>
          <p:nvPr/>
        </p:nvSpPr>
        <p:spPr>
          <a:xfrm>
            <a:off x="640080" y="3141660"/>
            <a:ext cx="2377440" cy="1906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 anchor="ctr">
            <a:spAutoFit/>
          </a:bodyPr>
          <a:lstStyle>
            <a:lvl1pPr>
              <a:defRPr b="1" sz="1400">
                <a:solidFill>
                  <a:srgbClr val="0B3C5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Data-quality audit</a:t>
            </a:r>
          </a:p>
        </p:txBody>
      </p:sp>
      <p:sp>
        <p:nvSpPr>
          <p:cNvPr id="283" name="Text 9"/>
          <p:cNvSpPr txBox="1"/>
          <p:nvPr/>
        </p:nvSpPr>
        <p:spPr>
          <a:xfrm>
            <a:off x="3017519" y="3062658"/>
            <a:ext cx="5532123" cy="3486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 anchor="ctr">
            <a:spAutoFit/>
          </a:bodyPr>
          <a:lstStyle>
            <a:lvl1pPr>
              <a:defRPr sz="12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'Recurrence-only' provinces and HDBSCAN outliers flag possible under-reporting to check with local offices</a:t>
            </a:r>
          </a:p>
        </p:txBody>
      </p:sp>
      <p:sp>
        <p:nvSpPr>
          <p:cNvPr id="284" name="Shape 10"/>
          <p:cNvSpPr/>
          <p:nvPr/>
        </p:nvSpPr>
        <p:spPr>
          <a:xfrm>
            <a:off x="457200" y="3749040"/>
            <a:ext cx="8229600" cy="804674"/>
          </a:xfrm>
          <a:prstGeom prst="roundRect">
            <a:avLst>
              <a:gd name="adj" fmla="val 9091"/>
            </a:avLst>
          </a:prstGeom>
          <a:solidFill>
            <a:srgbClr val="EAF2F8"/>
          </a:solidFill>
          <a:ln w="12700">
            <a:solidFill>
              <a:srgbClr val="EAF2F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85" name="Text 11"/>
          <p:cNvSpPr txBox="1"/>
          <p:nvPr/>
        </p:nvSpPr>
        <p:spPr>
          <a:xfrm>
            <a:off x="640080" y="4056060"/>
            <a:ext cx="2377440" cy="1906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 anchor="ctr">
            <a:spAutoFit/>
          </a:bodyPr>
          <a:lstStyle>
            <a:lvl1pPr>
              <a:defRPr b="1" sz="1400">
                <a:solidFill>
                  <a:srgbClr val="0B3C5D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Monitoring</a:t>
            </a:r>
          </a:p>
        </p:txBody>
      </p:sp>
      <p:sp>
        <p:nvSpPr>
          <p:cNvPr id="286" name="Text 12"/>
          <p:cNvSpPr txBox="1"/>
          <p:nvPr/>
        </p:nvSpPr>
        <p:spPr>
          <a:xfrm>
            <a:off x="3017519" y="3977058"/>
            <a:ext cx="5532123" cy="3486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 anchor="ctr">
            <a:spAutoFit/>
          </a:bodyPr>
          <a:lstStyle>
            <a:lvl1pPr>
              <a:defRPr sz="12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Re-run yearly as new DDPM data arrives; track whether hotspots move (Moran’s I per year)</a:t>
            </a:r>
          </a:p>
        </p:txBody>
      </p:sp>
      <p:sp>
        <p:nvSpPr>
          <p:cNvPr id="287" name="Slide Number Placeholder 0"/>
          <p:cNvSpPr txBox="1"/>
          <p:nvPr>
            <p:ph type="sldNum" sz="quarter" idx="4294967295"/>
          </p:nvPr>
        </p:nvSpPr>
        <p:spPr>
          <a:xfrm>
            <a:off x="8466797" y="4800599"/>
            <a:ext cx="220001" cy="20591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Text 0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 anchor="ctr"/>
          <a:lstStyle/>
          <a:p>
            <a:pPr/>
            <a:r>
              <a:t>References and data sources</a:t>
            </a:r>
          </a:p>
        </p:txBody>
      </p:sp>
      <p:sp>
        <p:nvSpPr>
          <p:cNvPr id="292" name="Text 1"/>
          <p:cNvSpPr txBox="1"/>
          <p:nvPr/>
        </p:nvSpPr>
        <p:spPr>
          <a:xfrm>
            <a:off x="457200" y="960119"/>
            <a:ext cx="8229600" cy="23165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35" tIns="635" rIns="635" bIns="635">
            <a:spAutoFit/>
          </a:bodyPr>
          <a:lstStyle/>
          <a:p>
            <a:pPr marL="342900" indent="-342900">
              <a:spcBef>
                <a:spcPts val="600"/>
              </a:spcBef>
              <a:buSzPct val="100000"/>
              <a:buChar char="•"/>
              <a:defRPr sz="1100">
                <a:latin typeface="+mn-lt"/>
                <a:ea typeface="+mn-ea"/>
                <a:cs typeface="+mn-cs"/>
                <a:sym typeface="Calibri"/>
              </a:defRPr>
            </a:pPr>
            <a:r>
              <a:t>DDPM –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สถิติรายปีการเกิดอุทกภัย </a:t>
            </a:r>
            <a:r>
              <a:t>2562–2567, catalog.disaster.go.th/dataset/dpm-gd027</a:t>
            </a:r>
          </a:p>
          <a:p>
            <a:pPr marL="342900" indent="-342900">
              <a:spcBef>
                <a:spcPts val="600"/>
              </a:spcBef>
              <a:buSzPct val="100000"/>
              <a:buChar char="•"/>
              <a:defRPr sz="1100">
                <a:latin typeface="+mn-lt"/>
                <a:ea typeface="+mn-ea"/>
                <a:cs typeface="+mn-cs"/>
                <a:sym typeface="Calibri"/>
              </a:defRPr>
            </a:pPr>
            <a:r>
              <a:t>HII / ThaiWater –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ปริมาณฝนเชิงพื้นที่รายเดือนรายจังหวัด และค่าเฉลี่ย </a:t>
            </a:r>
            <a:r>
              <a:t>30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ปี</a:t>
            </a:r>
            <a:r>
              <a:t>, data.go.th/dataset/spatial-rain</a:t>
            </a:r>
          </a:p>
          <a:p>
            <a:pPr marL="342900" indent="-342900">
              <a:spcBef>
                <a:spcPts val="600"/>
              </a:spcBef>
              <a:buSzPct val="100000"/>
              <a:buChar char="•"/>
              <a:defRPr sz="1100">
                <a:latin typeface="+mn-lt"/>
                <a:ea typeface="+mn-ea"/>
                <a:cs typeface="+mn-cs"/>
                <a:sym typeface="Calibri"/>
              </a:defRPr>
            </a:pPr>
            <a:r>
              <a:t>DOPA –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สถิติจำนวนประชากร </a:t>
            </a:r>
            <a:r>
              <a:t>2562–2567, data.go.th/dataset/dopa-star</a:t>
            </a:r>
          </a:p>
          <a:p>
            <a:pPr marL="342900" indent="-342900">
              <a:spcBef>
                <a:spcPts val="600"/>
              </a:spcBef>
              <a:buSzPct val="100000"/>
              <a:buChar char="•"/>
              <a:defRPr sz="1100">
                <a:latin typeface="+mn-lt"/>
                <a:ea typeface="+mn-ea"/>
                <a:cs typeface="+mn-cs"/>
                <a:sym typeface="Calibri"/>
              </a:defRPr>
            </a:pPr>
            <a:r>
              <a:t>Land Development Department –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สถิติพื้นที่น้ำท่วมซ้ำซากรายตำบล</a:t>
            </a:r>
            <a:r>
              <a:t>, data.go.th/dataset/ldd_21_04</a:t>
            </a:r>
          </a:p>
          <a:p>
            <a:pPr marL="342900" indent="-342900">
              <a:spcBef>
                <a:spcPts val="600"/>
              </a:spcBef>
              <a:buSzPct val="100000"/>
              <a:buChar char="•"/>
              <a:defRPr sz="1100">
                <a:latin typeface="+mn-lt"/>
                <a:ea typeface="+mn-ea"/>
                <a:cs typeface="+mn-cs"/>
                <a:sym typeface="Calibri"/>
              </a:defRPr>
            </a:pPr>
            <a:r>
              <a:t>Province boundaries – github.com/chingchai/OpenGISData-Thailand</a:t>
            </a:r>
          </a:p>
          <a:p>
            <a:pPr marL="342900" indent="-342900">
              <a:spcBef>
                <a:spcPts val="600"/>
              </a:spcBef>
              <a:buSzPct val="100000"/>
              <a:buChar char="•"/>
              <a:defRPr sz="1100">
                <a:latin typeface="+mn-lt"/>
                <a:ea typeface="+mn-ea"/>
                <a:cs typeface="+mn-cs"/>
                <a:sym typeface="Calibri"/>
              </a:defRPr>
            </a:pPr>
            <a:r>
              <a:t>Campello, Moulavi &amp; Sander (2013). Density-based clustering based on hierarchical density estimates. PAKDD.</a:t>
            </a:r>
          </a:p>
          <a:p>
            <a:pPr marL="342900" indent="-342900">
              <a:spcBef>
                <a:spcPts val="600"/>
              </a:spcBef>
              <a:buSzPct val="100000"/>
              <a:buChar char="•"/>
              <a:defRPr sz="1100">
                <a:latin typeface="+mn-lt"/>
                <a:ea typeface="+mn-ea"/>
                <a:cs typeface="+mn-cs"/>
                <a:sym typeface="Calibri"/>
              </a:defRPr>
            </a:pPr>
            <a:r>
              <a:t>Anselin, L. (1995). Local Indicators of Spatial Association – LISA. Geographical Analysis 27(2).</a:t>
            </a:r>
          </a:p>
          <a:p>
            <a:pPr marL="342900" indent="-342900">
              <a:spcBef>
                <a:spcPts val="600"/>
              </a:spcBef>
              <a:buSzPct val="100000"/>
              <a:buChar char="•"/>
              <a:defRPr sz="1100">
                <a:latin typeface="+mn-lt"/>
                <a:ea typeface="+mn-ea"/>
                <a:cs typeface="+mn-cs"/>
                <a:sym typeface="Calibri"/>
              </a:defRPr>
            </a:pPr>
            <a:r>
              <a:t>Moran, P.A.P. (1950). Notes on continuous stochastic phenomena. Biometrika 37.</a:t>
            </a:r>
          </a:p>
          <a:p>
            <a:pPr marL="342900" indent="-342900">
              <a:spcBef>
                <a:spcPts val="600"/>
              </a:spcBef>
              <a:buSzPct val="100000"/>
              <a:buChar char="•"/>
              <a:defRPr sz="1100">
                <a:latin typeface="+mn-lt"/>
                <a:ea typeface="+mn-ea"/>
                <a:cs typeface="+mn-cs"/>
                <a:sym typeface="Calibri"/>
              </a:defRPr>
            </a:pPr>
            <a:r>
              <a:t>Rey &amp; Anselin (2007). PySAL: A Python library of spatial analytical methods. scikit-learn 1.9 documentation.</a:t>
            </a:r>
          </a:p>
        </p:txBody>
      </p:sp>
      <p:sp>
        <p:nvSpPr>
          <p:cNvPr id="293" name="Slide Number Placeholder 0"/>
          <p:cNvSpPr txBox="1"/>
          <p:nvPr>
            <p:ph type="sldNum" sz="quarter" idx="4294967295"/>
          </p:nvPr>
        </p:nvSpPr>
        <p:spPr>
          <a:xfrm>
            <a:off x="8466797" y="4800599"/>
            <a:ext cx="220001" cy="20591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Flood Analytics">
  <a:themeElements>
    <a:clrScheme name="Flood Analytics">
      <a:dk1>
        <a:srgbClr val="1B2631"/>
      </a:dk1>
      <a:lt1>
        <a:srgbClr val="0B3C5D"/>
      </a:lt1>
      <a:dk2>
        <a:srgbClr val="A7A7A7"/>
      </a:dk2>
      <a:lt2>
        <a:srgbClr val="535353"/>
      </a:lt2>
      <a:accent1>
        <a:srgbClr val="1D7874"/>
      </a:accent1>
      <a:accent2>
        <a:srgbClr val="D7191C"/>
      </a:accent2>
      <a:accent3>
        <a:srgbClr val="FDAE61"/>
      </a:accent3>
      <a:accent4>
        <a:srgbClr val="2C7BB6"/>
      </a:accent4>
      <a:accent5>
        <a:srgbClr val="7B3294"/>
      </a:accent5>
      <a:accent6>
        <a:srgbClr val="5D6D7E"/>
      </a:accent6>
      <a:hlink>
        <a:srgbClr val="0000FF"/>
      </a:hlink>
      <a:folHlink>
        <a:srgbClr val="FF00FF"/>
      </a:folHlink>
    </a:clrScheme>
    <a:fontScheme name="Flood Analytics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Flood Analytic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B3C5D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B2631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B2631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Flood Analytics">
  <a:themeElements>
    <a:clrScheme name="Flood Analytics">
      <a:dk1>
        <a:srgbClr val="1B2631"/>
      </a:dk1>
      <a:lt1>
        <a:srgbClr val="312316"/>
      </a:lt1>
      <a:dk2>
        <a:srgbClr val="A7A7A7"/>
      </a:dk2>
      <a:lt2>
        <a:srgbClr val="535353"/>
      </a:lt2>
      <a:accent1>
        <a:srgbClr val="1D7874"/>
      </a:accent1>
      <a:accent2>
        <a:srgbClr val="D7191C"/>
      </a:accent2>
      <a:accent3>
        <a:srgbClr val="FDAE61"/>
      </a:accent3>
      <a:accent4>
        <a:srgbClr val="2C7BB6"/>
      </a:accent4>
      <a:accent5>
        <a:srgbClr val="7B3294"/>
      </a:accent5>
      <a:accent6>
        <a:srgbClr val="5D6D7E"/>
      </a:accent6>
      <a:hlink>
        <a:srgbClr val="0000FF"/>
      </a:hlink>
      <a:folHlink>
        <a:srgbClr val="FF00FF"/>
      </a:folHlink>
    </a:clrScheme>
    <a:fontScheme name="Flood Analytics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Flood Analytic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B3C5D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B2631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B2631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