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839d048-26ea-f80f-60f8-820cb0440a6c}">
          <p14:sldIdLst>
            <p14:sldId id="256"/>
          </p14:sldIdLst>
        </p14:section>
        <p14:section name="Complex Data" id="{20286f31-22a2-3bf2-19fc-885ca23b2cc6}">
          <p14:sldIdLst>
            <p14:sldId id="257"/>
            <p14:sldId id="258"/>
          </p14:sldIdLst>
        </p14:section>
        <p14:section name="Exploration" id="{2890dc3e-20de-f92b-a76d-df4393a2bf27}">
          <p14:sldIdLst>
            <p14:sldId id="259"/>
            <p14:sldId id="260"/>
          </p14:sldIdLst>
        </p14:section>
        <p14:section name="Pre-processing" id="{e8f4df8a-352c-3c26-153f-525b10d9f092}">
          <p14:sldIdLst>
            <p14:sldId id="261"/>
            <p14:sldId id="262"/>
          </p14:sldIdLst>
        </p14:section>
        <p14:section name="Analytics Technique" id="{91aa61b1-fe24-0957-39bc-92eb48546e61}">
          <p14:sldIdLst>
            <p14:sldId id="263"/>
            <p14:sldId id="264"/>
            <p14:sldId id="265"/>
            <p14:sldId id="266"/>
            <p14:sldId id="267"/>
          </p14:sldIdLst>
        </p14:section>
        <p14:section name="Demo" id="{1e97437b-77e3-ab8c-20f2-2437ce4d110b}">
          <p14:sldIdLst>
            <p14:sldId id="268"/>
          </p14:sldIdLst>
        </p14:section>
        <p14:section name="Evaluation" id="{43e06d53-9ab9-8eef-c6e9-87bc00a6e79d}">
          <p14:sldIdLst>
            <p14:sldId id="269"/>
            <p14:sldId id="270"/>
          </p14:sldIdLst>
        </p14:section>
        <p14:section name="Conclusion" id="{fa0c7a3b-e2b2-e335-3f56-64a4790b5ff8}">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C5D"/>
                </a:solidFill>
                <a:latin typeface="+mn-lt"/>
              </a:defRPr>
            </a:pPr>
            <a:r>
              <a:rPr sz="1200" b="0" i="0" u="none" strike="noStrike">
                <a:solidFill>
                  <a:srgbClr val="0B3C5D"/>
                </a:solidFill>
                <a:latin typeface="+mn-lt"/>
              </a:rPr>
              <a:t>Affected people per year (million)</a:t>
            </a:r>
          </a:p>
        </c:rich>
      </c:tx>
      <c:layout/>
      <c:overlay val="0"/>
    </c:title>
    <c:autoTitleDeleted val="0"/>
    <c:plotArea>
      <c:layout/>
      <c:barChart>
        <c:barDir val="col"/>
        <c:grouping val="clustered"/>
        <c:varyColors val="0"/>
        <c:ser>
          <c:idx val="0"/>
          <c:order val="0"/>
          <c:tx>
            <c:strRef>
              <c:f>Sheet1!$B$1</c:f>
              <c:strCache>
                <c:ptCount val="1"/>
                <c:pt idx="0">
                  <c:v>Affected people (million)</c:v>
                </c:pt>
              </c:strCache>
            </c:strRef>
          </c:tx>
          <c:spPr>
            <a:solidFill>
              <a:srgbClr val="2C7BB6"/>
            </a:solidFill>
            <a:effectLst/>
          </c:spPr>
          <c:invertIfNegative val="0"/>
          <c:dLbls>
            <c:numFmt formatCode="0.0" sourceLinked="0"/>
            <c:txPr>
              <a:bodyPr/>
              <a:lstStyle/>
              <a:p>
                <a:pPr>
                  <a:defRPr b="0" i="0" strike="noStrike" sz="1000" u="none">
                    <a:solidFill>
                      <a:srgbClr val="1B2631"/>
                    </a:solidFill>
                    <a:latin typeface="+mn-lt"/>
                  </a:defRPr>
                </a:pPr>
              </a:p>
            </c:txPr>
            <c:showLegendKey val="0"/>
            <c:showVal val="1"/>
            <c:showCatName val="0"/>
            <c:showSerName val="0"/>
            <c:showPercent val="0"/>
            <c:showBubbleSize val="0"/>
            <c:showLeaderLines val="0"/>
          </c:dLbls>
          <c:cat>
            <c:multiLvlStrRef>
              <c:f>Sheet1!$A$2:$A$7</c:f>
              <c:multiLvlStrCache>
                <c:ptCount val="6"/>
                <c:lvl>
                  <c:pt idx="0">
                    <c:v>2019</c:v>
                  </c:pt>
                  <c:pt idx="1">
                    <c:v>2020</c:v>
                  </c:pt>
                  <c:pt idx="2">
                    <c:v>2021</c:v>
                  </c:pt>
                  <c:pt idx="3">
                    <c:v>2022</c:v>
                  </c:pt>
                  <c:pt idx="4">
                    <c:v>2023</c:v>
                  </c:pt>
                  <c:pt idx="5">
                    <c:v>2024</c:v>
                  </c:pt>
                </c:lvl>
              </c:multiLvlStrCache>
            </c:multiLvlStrRef>
          </c:cat>
          <c:val>
            <c:numRef>
              <c:f>Sheet1!$B$2:$B$7</c:f>
              <c:numCache>
                <c:formatCode>General</c:formatCode>
                <c:ptCount val="6"/>
                <c:pt idx="0">
                  <c:v>1.95</c:v>
                </c:pt>
                <c:pt idx="1">
                  <c:v>3.58</c:v>
                </c:pt>
                <c:pt idx="2">
                  <c:v>2.52</c:v>
                </c:pt>
                <c:pt idx="3">
                  <c:v>8.17</c:v>
                </c:pt>
                <c:pt idx="4">
                  <c:v>1.13</c:v>
                </c:pt>
                <c:pt idx="5">
                  <c:v>3.75</c:v>
                </c:pt>
              </c:numCache>
            </c:numRef>
          </c:val>
        </c:ser>
        <c:dLbls>
          <c:numFmt formatCode="0.0" sourceLinked="0"/>
          <c:txPr>
            <a:bodyPr/>
            <a:lstStyle/>
            <a:p>
              <a:pPr>
                <a:defRPr b="0" i="0" strike="noStrike" sz="1000" u="none">
                  <a:solidFill>
                    <a:srgbClr val="1B263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D6D7E"/>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5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D6D7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3C5D"/>
                </a:solidFill>
                <a:latin typeface="+mn-lt"/>
              </a:defRPr>
            </a:pPr>
            <a:r>
              <a:rPr sz="1100" b="0" i="0" u="none" strike="noStrike">
                <a:solidFill>
                  <a:srgbClr val="0B3C5D"/>
                </a:solidFill>
                <a:latin typeface="+mn-lt"/>
              </a:rPr>
              <a:t>Moran’s I per year (all p &lt; 0.01)</a:t>
            </a:r>
          </a:p>
        </c:rich>
      </c:tx>
      <c:layout/>
      <c:overlay val="0"/>
    </c:title>
    <c:autoTitleDeleted val="0"/>
    <c:plotArea>
      <c:layout/>
      <c:lineChart>
        <c:varyColors val="0"/>
        <c:ser>
          <c:idx val="0"/>
          <c:order val="0"/>
          <c:tx>
            <c:strRef>
              <c:f>Sheet1!$B$1</c:f>
              <c:strCache>
                <c:ptCount val="1"/>
                <c:pt idx="0">
                  <c:v>Moran's I</c:v>
                </c:pt>
              </c:strCache>
            </c:strRef>
          </c:tx>
          <c:spPr>
            <a:solidFill>
              <a:srgbClr val="D7191C"/>
            </a:solidFill>
            <a:ln w="25400" cap="flat">
              <a:solidFill>
                <a:srgbClr val="D7191C"/>
              </a:solidFill>
              <a:prstDash val="solid"/>
              <a:round/>
            </a:ln>
            <a:effectLst/>
          </c:spPr>
          <c:invertIfNegative val="0"/>
          <c:dLbls>
            <c:numFmt formatCode="0.00" sourceLinked="0"/>
            <c:txPr>
              <a:bodyPr/>
              <a:lstStyle/>
              <a:p>
                <a:pPr>
                  <a:defRPr b="0" i="0" strike="noStrike" sz="900" u="none">
                    <a:solidFill>
                      <a:srgbClr val="1B2631"/>
                    </a:solidFill>
                    <a:latin typeface="+mn-lt"/>
                  </a:defRPr>
                </a:pPr>
              </a:p>
            </c:txPr>
            <c:dLblPos val="t"/>
            <c:showLegendKey val="0"/>
            <c:showVal val="1"/>
            <c:showCatName val="0"/>
            <c:showSerName val="0"/>
            <c:showPercent val="0"/>
            <c:showBubbleSize val="0"/>
            <c:showLeaderLines val="0"/>
          </c:dLbls>
          <c:marker>
            <c:symbol val="circle"/>
            <c:size val="6"/>
            <c:spPr>
              <a:solidFill>
                <a:srgbClr val="D7191C"/>
              </a:solidFill>
              <a:ln w="9525" cap="flat">
                <a:solidFill>
                  <a:srgbClr val="D7191C"/>
                </a:solidFill>
                <a:prstDash val="solid"/>
                <a:round/>
              </a:ln>
              <a:effectLst/>
            </c:spPr>
          </c:marker>
          <c:cat>
            <c:multiLvlStrRef>
              <c:f>Sheet1!$A$2:$A$7</c:f>
              <c:multiLvlStrCache>
                <c:ptCount val="6"/>
                <c:lvl>
                  <c:pt idx="0">
                    <c:v>2019</c:v>
                  </c:pt>
                  <c:pt idx="1">
                    <c:v>2020</c:v>
                  </c:pt>
                  <c:pt idx="2">
                    <c:v>2021</c:v>
                  </c:pt>
                  <c:pt idx="3">
                    <c:v>2022</c:v>
                  </c:pt>
                  <c:pt idx="4">
                    <c:v>2023</c:v>
                  </c:pt>
                  <c:pt idx="5">
                    <c:v>2024</c:v>
                  </c:pt>
                </c:lvl>
              </c:multiLvlStrCache>
            </c:multiLvlStrRef>
          </c:cat>
          <c:val>
            <c:numRef>
              <c:f>Sheet1!$B$2:$B$7</c:f>
              <c:numCache>
                <c:formatCode>General</c:formatCode>
                <c:ptCount val="6"/>
                <c:pt idx="0">
                  <c:v>0.279</c:v>
                </c:pt>
                <c:pt idx="1">
                  <c:v>0.397</c:v>
                </c:pt>
                <c:pt idx="2">
                  <c:v>0.421</c:v>
                </c:pt>
                <c:pt idx="3">
                  <c:v>0.331</c:v>
                </c:pt>
                <c:pt idx="4">
                  <c:v>0.255</c:v>
                </c:pt>
                <c:pt idx="5">
                  <c:v>0.419</c:v>
                </c:pt>
              </c:numCache>
            </c:numRef>
          </c:val>
          <c:smooth val="0"/>
        </c:ser>
        <c:dLbls>
          <c:numFmt formatCode="0.00" sourceLinked="0"/>
          <c:txPr>
            <a:bodyPr/>
            <a:lstStyle/>
            <a:p>
              <a:pPr>
                <a:defRPr b="0" i="0" strike="noStrike" sz="900" u="none">
                  <a:solidFill>
                    <a:srgbClr val="1B2631"/>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D6D7E"/>
                </a:solidFill>
                <a:latin typeface="+mn-lt"/>
              </a:defRPr>
            </a:pPr>
            <a:endParaRPr lang="en-US"/>
          </a:p>
        </c:txPr>
        <c:crossAx val="2094734552"/>
        <c:crosses val="autoZero"/>
        <c:auto val="1"/>
        <c:lblAlgn val="ctr"/>
        <c:noMultiLvlLbl val="1"/>
      </c:catAx>
      <c:valAx>
        <c:axId val="2094734552"/>
        <c:scaling>
          <c:orientation val="minMax"/>
          <c:max val="0.6"/>
          <c:min val="0"/>
        </c:scaling>
        <c:delete val="1"/>
        <c:axPos val="l"/>
        <c:majorGridlines>
          <c:spPr>
            <a:ln w="6350" cap="flat">
              <a:solidFill>
                <a:srgbClr val="E5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D6D7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สวัสดีครับ หัวข้อของกลุ่มเราคือการจัดกลุ่มจังหวัดตามรูปแบบผลกระทบจากน้ำท่วมในประเทศไทยช่วงปี 2019–2024 และหา hotspot เชิงพื้นที่ โดยใช้ข้อมูลจาก 4 หน่วยงาน คำถามหลักคือ จังหวัดที่ได้รับความเสียหายจากน้ำท่วมมาก เป็นจังหวัดเดียวกับที่น้ำท่วมซ้ำซากหรือไม่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ข้อมูลของเราเป็น complex data เพราะมาจาก 4 หน่วยงาน คนละรูปแบบไฟล์ คนละความละเอียด: ปภ. ให้สถิติความเสียหาย, สถาบันสารสนเทศทรัพยากรน้ำ (ThaiWater) ให้ปริมาณฝนรายเดือนรายจังหวัด, กรมการปกครองให้จำนวนประชากร ซึ่งไฟล์ .xls จริงๆ เป็นตาราง HTML, และแผนที่น้ำท่วมซ้ำซากที่เราใช้เป็นตัวอ้างอิงตอนประเมินผล เป็นข้อมูลเชิงพื้นที่และเวลา และมี attribute ที่เบ้มาก การประยุกต์ใช้คือช่วยจัดลำดับพื้นที่เสี่ยงให้หน่วยงานวางแผนงบประมาณและการเตรียมรับมือ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ตัวเลขนี้แสดงความซับซ้อนของข้อมูล: แถวดิบของ ปภ. รวม 44,044 แถว แต่ละปีมีคอลัมน์ 44 ถึง 66 คอลัมน์และ schema ไม่เหมือนกันเลย ปี 2019 เป็นระดับจังหวัด ปี 2020–2022 เป็นระดับอำเภอต่อเหตุการณ์ ปี 2024 เป็นระดับหมู่บ้านเกือบ 35,000 แถว และปี 2023 เปลี่ยนเป็นหมวดความเสียหายแบบหยาบ 13 หมวด นอกจากนี้ยังมีแถวยอดรวม 144 แถวแทรกอยู่ในข้อมูล ถ้าไม่ลบจะนับซ้ำ และชื่อจังหวัดเขียนได้หลายแบบ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จากการสำรวจข้อมูล ผลกระทบต่างกันมากในแต่ละปี ปี 2022 จากพายุโนรูมีผู้ได้รับผลกระทบ 8.2 ล้านคน มากกว่าปี 2023 ถึง 7 เท่า แผนที่ด้านขวาแสดงว่าผู้ได้รับผลกระทบต่อประชากรพันคนสูงในภาคเหนือและใต้สุด ขณะที่ฝนมากที่สุดอยู่ภาคตะวันออกและฝั่งอันดามัน แปลว่าฝนอย่างเดียวอธิบายผลกระทบไม่ได้ เกือบทุกจังหวัดมีการประกาศภัยทุกปี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attribute ความเสียหาย 48 ตัวในไฟล์ปี 2019 มีค่าความเบ้มัธยฐาน 5.3 และมีค่าศูนย์เฉลี่ยถึง 82% ของจังหวัด ถ้าเอาค่าดิบไปทำ clustering ที่ใช้ระยะทาง จังหวัดไม่กี่จังหวัดจะครอบงำผลทั้งหมด จึงต้องทำ normalisation ด้วยประชากร/พื้นที่ และ log transform และ feature หลายตัวมีความสัมพันธ์กัน จึงใช้ PCA ต่อ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ขั้นตอนรวมข้อมูลมี 5 ขั้น: อ่านไฟล์ 6 รูปแบบ, ทำความสะอาดโดยลบแถวยอดรวม 144 แถว และแปลง '-' กับช่องว่างเป็นศูนย์, harmonise คอลัมน์ 44–66 คอลัมน์ให้เหลือ attribute ร่วมกัน, จับคู่ชื่อจังหวัดเป็นรหัสจังหวัด 77 รหัสโดยไม่มีชื่อที่จับคู่ไม่ได้, แล้ว join กับฝนและประชากรด้วยจังหวัดและปี เราตรวจว่ายอดรวมรายปีตรงกับแถวยอดรวมทางการของ ปภ. ก่อนเติมค่าที่หายไป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ต่อมาคือการจัดการค่าที่หายไป ข้อมูลมีศูนย์ที่จริงๆ คือค่าหาย เช่น ร้อยเอ็ดปี 2019 มีครัวเรือน 47,822 แต่จำนวนคนเป็นศูนย์ เราเติมด้วยจำนวนครัวเรือนคูณค่ามัธยฐานคนต่อครัวเรือน 2.74 นอกจากนี้ตัด feature ที่ไม่น่าเชื่อถือ เช่น ผู้อพยพ ที่ schema ปี 2023 บันทึกได้แค่ 20 คนทั้งประเทศ แล้ว normalise ต่อประชากรหรือพื้นที่ ทำ log1p และ z-score ทำให้ความเบ้ลดเหลือใกล้ศูนย์ สุดท้ายใช้ PCA เหลือ 5 องค์ประกอบ ครอบคลุม 85% ของความแปรปรวน และ PC1 ใช้เป็นดัชนีความรุนแรง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เทคนิคแรกคือ clustering เปรียบเทียบ K-Means ที่เรียนในห้อง กับ HDBSCAN ที่ไม่ได้เรียน HDBSCAN เป็น clustering แบบอิงความหนาแน่นเชิงลำดับชั้น ไม่ต้องกำหนดจำนวน k ล่วงหน้า และติดป้าย noise ให้จุดที่อยู่ในบริเวณความหนาแน่นต่ำ จึงใช้หา outlier ได้ ส่วน K-Means เราเลือก k ด้วย elbow, silhouette และความเสถียรเมื่อเปลี่ยน random seed 20 ครั้ง ทั้งสองวิธีใช้ PCA score 5 มิติของ 77 จังหวัดเป็น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เทคนิคที่สองคือสถิติ spatial autocorrelation ซึ่งไม่ได้เรียนในห้อง Global Moran's I วัดว่าจังหวัดที่ติดกันมีความรุนแรงคล้ายกันหรือไม่ ถ้ามากกว่าศูนย์แปลว่าจับกลุ่มเชิงพื้นที่ ส่วน LISA หรือ Local Moran คำนวณค่าให้แต่ละจังหวัด แบ่งเป็น HH คือ hotspot ที่จังหวัดนั้นและเพื่อนบ้านรุนแรงสูง, LL คือ coldspot, และ HL/LH คือ outlier เชิงพื้นที่ ทดสอบนัยสำคัญด้วย permutation 9,999 ครั้ง น้ำหนักเชิงพื้นที่ใช้ Queen contiguity คือจังหวัดที่มีเขตแดนติดกัน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ผลจาก K-Means ได้ 4 กลุ่ม: K2 น้ำป่าไหลหลาก ผลกระทบต่อคนสูง อยู่ภาคเหนือตอนบนและใต้สุด ผู้ได้รับผลกระทบเฉลี่ย 70 คนต่อพันคนต่อปี; K3 น้ำท่วมพื้นที่เกษตรในลุ่มน้ำ อยู่อีสานและภาคเหนือตอนล่าง พื้นที่เกษตรเสียหาย 10 ไร่ต่อตารางกิโลเมตรต่อปี; K1 ผลกระทบปานกลาง; และ K0 ผลกระทบที่รายงานต่ำ คือกรุงเทพฯ-ปริมณฑลและริมโขง ชื่อกลุ่มตั้งจากโปรไฟล์ค่ามัธยฐานของแต่ละกลุ่ม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HDBSCAN ให้ผลต่างจาก K-Means: เจอแกนหนาแน่นกลุ่มเดียว 71 จังหวัด กลุ่มเล็กอีก 1 กลุ่ม และ noise 3 จังหวัด คือ กรุงเทพฯ อยุธยา และสิงห์บุรี แปลว่าผลกระทบน้ำท่วมเปลี่ยนแบบต่อเนื่อง ไม่มีช่องว่างความหนาแน่นแบ่งกลุ่มตามธรรมชาติ K-Means จึงเป็นการแบ่งช่วงของ gradient ให้ใช้งานได้ ส่วน HDBSCAN มีประโยชน์ในการชี้จังหวัดที่ผิดปกติ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Moran's I ของดัชนีความรุนแรงเท่ากับ 0.44 มีนัยสำคัญสูงมาก แปลว่าจังหวัดที่ติดกันมีความรุนแรงคล้ายกัน และเป็นแบบนี้ทุกปีตั้งแต่ 2019 ถึง 2024 ค่า I อยู่ระหว่าง 0.26 ถึง 0.42 LISA พบ hotspot 9 จังหวัด กระจุกตัวในภาคเหนือตอนบนและตอนล่าง เช่น เชียงราย ลำปาง แพร่ ตาก สุโขทัย และ coldspot 12 จังหวัด คือกรุงเทพฯ-ปริมณฑล ริมโขงอีสาน และชายฝั่งตะวันตก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ส่วน demo: โค้ดแบ่งเป็นสองส่วน ไฟล์ build_dataset.py สำหรับอ่านและรวมข้อมูล และ notebook สำหรับการวิเคราะห์ทั้งหมด ใช้ pandas, geopandas, scikit-learn สำหรับ K-Means, HDBSCAN, PCA และ PySAL สำหรับ Moran's I กับ LISA ในวิดีโอให้รัน notebook ตั้งแต่ต้นจนจบ ใช้เวลาประมาณ 1 นาที แล้วโชว์แผนที่ cluster และ LISA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การประเมินภายใน: ตารางซ้ายคือการเลือก k silhouette สูงสุดที่ k=2 แต่เป็นแค่การแบ่งท่วมมากกับท่วมน้อย k=3 ถึง 8 มี silhouette ใกล้กันมาก ประมาณ 0.2 เราจึงใช้เกณฑ์ความเสถียรเพิ่ม เลือก k=4 ซึ่ง ARI ระหว่าง seed เท่ากับ 0.80 ด้านขวา HDBSCAN มี silhouette สูงกว่า 0.47 แต่เพราะมีกลุ่มใหญ่กลุ่มเดียว 71 จังหวัด ค่า silhouette ประมาณ 0.2 บอกว่าโครงสร้างกลุ่มอ่อน ข้อมูลเป็น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การประเมินภายนอกเทียบกับแผนที่น้ำท่วมซ้ำซาก ดัชนีความรุนแรงโดยรวมไม่สัมพันธ์กับสัดส่วนพื้นที่น้ำท่วมซ้ำซาก ρ เท่ากับ 0.03 แต่กลุ่ม K3 น้ำท่วมพื้นที่เกษตรสอดคล้องกับแผนที่อย่างมีนัยสำคัญ F1 0.51 เทียบกับสุ่มที่ 0.30 p เท่ากับ 0.007 ส่วน hotspot น้ำป่าภาคเหนือไม่ตรงเลย เพราะเป็นภัยคนละแบบ LISA ของแผนที่อ้างอิงพบ hotspot ที่ลุ่มเจ้าพระยาตอนล่าง ซึ่งเป็นจังหวัดที่รายงานผลกระทบต่ำ แผนที่ขวาสุดแสดงการจับคู่: ม่วงคือสูงทั้งคู่, แดงคือผลกระทบอย่างเดียว, น้ำเงินคือท่วมซ้ำซากอย่างเดียว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ข้อค้นพบหลัก 4 ข้อ: หนึ่ง ประเทศไทยมีปัญหาน้ำท่วมสองแบบ คือน้ำป่าไหลหลากที่กระทบคนในภาคเหนือและใต้สุด และน้ำท่วมลุ่มน้ำที่กระทบพื้นที่เกษตร สอง ผลกระทบจับกลุ่มเชิงพื้นที่อย่างมีนัยสำคัญทุกปี สาม พื้นที่ท่วมซ้ำซากไม่ใช่พื้นที่ที่รายงานความเสียหายมาก ลุ่มเจ้าพระยาตอนล่างท่วมบ่อยที่สุดแต่รายงานผลกระทบน้อย อาจเพราะมีระบบป้องกันหรือรายงานไม่ครบ สี่ งานส่วนใหญ่คือการเตรียมข้อมูล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การนำไปใช้: หนึ่ง เตรียมรับมือให้ตรงประเภท จังหวัดน้ำป่าเน้นเตือนภัยล่วงหน้าและอพยพ จังหวัดลุ่มน้ำเน้นประกันพืชผลและการระบายน้ำ สอง จัดสรรงบประมาณตาม hotspot ระดับภูมิภาค สาม ตรวจคุณภาพข้อมูล จังหวัดที่ท่วมซ้ำซากแต่รายงานผลกระทบต่ำอาจมีการรายงานไม่ครบ สี่ รันซ้ำทุกปีเพื่อติดตามว่า hotspot เคลื่อนที่หรือไม่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รายการอ้างอิงแหล่งข้อมูลและเอกสารวิชาการของเทคนิคที่ใช้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463040"/>
          </a:xfrm>
          <a:prstGeom prst="rect">
            <a:avLst/>
          </a:prstGeom>
          <a:noFill/>
          <a:ln/>
        </p:spPr>
        <p:txBody>
          <a:bodyPr wrap="square" rtlCol="0"/>
          <a:lstStyle>
            <a:lvl1pPr indent="0" marL="0">
              <a:buNone/>
              <a:defRPr lang="en-US" sz="3600" b="1" dirty="0">
                <a:solidFill>
                  <a:schemeClr val="bg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ph idx="101" type="body" hasCustomPrompt="1"/>
          </p:nvPr>
        </p:nvSpPr>
        <p:spPr>
          <a:xfrm>
            <a:off x="548640" y="2743200"/>
            <a:ext cx="8046720" cy="17373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457200" y="4800600"/>
            <a:ext cx="5486400" cy="228600"/>
          </a:xfrm>
          <a:prstGeom prst="rect">
            <a:avLst/>
          </a:prstGeom>
          <a:noFill/>
          <a:ln/>
        </p:spPr>
        <p:txBody>
          <a:bodyPr wrap="square" rtlCol="0" anchor="ctr"/>
          <a:lstStyle/>
          <a:p>
            <a:pPr indent="0" marL="0">
              <a:buNone/>
            </a:pPr>
            <a:r>
              <a:rPr lang="en-US" sz="900" dirty="0">
                <a:solidFill>
                  <a:schemeClr val="accent6"/>
                </a:solidFill>
              </a:rPr>
              <a:t>Flood impact clustering · Thailand 2019–2024</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D787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914400"/>
          </a:xfrm>
          <a:prstGeom prst="rect">
            <a:avLst/>
          </a:prstGeom>
          <a:noFill/>
          <a:ln/>
        </p:spPr>
        <p:txBody>
          <a:bodyPr wrap="square" rtlCol="0"/>
          <a:lstStyle>
            <a:lvl1pPr indent="0" marL="0">
              <a:buNone/>
              <a:defRPr lang="en-US" sz="3600" b="1" dirty="0">
                <a:solidFill>
                  <a:schemeClr val="bg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ph idx="101" type="body" hasCustomPrompt="1"/>
          </p:nvPr>
        </p:nvSpPr>
        <p:spPr>
          <a:xfrm>
            <a:off x="548640" y="2697480"/>
            <a:ext cx="8046720" cy="73152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463040"/>
          </a:xfrm>
          <a:prstGeom prst="rect">
            <a:avLst/>
          </a:prstGeom>
          <a:noFill/>
          <a:ln/>
        </p:spPr>
        <p:txBody>
          <a:bodyPr wrap="square" rtlCol="0" anchor="b"/>
          <a:lstStyle/>
          <a:p>
            <a:pPr indent="0" marL="0">
              <a:buNone/>
            </a:pPr>
            <a:r>
              <a:rPr lang="en-US" sz="3600" b="1" dirty="0">
                <a:solidFill>
                  <a:schemeClr val="bg1"/>
                </a:solidFill>
                <a:latin typeface="Cambria" pitchFamily="34" charset="0"/>
                <a:ea typeface="Cambria" pitchFamily="34" charset="-122"/>
                <a:cs typeface="Cambria" pitchFamily="34" charset="-120"/>
              </a:rPr>
              <a:t>Where Floods Hurt vs. Where Water Recurs: Spatial Clustering of Flood Impact in Thailand (2019–2024)</a:t>
            </a:r>
            <a:endParaRPr lang="en-US" sz="3600" dirty="0"/>
          </a:p>
        </p:txBody>
      </p:sp>
      <p:sp>
        <p:nvSpPr>
          <p:cNvPr id="3" name="Text 0"/>
          <p:cNvSpPr/>
          <p:nvPr>
            <p:ph idx="101" type="body" hasCustomPrompt="1"/>
          </p:nvPr>
        </p:nvSpPr>
        <p:spPr>
          <a:xfrm>
            <a:off x="548640" y="2743200"/>
            <a:ext cx="8046720" cy="1737360"/>
          </a:xfrm>
          <a:prstGeom prst="rect">
            <a:avLst/>
          </a:prstGeom>
          <a:noFill/>
          <a:ln/>
        </p:spPr>
        <p:txBody>
          <a:bodyPr wrap="square" rtlCol="0" anchor="t"/>
          <a:lstStyle/>
          <a:p>
            <a:pPr indent="0" marL="0">
              <a:buNone/>
            </a:pPr>
            <a:r>
              <a:rPr lang="en-US" sz="1800" dirty="0">
                <a:solidFill>
                  <a:schemeClr val="bg2"/>
                </a:solidFill>
              </a:rPr>
              <a:t>Group Assignment: Analytics on Complex Data</a:t>
            </a:r>
            <a:endParaRPr lang="en-US" sz="1800" dirty="0"/>
          </a:p>
          <a:p>
            <a:pPr indent="0" marL="0">
              <a:buNone/>
            </a:pPr>
            <a:r>
              <a:rPr lang="en-US" sz="1800" dirty="0">
                <a:solidFill>
                  <a:schemeClr val="bg2"/>
                </a:solidFill>
              </a:rPr>
              <a:t>Presented by: [Member 1] · [Member 2] · [Member 3]</a:t>
            </a:r>
            <a:endParaRPr lang="en-US" sz="1800" dirty="0"/>
          </a:p>
          <a:p>
            <a:pPr indent="0" marL="0">
              <a:buNone/>
            </a:pPr>
            <a:r>
              <a:rPr lang="en-US" sz="1800" dirty="0">
                <a:solidFill>
                  <a:schemeClr val="bg2"/>
                </a:solidFill>
              </a:rPr>
              <a:t>Faculty of Engineering, Kasetsart University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Complex data: 4 agencies, 6 schemas, 1 map</a:t>
            </a:r>
            <a:endParaRPr lang="en-US" sz="2800" dirty="0"/>
          </a:p>
        </p:txBody>
      </p:sp>
      <p:sp>
        <p:nvSpPr>
          <p:cNvPr id="3" name="Shape 1"/>
          <p:cNvSpPr/>
          <p:nvPr/>
        </p:nvSpPr>
        <p:spPr>
          <a:xfrm>
            <a:off x="457200" y="1051560"/>
            <a:ext cx="4023360" cy="1097280"/>
          </a:xfrm>
          <a:prstGeom prst="roundRect">
            <a:avLst>
              <a:gd name="adj" fmla="val 6667"/>
            </a:avLst>
          </a:prstGeom>
          <a:solidFill>
            <a:srgbClr val="EAF2F8"/>
          </a:solidFill>
          <a:ln w="12700">
            <a:solidFill>
              <a:srgbClr val="EAF2F8"/>
            </a:solidFill>
            <a:prstDash val="solid"/>
          </a:ln>
        </p:spPr>
      </p:sp>
      <p:sp>
        <p:nvSpPr>
          <p:cNvPr id="4" name="Text 2"/>
          <p:cNvSpPr txBox="1"/>
          <p:nvPr/>
        </p:nvSpPr>
        <p:spPr>
          <a:xfrm>
            <a:off x="594360" y="1143000"/>
            <a:ext cx="3749040" cy="320040"/>
          </a:xfrm>
          <a:prstGeom prst="rect">
            <a:avLst/>
          </a:prstGeom>
          <a:noFill/>
          <a:ln/>
        </p:spPr>
        <p:txBody>
          <a:bodyPr wrap="square" lIns="635" tIns="635" rIns="635" bIns="635" rtlCol="0" anchor="t"/>
          <a:lstStyle/>
          <a:p>
            <a:pPr indent="0" marL="0">
              <a:buNone/>
            </a:pPr>
            <a:r>
              <a:rPr lang="en-US" sz="1500" b="1" dirty="0">
                <a:solidFill>
                  <a:schemeClr val="tx2"/>
                </a:solidFill>
              </a:rPr>
              <a:t>DDPM (ปภ.)</a:t>
            </a:r>
            <a:endParaRPr lang="en-US" sz="1500" dirty="0"/>
          </a:p>
        </p:txBody>
      </p:sp>
      <p:sp>
        <p:nvSpPr>
          <p:cNvPr id="5" name="Text 3"/>
          <p:cNvSpPr txBox="1"/>
          <p:nvPr/>
        </p:nvSpPr>
        <p:spPr>
          <a:xfrm>
            <a:off x="594360" y="1463040"/>
            <a:ext cx="3749040" cy="640080"/>
          </a:xfrm>
          <a:prstGeom prst="rect">
            <a:avLst/>
          </a:prstGeom>
          <a:noFill/>
          <a:ln/>
        </p:spPr>
        <p:txBody>
          <a:bodyPr wrap="square" lIns="635" tIns="635" rIns="635" bIns="635" rtlCol="0" anchor="t"/>
          <a:lstStyle/>
          <a:p>
            <a:pPr indent="0" marL="0">
              <a:buNone/>
            </a:pPr>
            <a:r>
              <a:rPr lang="en-US" sz="1200" dirty="0">
                <a:solidFill>
                  <a:schemeClr val="tx1"/>
                </a:solidFill>
              </a:rPr>
              <a:t>Flood disaster statistics 2019–2024: affected people, houses, farmland, roads … (xlsx)</a:t>
            </a:r>
            <a:endParaRPr lang="en-US" sz="1200" dirty="0"/>
          </a:p>
        </p:txBody>
      </p:sp>
      <p:sp>
        <p:nvSpPr>
          <p:cNvPr id="6" name="Shape 4"/>
          <p:cNvSpPr/>
          <p:nvPr/>
        </p:nvSpPr>
        <p:spPr>
          <a:xfrm>
            <a:off x="4663440" y="1051560"/>
            <a:ext cx="4023360" cy="1097280"/>
          </a:xfrm>
          <a:prstGeom prst="roundRect">
            <a:avLst>
              <a:gd name="adj" fmla="val 6667"/>
            </a:avLst>
          </a:prstGeom>
          <a:solidFill>
            <a:srgbClr val="EAF2F8"/>
          </a:solidFill>
          <a:ln w="12700">
            <a:solidFill>
              <a:srgbClr val="EAF2F8"/>
            </a:solidFill>
            <a:prstDash val="solid"/>
          </a:ln>
        </p:spPr>
      </p:sp>
      <p:sp>
        <p:nvSpPr>
          <p:cNvPr id="7" name="Text 5"/>
          <p:cNvSpPr txBox="1"/>
          <p:nvPr/>
        </p:nvSpPr>
        <p:spPr>
          <a:xfrm>
            <a:off x="4800600" y="1143000"/>
            <a:ext cx="3749040" cy="320040"/>
          </a:xfrm>
          <a:prstGeom prst="rect">
            <a:avLst/>
          </a:prstGeom>
          <a:noFill/>
          <a:ln/>
        </p:spPr>
        <p:txBody>
          <a:bodyPr wrap="square" lIns="635" tIns="635" rIns="635" bIns="635" rtlCol="0" anchor="t"/>
          <a:lstStyle/>
          <a:p>
            <a:pPr indent="0" marL="0">
              <a:buNone/>
            </a:pPr>
            <a:r>
              <a:rPr lang="en-US" sz="1500" b="1" dirty="0">
                <a:solidFill>
                  <a:schemeClr val="tx2"/>
                </a:solidFill>
              </a:rPr>
              <a:t>HII / ThaiWater</a:t>
            </a:r>
            <a:endParaRPr lang="en-US" sz="1500" dirty="0"/>
          </a:p>
        </p:txBody>
      </p:sp>
      <p:sp>
        <p:nvSpPr>
          <p:cNvPr id="8" name="Text 6"/>
          <p:cNvSpPr txBox="1"/>
          <p:nvPr/>
        </p:nvSpPr>
        <p:spPr>
          <a:xfrm>
            <a:off x="4800600" y="1463040"/>
            <a:ext cx="3749040" cy="640080"/>
          </a:xfrm>
          <a:prstGeom prst="rect">
            <a:avLst/>
          </a:prstGeom>
          <a:noFill/>
          <a:ln/>
        </p:spPr>
        <p:txBody>
          <a:bodyPr wrap="square" lIns="635" tIns="635" rIns="635" bIns="635" rtlCol="0" anchor="t"/>
          <a:lstStyle/>
          <a:p>
            <a:pPr indent="0" marL="0">
              <a:buNone/>
            </a:pPr>
            <a:r>
              <a:rPr lang="en-US" sz="1200" dirty="0">
                <a:solidFill>
                  <a:schemeClr val="tx1"/>
                </a:solidFill>
              </a:rPr>
              <a:t>Monthly areal rainfall per province + 30-yr normal (csv)</a:t>
            </a:r>
            <a:endParaRPr lang="en-US" sz="1200" dirty="0"/>
          </a:p>
        </p:txBody>
      </p:sp>
      <p:sp>
        <p:nvSpPr>
          <p:cNvPr id="9" name="Shape 7"/>
          <p:cNvSpPr/>
          <p:nvPr/>
        </p:nvSpPr>
        <p:spPr>
          <a:xfrm>
            <a:off x="457200" y="2286000"/>
            <a:ext cx="4023360" cy="1097280"/>
          </a:xfrm>
          <a:prstGeom prst="roundRect">
            <a:avLst>
              <a:gd name="adj" fmla="val 6667"/>
            </a:avLst>
          </a:prstGeom>
          <a:solidFill>
            <a:srgbClr val="EAF2F8"/>
          </a:solidFill>
          <a:ln w="12700">
            <a:solidFill>
              <a:srgbClr val="EAF2F8"/>
            </a:solidFill>
            <a:prstDash val="solid"/>
          </a:ln>
        </p:spPr>
      </p:sp>
      <p:sp>
        <p:nvSpPr>
          <p:cNvPr id="10" name="Text 8"/>
          <p:cNvSpPr txBox="1"/>
          <p:nvPr/>
        </p:nvSpPr>
        <p:spPr>
          <a:xfrm>
            <a:off x="594360" y="2377440"/>
            <a:ext cx="3749040" cy="320040"/>
          </a:xfrm>
          <a:prstGeom prst="rect">
            <a:avLst/>
          </a:prstGeom>
          <a:noFill/>
          <a:ln/>
        </p:spPr>
        <p:txBody>
          <a:bodyPr wrap="square" lIns="635" tIns="635" rIns="635" bIns="635" rtlCol="0" anchor="t"/>
          <a:lstStyle/>
          <a:p>
            <a:pPr indent="0" marL="0">
              <a:buNone/>
            </a:pPr>
            <a:r>
              <a:rPr lang="en-US" sz="1500" b="1" dirty="0">
                <a:solidFill>
                  <a:schemeClr val="tx2"/>
                </a:solidFill>
              </a:rPr>
              <a:t>DOPA (กรมการปกครอง)</a:t>
            </a:r>
            <a:endParaRPr lang="en-US" sz="1500" dirty="0"/>
          </a:p>
        </p:txBody>
      </p:sp>
      <p:sp>
        <p:nvSpPr>
          <p:cNvPr id="11" name="Text 9"/>
          <p:cNvSpPr txBox="1"/>
          <p:nvPr/>
        </p:nvSpPr>
        <p:spPr>
          <a:xfrm>
            <a:off x="594360" y="2697480"/>
            <a:ext cx="3749040" cy="640080"/>
          </a:xfrm>
          <a:prstGeom prst="rect">
            <a:avLst/>
          </a:prstGeom>
          <a:noFill/>
          <a:ln/>
        </p:spPr>
        <p:txBody>
          <a:bodyPr wrap="square" lIns="635" tIns="635" rIns="635" bIns="635" rtlCol="0" anchor="t"/>
          <a:lstStyle/>
          <a:p>
            <a:pPr indent="0" marL="0">
              <a:buNone/>
            </a:pPr>
            <a:r>
              <a:rPr lang="en-US" sz="1200" dirty="0">
                <a:solidFill>
                  <a:schemeClr val="tx1"/>
                </a:solidFill>
              </a:rPr>
              <a:t>Registered population per province per year (HTML tables saved as .xls)</a:t>
            </a:r>
            <a:endParaRPr lang="en-US" sz="1200" dirty="0"/>
          </a:p>
        </p:txBody>
      </p:sp>
      <p:sp>
        <p:nvSpPr>
          <p:cNvPr id="12" name="Shape 10"/>
          <p:cNvSpPr/>
          <p:nvPr/>
        </p:nvSpPr>
        <p:spPr>
          <a:xfrm>
            <a:off x="4663440" y="2286000"/>
            <a:ext cx="4023360" cy="1097280"/>
          </a:xfrm>
          <a:prstGeom prst="roundRect">
            <a:avLst>
              <a:gd name="adj" fmla="val 6667"/>
            </a:avLst>
          </a:prstGeom>
          <a:solidFill>
            <a:srgbClr val="EAF2F8"/>
          </a:solidFill>
          <a:ln w="12700">
            <a:solidFill>
              <a:srgbClr val="EAF2F8"/>
            </a:solidFill>
            <a:prstDash val="solid"/>
          </a:ln>
        </p:spPr>
      </p:sp>
      <p:sp>
        <p:nvSpPr>
          <p:cNvPr id="13" name="Text 11"/>
          <p:cNvSpPr txBox="1"/>
          <p:nvPr/>
        </p:nvSpPr>
        <p:spPr>
          <a:xfrm>
            <a:off x="4800600" y="2377440"/>
            <a:ext cx="3749040" cy="320040"/>
          </a:xfrm>
          <a:prstGeom prst="rect">
            <a:avLst/>
          </a:prstGeom>
          <a:noFill/>
          <a:ln/>
        </p:spPr>
        <p:txBody>
          <a:bodyPr wrap="square" lIns="635" tIns="635" rIns="635" bIns="635" rtlCol="0" anchor="t"/>
          <a:lstStyle/>
          <a:p>
            <a:pPr indent="0" marL="0">
              <a:buNone/>
            </a:pPr>
            <a:r>
              <a:rPr lang="en-US" sz="1500" b="1" dirty="0">
                <a:solidFill>
                  <a:schemeClr val="tx2"/>
                </a:solidFill>
              </a:rPr>
              <a:t>Recurrent-flood map (LDD)</a:t>
            </a:r>
            <a:endParaRPr lang="en-US" sz="1500" dirty="0"/>
          </a:p>
        </p:txBody>
      </p:sp>
      <p:sp>
        <p:nvSpPr>
          <p:cNvPr id="14" name="Text 12"/>
          <p:cNvSpPr txBox="1"/>
          <p:nvPr/>
        </p:nvSpPr>
        <p:spPr>
          <a:xfrm>
            <a:off x="4800600" y="2697480"/>
            <a:ext cx="3749040" cy="640080"/>
          </a:xfrm>
          <a:prstGeom prst="rect">
            <a:avLst/>
          </a:prstGeom>
          <a:noFill/>
          <a:ln/>
        </p:spPr>
        <p:txBody>
          <a:bodyPr wrap="square" lIns="635" tIns="635" rIns="635" bIns="635" rtlCol="0" anchor="t"/>
          <a:lstStyle/>
          <a:p>
            <a:pPr indent="0" marL="0">
              <a:buNone/>
            </a:pPr>
            <a:r>
              <a:rPr lang="en-US" sz="1200" dirty="0">
                <a:solidFill>
                  <a:schemeClr val="tx1"/>
                </a:solidFill>
              </a:rPr>
              <a:t>Land flooded ≥4 times in 10 yrs, per sub-district – used as validation reference</a:t>
            </a:r>
            <a:endParaRPr lang="en-US" sz="1200" dirty="0"/>
          </a:p>
        </p:txBody>
      </p:sp>
      <p:sp>
        <p:nvSpPr>
          <p:cNvPr id="15" name="Text 13"/>
          <p:cNvSpPr txBox="1"/>
          <p:nvPr/>
        </p:nvSpPr>
        <p:spPr>
          <a:xfrm>
            <a:off x="457200" y="3611880"/>
            <a:ext cx="8229600" cy="548640"/>
          </a:xfrm>
          <a:prstGeom prst="rect">
            <a:avLst/>
          </a:prstGeom>
          <a:noFill/>
          <a:ln/>
        </p:spPr>
        <p:txBody>
          <a:bodyPr wrap="square" lIns="635" tIns="635" rIns="635" bIns="635" rtlCol="0" anchor="t"/>
          <a:lstStyle/>
          <a:p>
            <a:pPr indent="0" marL="0">
              <a:buNone/>
            </a:pPr>
            <a:r>
              <a:rPr lang="en-US" sz="1300" b="1" dirty="0">
                <a:solidFill>
                  <a:schemeClr val="tx1"/>
                </a:solidFill>
              </a:rPr>
              <a:t>Why complex? </a:t>
            </a:r>
            <a:pPr indent="0" marL="0">
              <a:buNone/>
            </a:pPr>
            <a:r>
              <a:rPr lang="en-US" sz="1300" dirty="0">
                <a:solidFill>
                  <a:schemeClr val="tx1"/>
                </a:solidFill>
              </a:rPr>
              <a:t>multi-source &amp; multi-format · spatial (polygons + neighbours) · temporal (6 yrs) · heterogeneous granularity (province / district-event / village) · ~49 heavily skewed, zero-inflated attributes</a:t>
            </a:r>
            <a:endParaRPr lang="en-US" sz="1300" dirty="0"/>
          </a:p>
        </p:txBody>
      </p:sp>
      <p:sp>
        <p:nvSpPr>
          <p:cNvPr id="16" name="Text 14"/>
          <p:cNvSpPr txBox="1"/>
          <p:nvPr/>
        </p:nvSpPr>
        <p:spPr>
          <a:xfrm>
            <a:off x="457200" y="4160520"/>
            <a:ext cx="8229600" cy="457200"/>
          </a:xfrm>
          <a:prstGeom prst="rect">
            <a:avLst/>
          </a:prstGeom>
          <a:noFill/>
          <a:ln/>
        </p:spPr>
        <p:txBody>
          <a:bodyPr wrap="square" lIns="635" tIns="635" rIns="635" bIns="635" rtlCol="0" anchor="t"/>
          <a:lstStyle/>
          <a:p>
            <a:pPr indent="0" marL="0">
              <a:buNone/>
            </a:pPr>
            <a:r>
              <a:rPr lang="en-US" sz="1300" b="1" dirty="0">
                <a:solidFill>
                  <a:schemeClr val="accent1"/>
                </a:solidFill>
              </a:rPr>
              <a:t>Application: </a:t>
            </a:r>
            <a:pPr indent="0" marL="0">
              <a:buNone/>
            </a:pPr>
            <a:r>
              <a:rPr lang="en-US" sz="1300" dirty="0">
                <a:solidFill>
                  <a:schemeClr val="accent1"/>
                </a:solidFill>
              </a:rPr>
              <a:t>flood-risk zoning for DDPM budget &amp; preparedness – which provinces need which type of intervention?</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The raw data is messy by design</a:t>
            </a:r>
            <a:endParaRPr lang="en-US" sz="2800" dirty="0"/>
          </a:p>
        </p:txBody>
      </p:sp>
      <p:sp>
        <p:nvSpPr>
          <p:cNvPr id="3" name="Text 1"/>
          <p:cNvSpPr txBox="1"/>
          <p:nvPr/>
        </p:nvSpPr>
        <p:spPr>
          <a:xfrm>
            <a:off x="457200" y="1097280"/>
            <a:ext cx="1920240" cy="59436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44,044</a:t>
            </a:r>
            <a:endParaRPr lang="en-US" sz="3400" dirty="0"/>
          </a:p>
        </p:txBody>
      </p:sp>
      <p:sp>
        <p:nvSpPr>
          <p:cNvPr id="4" name="Text 2"/>
          <p:cNvSpPr txBox="1"/>
          <p:nvPr/>
        </p:nvSpPr>
        <p:spPr>
          <a:xfrm>
            <a:off x="457200" y="1691640"/>
            <a:ext cx="1920240" cy="502920"/>
          </a:xfrm>
          <a:prstGeom prst="rect">
            <a:avLst/>
          </a:prstGeom>
          <a:noFill/>
          <a:ln/>
        </p:spPr>
        <p:txBody>
          <a:bodyPr wrap="square" lIns="0" tIns="0" rIns="0" bIns="0" rtlCol="0" anchor="t"/>
          <a:lstStyle/>
          <a:p>
            <a:pPr indent="0" marL="0">
              <a:buNone/>
            </a:pPr>
            <a:r>
              <a:rPr lang="en-US" sz="1100" dirty="0">
                <a:solidFill>
                  <a:schemeClr val="accent6"/>
                </a:solidFill>
              </a:rPr>
              <a:t>raw DDPM rows (province, district-event and village level)</a:t>
            </a:r>
            <a:endParaRPr lang="en-US" sz="1100" dirty="0"/>
          </a:p>
        </p:txBody>
      </p:sp>
      <p:sp>
        <p:nvSpPr>
          <p:cNvPr id="5" name="Text 3"/>
          <p:cNvSpPr txBox="1"/>
          <p:nvPr/>
        </p:nvSpPr>
        <p:spPr>
          <a:xfrm>
            <a:off x="2514600" y="1097280"/>
            <a:ext cx="1920240" cy="59436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44–66</a:t>
            </a:r>
            <a:endParaRPr lang="en-US" sz="3400" dirty="0"/>
          </a:p>
        </p:txBody>
      </p:sp>
      <p:sp>
        <p:nvSpPr>
          <p:cNvPr id="6" name="Text 4"/>
          <p:cNvSpPr txBox="1"/>
          <p:nvPr/>
        </p:nvSpPr>
        <p:spPr>
          <a:xfrm>
            <a:off x="2514600" y="1691640"/>
            <a:ext cx="1920240" cy="502920"/>
          </a:xfrm>
          <a:prstGeom prst="rect">
            <a:avLst/>
          </a:prstGeom>
          <a:noFill/>
          <a:ln/>
        </p:spPr>
        <p:txBody>
          <a:bodyPr wrap="square" lIns="0" tIns="0" rIns="0" bIns="0" rtlCol="0" anchor="t"/>
          <a:lstStyle/>
          <a:p>
            <a:pPr indent="0" marL="0">
              <a:buNone/>
            </a:pPr>
            <a:r>
              <a:rPr lang="en-US" sz="1100" dirty="0">
                <a:solidFill>
                  <a:schemeClr val="accent6"/>
                </a:solidFill>
              </a:rPr>
              <a:t>columns per year – a different schema every year</a:t>
            </a:r>
            <a:endParaRPr lang="en-US" sz="1100" dirty="0"/>
          </a:p>
        </p:txBody>
      </p:sp>
      <p:sp>
        <p:nvSpPr>
          <p:cNvPr id="7" name="Text 5"/>
          <p:cNvSpPr txBox="1"/>
          <p:nvPr/>
        </p:nvSpPr>
        <p:spPr>
          <a:xfrm>
            <a:off x="4572000" y="1097280"/>
            <a:ext cx="1920240" cy="594360"/>
          </a:xfrm>
          <a:prstGeom prst="rect">
            <a:avLst/>
          </a:prstGeom>
          <a:noFill/>
          <a:ln/>
        </p:spPr>
        <p:txBody>
          <a:bodyPr wrap="square" lIns="0" tIns="0" rIns="0" bIns="0" rtlCol="0" anchor="t"/>
          <a:lstStyle/>
          <a:p>
            <a:pPr algn="l" indent="0" marL="0">
              <a:buNone/>
            </a:pPr>
            <a:r>
              <a:rPr lang="en-US" sz="3400" b="1" dirty="0">
                <a:solidFill>
                  <a:schemeClr val="accent2"/>
                </a:solidFill>
                <a:latin typeface="Cambria" pitchFamily="34" charset="0"/>
                <a:ea typeface="Cambria" pitchFamily="34" charset="-122"/>
                <a:cs typeface="Cambria" pitchFamily="34" charset="-120"/>
              </a:rPr>
              <a:t>144</a:t>
            </a:r>
            <a:endParaRPr lang="en-US" sz="3400" dirty="0"/>
          </a:p>
        </p:txBody>
      </p:sp>
      <p:sp>
        <p:nvSpPr>
          <p:cNvPr id="8" name="Text 6"/>
          <p:cNvSpPr txBox="1"/>
          <p:nvPr/>
        </p:nvSpPr>
        <p:spPr>
          <a:xfrm>
            <a:off x="4572000" y="1691640"/>
            <a:ext cx="1920240" cy="502920"/>
          </a:xfrm>
          <a:prstGeom prst="rect">
            <a:avLst/>
          </a:prstGeom>
          <a:noFill/>
          <a:ln/>
        </p:spPr>
        <p:txBody>
          <a:bodyPr wrap="square" lIns="0" tIns="0" rIns="0" bIns="0" rtlCol="0" anchor="t"/>
          <a:lstStyle/>
          <a:p>
            <a:pPr indent="0" marL="0">
              <a:buNone/>
            </a:pPr>
            <a:r>
              <a:rPr lang="en-US" sz="1100" dirty="0">
                <a:solidFill>
                  <a:schemeClr val="accent6"/>
                </a:solidFill>
              </a:rPr>
              <a:t>embedded subtotal / grand-total rows to remove</a:t>
            </a:r>
            <a:endParaRPr lang="en-US" sz="1100" dirty="0"/>
          </a:p>
        </p:txBody>
      </p:sp>
      <p:sp>
        <p:nvSpPr>
          <p:cNvPr id="9" name="Text 7"/>
          <p:cNvSpPr txBox="1"/>
          <p:nvPr/>
        </p:nvSpPr>
        <p:spPr>
          <a:xfrm>
            <a:off x="6629400" y="1097280"/>
            <a:ext cx="1920240" cy="59436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462</a:t>
            </a:r>
            <a:endParaRPr lang="en-US" sz="3400" dirty="0"/>
          </a:p>
        </p:txBody>
      </p:sp>
      <p:sp>
        <p:nvSpPr>
          <p:cNvPr id="10" name="Text 8"/>
          <p:cNvSpPr txBox="1"/>
          <p:nvPr/>
        </p:nvSpPr>
        <p:spPr>
          <a:xfrm>
            <a:off x="6629400" y="1691640"/>
            <a:ext cx="1920240" cy="502920"/>
          </a:xfrm>
          <a:prstGeom prst="rect">
            <a:avLst/>
          </a:prstGeom>
          <a:noFill/>
          <a:ln/>
        </p:spPr>
        <p:txBody>
          <a:bodyPr wrap="square" lIns="0" tIns="0" rIns="0" bIns="0" rtlCol="0" anchor="t"/>
          <a:lstStyle/>
          <a:p>
            <a:pPr indent="0" marL="0">
              <a:buNone/>
            </a:pPr>
            <a:r>
              <a:rPr lang="en-US" sz="1100" dirty="0">
                <a:solidFill>
                  <a:schemeClr val="accent6"/>
                </a:solidFill>
              </a:rPr>
              <a:t>clean province × year records (77 × 6)</a:t>
            </a:r>
            <a:endParaRPr lang="en-US" sz="1100" dirty="0"/>
          </a:p>
        </p:txBody>
      </p:sp>
      <p:graphicFrame>
        <p:nvGraphicFramePr>
          <p:cNvPr id="4" name="schema_table"/>
          <p:cNvGraphicFramePr>
            <a:graphicFrameLocks noGrp="1"/>
          </p:cNvGraphicFramePr>
          <p:nvPr>
            <p:extLst>
              <p:ext uri="{D42A27DB-BD31-4B8C-83A1-F6EECF244321}">
                <p14:modId xmlns:p14="http://schemas.microsoft.com/office/powerpoint/2010/main" val="1579011935"/>
              </p:ext>
            </p:extLst>
          </p:nvPr>
        </p:nvGraphicFramePr>
        <p:xfrm>
          <a:off x="457200" y="2423160"/>
          <a:ext cx="8229600" cy="914400"/>
        </p:xfrm>
        <a:graphic>
          <a:graphicData uri="http://schemas.openxmlformats.org/drawingml/2006/table">
            <a:tbl>
              <a:tblPr/>
              <a:tblGrid>
                <a:gridCol w="1188720"/>
                <a:gridCol w="2103120"/>
                <a:gridCol w="2011680"/>
                <a:gridCol w="292608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Year</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0B3C5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Granularity</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0B3C5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Header</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0B3C5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Damage scheme</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0B3C5D"/>
                    </a:solidFill>
                  </a:tcPr>
                </a:tc>
              </a:tr>
              <a:tr h="329184">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2019</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province</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Eng + Thai rows</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49 detailed + THB value</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329184">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2020–2022</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district-event</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1–2 merged rows</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56–60 detailed items</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329184">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2023</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province</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3 merged rows</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13 coarse categories</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329184">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2024</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village (34,881 rows)</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English</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indent="0" marL="0">
                        <a:buNone/>
                      </a:pPr>
                      <a:r>
                        <a:rPr lang="en-US" sz="1200" dirty="0">
                          <a:solidFill>
                            <a:srgbClr val="1B2631"/>
                          </a:solidFill>
                          <a:latin typeface="Calibri" pitchFamily="34" charset="0"/>
                          <a:ea typeface="Calibri" pitchFamily="34" charset="-122"/>
                          <a:cs typeface="Calibri" pitchFamily="34" charset="-120"/>
                        </a:rPr>
                        <a:t>13 coarse categories</a:t>
                      </a:r>
                      <a:endParaRPr lang="en-US" sz="12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bl>
          </a:graphicData>
        </a:graphic>
      </p:graphicFrame>
      <p:sp>
        <p:nvSpPr>
          <p:cNvPr id="12" name="Text 9"/>
          <p:cNvSpPr txBox="1"/>
          <p:nvPr/>
        </p:nvSpPr>
        <p:spPr>
          <a:xfrm>
            <a:off x="457200" y="4160520"/>
            <a:ext cx="8229600" cy="548640"/>
          </a:xfrm>
          <a:prstGeom prst="rect">
            <a:avLst/>
          </a:prstGeom>
          <a:noFill/>
          <a:ln/>
        </p:spPr>
        <p:txBody>
          <a:bodyPr wrap="square" lIns="635" tIns="635" rIns="635" bIns="635" rtlCol="0" anchor="t"/>
          <a:lstStyle/>
          <a:p>
            <a:pPr indent="0" marL="0">
              <a:buNone/>
            </a:pPr>
            <a:r>
              <a:rPr lang="en-US" sz="1200" dirty="0">
                <a:solidFill>
                  <a:schemeClr val="accent6"/>
                </a:solidFill>
              </a:rPr>
              <a:t>Other traps: province names written 3 ways (“สมุทรปราการ”, “จังหวัดสมุทรปราการ”, “จ.สมุทรปราการ”), merged cells, “-” and blanks for zero, 2026 rainfall rows with swapped columns.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Exploration: impact varies by year and by region</a:t>
            </a:r>
            <a:endParaRPr lang="en-US" sz="2800" dirty="0"/>
          </a:p>
        </p:txBody>
      </p:sp>
      <p:graphicFrame>
        <p:nvGraphicFramePr>
          <p:cNvPr id="3" name="Chart 0" descr=""/>
          <p:cNvGraphicFramePr/>
          <p:nvPr/>
        </p:nvGraphicFramePr>
        <p:xfrm>
          <a:off x="365760" y="960120"/>
          <a:ext cx="3291840" cy="3108960"/>
        </p:xfrm>
        <a:graphic xmlns:a="http://schemas.openxmlformats.org/drawingml/2006/main">
          <a:graphicData uri="http://schemas.openxmlformats.org/drawingml/2006/chart">
            <c:chart xmlns:c="http://schemas.openxmlformats.org/drawingml/2006/chart" r:id="rId1"/>
          </a:graphicData>
        </a:graphic>
      </p:graphicFrame>
      <p:pic>
        <p:nvPicPr>
          <p:cNvPr id="4" name="fig_eda_maps" descr="eda_maps">    </p:cNvPr>
          <p:cNvPicPr>
            <a:picLocks noChangeAspect="1"/>
          </p:cNvPicPr>
          <p:nvPr/>
        </p:nvPicPr>
        <p:blipFill>
          <a:blip r:embed="rId2"/>
          <a:stretch>
            <a:fillRect/>
          </a:stretch>
        </p:blipFill>
        <p:spPr>
          <a:xfrm>
            <a:off x="3749040" y="1171549"/>
            <a:ext cx="5029200" cy="2686103"/>
          </a:xfrm>
          <a:prstGeom prst="rect">
            <a:avLst/>
          </a:prstGeom>
        </p:spPr>
      </p:pic>
      <p:sp>
        <p:nvSpPr>
          <p:cNvPr id="5" name="Text 1"/>
          <p:cNvSpPr txBox="1"/>
          <p:nvPr/>
        </p:nvSpPr>
        <p:spPr>
          <a:xfrm>
            <a:off x="457200" y="4160520"/>
            <a:ext cx="8229600" cy="548640"/>
          </a:xfrm>
          <a:prstGeom prst="rect">
            <a:avLst/>
          </a:prstGeom>
          <a:noFill/>
          <a:ln/>
        </p:spPr>
        <p:txBody>
          <a:bodyPr wrap="square" lIns="635" tIns="635" rIns="635" bIns="635" rtlCol="0" anchor="t"/>
          <a:lstStyle/>
          <a:p>
            <a:pPr indent="0" marL="0">
              <a:buNone/>
            </a:pPr>
            <a:r>
              <a:rPr lang="en-US" sz="1300" b="1" dirty="0">
                <a:solidFill>
                  <a:schemeClr val="tx1"/>
                </a:solidFill>
              </a:rPr>
              <a:t>2022 </a:t>
            </a:r>
            <a:pPr indent="0" marL="0">
              <a:buNone/>
            </a:pPr>
            <a:r>
              <a:rPr lang="en-US" sz="1300" dirty="0">
                <a:solidFill>
                  <a:schemeClr val="tx1"/>
                </a:solidFill>
              </a:rPr>
              <a:t>(storm Noru) affected 8.2 M people – 7× the 2023 total. Impact per capita is highest in the </a:t>
            </a:r>
            <a:pPr indent="0" marL="0">
              <a:buNone/>
            </a:pPr>
            <a:r>
              <a:rPr lang="en-US" sz="1300" b="1" dirty="0">
                <a:solidFill>
                  <a:schemeClr val="tx1"/>
                </a:solidFill>
              </a:rPr>
              <a:t>north and deep south</a:t>
            </a:r>
            <a:pPr indent="0" marL="0">
              <a:buNone/>
            </a:pPr>
            <a:r>
              <a:rPr lang="en-US" sz="1300" dirty="0">
                <a:solidFill>
                  <a:schemeClr val="tx1"/>
                </a:solidFill>
              </a:rPr>
              <a:t>, not in the rain-richest east/south-west.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Exploration: skewed, zero-inflated data</a:t>
            </a:r>
            <a:endParaRPr lang="en-US" sz="2800" dirty="0"/>
          </a:p>
        </p:txBody>
      </p:sp>
      <p:sp>
        <p:nvSpPr>
          <p:cNvPr id="3" name="Text 1"/>
          <p:cNvSpPr txBox="1"/>
          <p:nvPr/>
        </p:nvSpPr>
        <p:spPr>
          <a:xfrm>
            <a:off x="457200" y="1051560"/>
            <a:ext cx="1828800" cy="594360"/>
          </a:xfrm>
          <a:prstGeom prst="rect">
            <a:avLst/>
          </a:prstGeom>
          <a:noFill/>
          <a:ln/>
        </p:spPr>
        <p:txBody>
          <a:bodyPr wrap="square" lIns="0" tIns="0" rIns="0" bIns="0" rtlCol="0" anchor="t"/>
          <a:lstStyle/>
          <a:p>
            <a:pPr algn="l" indent="0" marL="0">
              <a:buNone/>
            </a:pPr>
            <a:r>
              <a:rPr lang="en-US" sz="3400" b="1" dirty="0">
                <a:solidFill>
                  <a:schemeClr val="accent1"/>
                </a:solidFill>
                <a:latin typeface="Cambria" pitchFamily="34" charset="0"/>
                <a:ea typeface="Cambria" pitchFamily="34" charset="-122"/>
                <a:cs typeface="Cambria" pitchFamily="34" charset="-120"/>
              </a:rPr>
              <a:t>48</a:t>
            </a:r>
            <a:endParaRPr lang="en-US" sz="3400" dirty="0"/>
          </a:p>
        </p:txBody>
      </p:sp>
      <p:sp>
        <p:nvSpPr>
          <p:cNvPr id="4" name="Text 2"/>
          <p:cNvSpPr txBox="1"/>
          <p:nvPr/>
        </p:nvSpPr>
        <p:spPr>
          <a:xfrm>
            <a:off x="457200" y="1645920"/>
            <a:ext cx="1828800" cy="502920"/>
          </a:xfrm>
          <a:prstGeom prst="rect">
            <a:avLst/>
          </a:prstGeom>
          <a:noFill/>
          <a:ln/>
        </p:spPr>
        <p:txBody>
          <a:bodyPr wrap="square" lIns="0" tIns="0" rIns="0" bIns="0" rtlCol="0" anchor="t"/>
          <a:lstStyle/>
          <a:p>
            <a:pPr indent="0" marL="0">
              <a:buNone/>
            </a:pPr>
            <a:r>
              <a:rPr lang="en-US" sz="1100" dirty="0">
                <a:solidFill>
                  <a:schemeClr val="accent6"/>
                </a:solidFill>
              </a:rPr>
              <a:t>damage attributes in the 2019 file</a:t>
            </a:r>
            <a:endParaRPr lang="en-US" sz="1100" dirty="0"/>
          </a:p>
        </p:txBody>
      </p:sp>
      <p:sp>
        <p:nvSpPr>
          <p:cNvPr id="5" name="Text 3"/>
          <p:cNvSpPr txBox="1"/>
          <p:nvPr/>
        </p:nvSpPr>
        <p:spPr>
          <a:xfrm>
            <a:off x="457200" y="2103120"/>
            <a:ext cx="1828800" cy="594360"/>
          </a:xfrm>
          <a:prstGeom prst="rect">
            <a:avLst/>
          </a:prstGeom>
          <a:noFill/>
          <a:ln/>
        </p:spPr>
        <p:txBody>
          <a:bodyPr wrap="square" lIns="0" tIns="0" rIns="0" bIns="0" rtlCol="0" anchor="t"/>
          <a:lstStyle/>
          <a:p>
            <a:pPr algn="l" indent="0" marL="0">
              <a:buNone/>
            </a:pPr>
            <a:r>
              <a:rPr lang="en-US" sz="3400" b="1" dirty="0">
                <a:solidFill>
                  <a:schemeClr val="accent2"/>
                </a:solidFill>
                <a:latin typeface="Cambria" pitchFamily="34" charset="0"/>
                <a:ea typeface="Cambria" pitchFamily="34" charset="-122"/>
                <a:cs typeface="Cambria" pitchFamily="34" charset="-120"/>
              </a:rPr>
              <a:t>5.34</a:t>
            </a:r>
            <a:endParaRPr lang="en-US" sz="3400" dirty="0"/>
          </a:p>
        </p:txBody>
      </p:sp>
      <p:sp>
        <p:nvSpPr>
          <p:cNvPr id="6" name="Text 4"/>
          <p:cNvSpPr txBox="1"/>
          <p:nvPr/>
        </p:nvSpPr>
        <p:spPr>
          <a:xfrm>
            <a:off x="457200" y="2697480"/>
            <a:ext cx="1828800" cy="502920"/>
          </a:xfrm>
          <a:prstGeom prst="rect">
            <a:avLst/>
          </a:prstGeom>
          <a:noFill/>
          <a:ln/>
        </p:spPr>
        <p:txBody>
          <a:bodyPr wrap="square" lIns="0" tIns="0" rIns="0" bIns="0" rtlCol="0" anchor="t"/>
          <a:lstStyle/>
          <a:p>
            <a:pPr indent="0" marL="0">
              <a:buNone/>
            </a:pPr>
            <a:r>
              <a:rPr lang="en-US" sz="1100" dirty="0">
                <a:solidFill>
                  <a:schemeClr val="accent6"/>
                </a:solidFill>
              </a:rPr>
              <a:t>median skewness (&gt;1 is already 'highly skewed')</a:t>
            </a:r>
            <a:endParaRPr lang="en-US" sz="1100" dirty="0"/>
          </a:p>
        </p:txBody>
      </p:sp>
      <p:sp>
        <p:nvSpPr>
          <p:cNvPr id="7" name="Text 5"/>
          <p:cNvSpPr txBox="1"/>
          <p:nvPr/>
        </p:nvSpPr>
        <p:spPr>
          <a:xfrm>
            <a:off x="457200" y="3154680"/>
            <a:ext cx="1828800" cy="594360"/>
          </a:xfrm>
          <a:prstGeom prst="rect">
            <a:avLst/>
          </a:prstGeom>
          <a:noFill/>
          <a:ln/>
        </p:spPr>
        <p:txBody>
          <a:bodyPr wrap="square" lIns="0" tIns="0" rIns="0" bIns="0" rtlCol="0" anchor="t"/>
          <a:lstStyle/>
          <a:p>
            <a:pPr algn="l" indent="0" marL="0">
              <a:buNone/>
            </a:pPr>
            <a:r>
              <a:rPr lang="en-US" sz="3400" b="1" dirty="0">
                <a:solidFill>
                  <a:schemeClr val="accent2"/>
                </a:solidFill>
                <a:latin typeface="Cambria" pitchFamily="34" charset="0"/>
                <a:ea typeface="Cambria" pitchFamily="34" charset="-122"/>
                <a:cs typeface="Cambria" pitchFamily="34" charset="-120"/>
              </a:rPr>
              <a:t>82%</a:t>
            </a:r>
            <a:endParaRPr lang="en-US" sz="3400" dirty="0"/>
          </a:p>
        </p:txBody>
      </p:sp>
      <p:sp>
        <p:nvSpPr>
          <p:cNvPr id="8" name="Text 6"/>
          <p:cNvSpPr txBox="1"/>
          <p:nvPr/>
        </p:nvSpPr>
        <p:spPr>
          <a:xfrm>
            <a:off x="457200" y="3749040"/>
            <a:ext cx="1828800" cy="502920"/>
          </a:xfrm>
          <a:prstGeom prst="rect">
            <a:avLst/>
          </a:prstGeom>
          <a:noFill/>
          <a:ln/>
        </p:spPr>
        <p:txBody>
          <a:bodyPr wrap="square" lIns="0" tIns="0" rIns="0" bIns="0" rtlCol="0" anchor="t"/>
          <a:lstStyle/>
          <a:p>
            <a:pPr indent="0" marL="0">
              <a:buNone/>
            </a:pPr>
            <a:r>
              <a:rPr lang="en-US" sz="1100" dirty="0">
                <a:solidFill>
                  <a:schemeClr val="accent6"/>
                </a:solidFill>
              </a:rPr>
              <a:t>median share of zeros per attribute</a:t>
            </a:r>
            <a:endParaRPr lang="en-US" sz="1100" dirty="0"/>
          </a:p>
        </p:txBody>
      </p:sp>
      <p:pic>
        <p:nvPicPr>
          <p:cNvPr id="9" name="fig_eda_skew" descr="eda_skew">    </p:cNvPr>
          <p:cNvPicPr>
            <a:picLocks noChangeAspect="1"/>
          </p:cNvPicPr>
          <p:nvPr/>
        </p:nvPicPr>
        <p:blipFill>
          <a:blip r:embed="rId1"/>
          <a:stretch>
            <a:fillRect/>
          </a:stretch>
        </p:blipFill>
        <p:spPr>
          <a:xfrm>
            <a:off x="2468880" y="1088063"/>
            <a:ext cx="6309360" cy="2304433"/>
          </a:xfrm>
          <a:prstGeom prst="rect">
            <a:avLst/>
          </a:prstGeom>
        </p:spPr>
      </p:pic>
      <p:sp>
        <p:nvSpPr>
          <p:cNvPr id="10" name="Text 7"/>
          <p:cNvSpPr txBox="1"/>
          <p:nvPr/>
        </p:nvSpPr>
        <p:spPr>
          <a:xfrm>
            <a:off x="2560320" y="3657600"/>
            <a:ext cx="6217920" cy="914400"/>
          </a:xfrm>
          <a:prstGeom prst="rect">
            <a:avLst/>
          </a:prstGeom>
          <a:noFill/>
          <a:ln/>
        </p:spPr>
        <p:txBody>
          <a:bodyPr wrap="square" lIns="635" tIns="635" rIns="635" bIns="635" rtlCol="0" anchor="t"/>
          <a:lstStyle/>
          <a:p>
            <a:pPr indent="0" marL="0">
              <a:buNone/>
            </a:pPr>
            <a:r>
              <a:rPr lang="en-US" sz="1300" dirty="0">
                <a:solidFill>
                  <a:schemeClr val="tx1"/>
                </a:solidFill>
              </a:rPr>
              <a:t>→ Raw values cannot go into a distance-based model: a few provinces would dominate every distance. We need population/area normalisation + log transform. Most impact features are also positively correlated (Spearman up to 0.65) → PCA.</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Pre-processing 1: integrating four sources</a:t>
            </a:r>
            <a:endParaRPr lang="en-US" sz="2800" dirty="0"/>
          </a:p>
        </p:txBody>
      </p:sp>
      <p:sp>
        <p:nvSpPr>
          <p:cNvPr id="3" name="Shape 1"/>
          <p:cNvSpPr/>
          <p:nvPr/>
        </p:nvSpPr>
        <p:spPr>
          <a:xfrm>
            <a:off x="1005840" y="1097280"/>
            <a:ext cx="457200" cy="457200"/>
          </a:xfrm>
          <a:prstGeom prst="ellipse">
            <a:avLst/>
          </a:prstGeom>
          <a:solidFill>
            <a:srgbClr val="1D7874"/>
          </a:solidFill>
          <a:ln w="12700">
            <a:solidFill>
              <a:srgbClr val="1D7874"/>
            </a:solidFill>
            <a:prstDash val="solid"/>
          </a:ln>
        </p:spPr>
      </p:sp>
      <p:sp>
        <p:nvSpPr>
          <p:cNvPr id="4" name="Text 2"/>
          <p:cNvSpPr txBox="1"/>
          <p:nvPr/>
        </p:nvSpPr>
        <p:spPr>
          <a:xfrm>
            <a:off x="1005840" y="10972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Shape 3"/>
          <p:cNvSpPr/>
          <p:nvPr/>
        </p:nvSpPr>
        <p:spPr>
          <a:xfrm>
            <a:off x="1508760" y="1325880"/>
            <a:ext cx="1133856" cy="0"/>
          </a:xfrm>
          <a:prstGeom prst="line">
            <a:avLst/>
          </a:prstGeom>
          <a:noFill/>
          <a:ln w="15875">
            <a:solidFill>
              <a:srgbClr val="B3B6B7"/>
            </a:solidFill>
            <a:prstDash val="solid"/>
            <a:tailEnd type="triangle"/>
          </a:ln>
        </p:spPr>
      </p:sp>
      <p:sp>
        <p:nvSpPr>
          <p:cNvPr id="6" name="Text 4"/>
          <p:cNvSpPr txBox="1"/>
          <p:nvPr/>
        </p:nvSpPr>
        <p:spPr>
          <a:xfrm>
            <a:off x="457200" y="1645920"/>
            <a:ext cx="1554480" cy="320040"/>
          </a:xfrm>
          <a:prstGeom prst="rect">
            <a:avLst/>
          </a:prstGeom>
          <a:noFill/>
          <a:ln/>
        </p:spPr>
        <p:txBody>
          <a:bodyPr wrap="square" lIns="635" tIns="635" rIns="635" bIns="635" rtlCol="0" anchor="t"/>
          <a:lstStyle/>
          <a:p>
            <a:pPr algn="ctr" indent="0" marL="0">
              <a:buNone/>
            </a:pPr>
            <a:r>
              <a:rPr lang="en-US" sz="1500" b="1" dirty="0">
                <a:solidFill>
                  <a:schemeClr val="tx2"/>
                </a:solidFill>
              </a:rPr>
              <a:t>Parse</a:t>
            </a:r>
            <a:endParaRPr lang="en-US" sz="1500" dirty="0"/>
          </a:p>
        </p:txBody>
      </p:sp>
      <p:sp>
        <p:nvSpPr>
          <p:cNvPr id="7" name="Text 5"/>
          <p:cNvSpPr txBox="1"/>
          <p:nvPr/>
        </p:nvSpPr>
        <p:spPr>
          <a:xfrm>
            <a:off x="457200" y="1965960"/>
            <a:ext cx="1554480" cy="1097280"/>
          </a:xfrm>
          <a:prstGeom prst="rect">
            <a:avLst/>
          </a:prstGeom>
          <a:noFill/>
          <a:ln/>
        </p:spPr>
        <p:txBody>
          <a:bodyPr wrap="square" lIns="635" tIns="635" rIns="635" bIns="635" rtlCol="0" anchor="t"/>
          <a:lstStyle/>
          <a:p>
            <a:pPr algn="ctr" indent="0" marL="0">
              <a:buNone/>
            </a:pPr>
            <a:r>
              <a:rPr lang="en-US" sz="1150" dirty="0">
                <a:solidFill>
                  <a:schemeClr val="tx1"/>
                </a:solidFill>
              </a:rPr>
              <a:t>6 DDPM layouts, HTML-in-.xls, merged-cell CSV</a:t>
            </a:r>
            <a:endParaRPr lang="en-US" sz="1150" dirty="0"/>
          </a:p>
        </p:txBody>
      </p:sp>
      <p:sp>
        <p:nvSpPr>
          <p:cNvPr id="8" name="Shape 6"/>
          <p:cNvSpPr/>
          <p:nvPr/>
        </p:nvSpPr>
        <p:spPr>
          <a:xfrm>
            <a:off x="2688336" y="1097280"/>
            <a:ext cx="457200" cy="457200"/>
          </a:xfrm>
          <a:prstGeom prst="ellipse">
            <a:avLst/>
          </a:prstGeom>
          <a:solidFill>
            <a:srgbClr val="1D7874"/>
          </a:solidFill>
          <a:ln w="12700">
            <a:solidFill>
              <a:srgbClr val="1D7874"/>
            </a:solidFill>
            <a:prstDash val="solid"/>
          </a:ln>
        </p:spPr>
      </p:sp>
      <p:sp>
        <p:nvSpPr>
          <p:cNvPr id="9" name="Text 7"/>
          <p:cNvSpPr txBox="1"/>
          <p:nvPr/>
        </p:nvSpPr>
        <p:spPr>
          <a:xfrm>
            <a:off x="2688336" y="10972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Shape 8"/>
          <p:cNvSpPr/>
          <p:nvPr/>
        </p:nvSpPr>
        <p:spPr>
          <a:xfrm>
            <a:off x="3191256" y="1325880"/>
            <a:ext cx="1133856" cy="0"/>
          </a:xfrm>
          <a:prstGeom prst="line">
            <a:avLst/>
          </a:prstGeom>
          <a:noFill/>
          <a:ln w="15875">
            <a:solidFill>
              <a:srgbClr val="B3B6B7"/>
            </a:solidFill>
            <a:prstDash val="solid"/>
            <a:tailEnd type="triangle"/>
          </a:ln>
        </p:spPr>
      </p:sp>
      <p:sp>
        <p:nvSpPr>
          <p:cNvPr id="11" name="Text 9"/>
          <p:cNvSpPr txBox="1"/>
          <p:nvPr/>
        </p:nvSpPr>
        <p:spPr>
          <a:xfrm>
            <a:off x="2139696" y="1645920"/>
            <a:ext cx="1554480" cy="320040"/>
          </a:xfrm>
          <a:prstGeom prst="rect">
            <a:avLst/>
          </a:prstGeom>
          <a:noFill/>
          <a:ln/>
        </p:spPr>
        <p:txBody>
          <a:bodyPr wrap="square" lIns="635" tIns="635" rIns="635" bIns="635" rtlCol="0" anchor="t"/>
          <a:lstStyle/>
          <a:p>
            <a:pPr algn="ctr" indent="0" marL="0">
              <a:buNone/>
            </a:pPr>
            <a:r>
              <a:rPr lang="en-US" sz="1500" b="1" dirty="0">
                <a:solidFill>
                  <a:schemeClr val="tx2"/>
                </a:solidFill>
              </a:rPr>
              <a:t>Clean</a:t>
            </a:r>
            <a:endParaRPr lang="en-US" sz="1500" dirty="0"/>
          </a:p>
        </p:txBody>
      </p:sp>
      <p:sp>
        <p:nvSpPr>
          <p:cNvPr id="12" name="Text 10"/>
          <p:cNvSpPr txBox="1"/>
          <p:nvPr/>
        </p:nvSpPr>
        <p:spPr>
          <a:xfrm>
            <a:off x="2139696" y="1965960"/>
            <a:ext cx="1554480" cy="1097280"/>
          </a:xfrm>
          <a:prstGeom prst="rect">
            <a:avLst/>
          </a:prstGeom>
          <a:noFill/>
          <a:ln/>
        </p:spPr>
        <p:txBody>
          <a:bodyPr wrap="square" lIns="635" tIns="635" rIns="635" bIns="635" rtlCol="0" anchor="t"/>
          <a:lstStyle/>
          <a:p>
            <a:pPr algn="ctr" indent="0" marL="0">
              <a:buNone/>
            </a:pPr>
            <a:r>
              <a:rPr lang="en-US" sz="1150" dirty="0">
                <a:solidFill>
                  <a:schemeClr val="tx1"/>
                </a:solidFill>
              </a:rPr>
              <a:t>drop 144 subtotal rows; '-', blanks → 0; strip zero-width chars</a:t>
            </a:r>
            <a:endParaRPr lang="en-US" sz="1150" dirty="0"/>
          </a:p>
        </p:txBody>
      </p:sp>
      <p:sp>
        <p:nvSpPr>
          <p:cNvPr id="13" name="Shape 11"/>
          <p:cNvSpPr/>
          <p:nvPr/>
        </p:nvSpPr>
        <p:spPr>
          <a:xfrm>
            <a:off x="4370832" y="1097280"/>
            <a:ext cx="457200" cy="457200"/>
          </a:xfrm>
          <a:prstGeom prst="ellipse">
            <a:avLst/>
          </a:prstGeom>
          <a:solidFill>
            <a:srgbClr val="1D7874"/>
          </a:solidFill>
          <a:ln w="12700">
            <a:solidFill>
              <a:srgbClr val="1D7874"/>
            </a:solidFill>
            <a:prstDash val="solid"/>
          </a:ln>
        </p:spPr>
      </p:sp>
      <p:sp>
        <p:nvSpPr>
          <p:cNvPr id="14" name="Text 12"/>
          <p:cNvSpPr txBox="1"/>
          <p:nvPr/>
        </p:nvSpPr>
        <p:spPr>
          <a:xfrm>
            <a:off x="4370832" y="10972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Shape 13"/>
          <p:cNvSpPr/>
          <p:nvPr/>
        </p:nvSpPr>
        <p:spPr>
          <a:xfrm>
            <a:off x="4873752" y="1325880"/>
            <a:ext cx="1133856" cy="0"/>
          </a:xfrm>
          <a:prstGeom prst="line">
            <a:avLst/>
          </a:prstGeom>
          <a:noFill/>
          <a:ln w="15875">
            <a:solidFill>
              <a:srgbClr val="B3B6B7"/>
            </a:solidFill>
            <a:prstDash val="solid"/>
            <a:tailEnd type="triangle"/>
          </a:ln>
        </p:spPr>
      </p:sp>
      <p:sp>
        <p:nvSpPr>
          <p:cNvPr id="16" name="Text 14"/>
          <p:cNvSpPr txBox="1"/>
          <p:nvPr/>
        </p:nvSpPr>
        <p:spPr>
          <a:xfrm>
            <a:off x="3822192" y="1645920"/>
            <a:ext cx="1554480" cy="320040"/>
          </a:xfrm>
          <a:prstGeom prst="rect">
            <a:avLst/>
          </a:prstGeom>
          <a:noFill/>
          <a:ln/>
        </p:spPr>
        <p:txBody>
          <a:bodyPr wrap="square" lIns="635" tIns="635" rIns="635" bIns="635" rtlCol="0" anchor="t"/>
          <a:lstStyle/>
          <a:p>
            <a:pPr algn="ctr" indent="0" marL="0">
              <a:buNone/>
            </a:pPr>
            <a:r>
              <a:rPr lang="en-US" sz="1500" b="1" dirty="0">
                <a:solidFill>
                  <a:schemeClr val="tx2"/>
                </a:solidFill>
              </a:rPr>
              <a:t>Harmonise</a:t>
            </a:r>
            <a:endParaRPr lang="en-US" sz="1500" dirty="0"/>
          </a:p>
        </p:txBody>
      </p:sp>
      <p:sp>
        <p:nvSpPr>
          <p:cNvPr id="17" name="Text 15"/>
          <p:cNvSpPr txBox="1"/>
          <p:nvPr/>
        </p:nvSpPr>
        <p:spPr>
          <a:xfrm>
            <a:off x="3822192" y="1965960"/>
            <a:ext cx="1554480" cy="1097280"/>
          </a:xfrm>
          <a:prstGeom prst="rect">
            <a:avLst/>
          </a:prstGeom>
          <a:noFill/>
          <a:ln/>
        </p:spPr>
        <p:txBody>
          <a:bodyPr wrap="square" lIns="635" tIns="635" rIns="635" bIns="635" rtlCol="0" anchor="t"/>
          <a:lstStyle/>
          <a:p>
            <a:pPr algn="ctr" indent="0" marL="0">
              <a:buNone/>
            </a:pPr>
            <a:r>
              <a:rPr lang="en-US" sz="1150" dirty="0">
                <a:solidFill>
                  <a:schemeClr val="tx1"/>
                </a:solidFill>
              </a:rPr>
              <a:t>44–66 columns → 13 common attributes by keyword mapping</a:t>
            </a:r>
            <a:endParaRPr lang="en-US" sz="1150" dirty="0"/>
          </a:p>
        </p:txBody>
      </p:sp>
      <p:sp>
        <p:nvSpPr>
          <p:cNvPr id="18" name="Shape 16"/>
          <p:cNvSpPr/>
          <p:nvPr/>
        </p:nvSpPr>
        <p:spPr>
          <a:xfrm>
            <a:off x="6053328" y="1097280"/>
            <a:ext cx="457200" cy="457200"/>
          </a:xfrm>
          <a:prstGeom prst="ellipse">
            <a:avLst/>
          </a:prstGeom>
          <a:solidFill>
            <a:srgbClr val="1D7874"/>
          </a:solidFill>
          <a:ln w="12700">
            <a:solidFill>
              <a:srgbClr val="1D7874"/>
            </a:solidFill>
            <a:prstDash val="solid"/>
          </a:ln>
        </p:spPr>
      </p:sp>
      <p:sp>
        <p:nvSpPr>
          <p:cNvPr id="19" name="Text 17"/>
          <p:cNvSpPr txBox="1"/>
          <p:nvPr/>
        </p:nvSpPr>
        <p:spPr>
          <a:xfrm>
            <a:off x="6053328" y="10972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Shape 18"/>
          <p:cNvSpPr/>
          <p:nvPr/>
        </p:nvSpPr>
        <p:spPr>
          <a:xfrm>
            <a:off x="6556248" y="1325880"/>
            <a:ext cx="1133856" cy="0"/>
          </a:xfrm>
          <a:prstGeom prst="line">
            <a:avLst/>
          </a:prstGeom>
          <a:noFill/>
          <a:ln w="15875">
            <a:solidFill>
              <a:srgbClr val="B3B6B7"/>
            </a:solidFill>
            <a:prstDash val="solid"/>
            <a:tailEnd type="triangle"/>
          </a:ln>
        </p:spPr>
      </p:sp>
      <p:sp>
        <p:nvSpPr>
          <p:cNvPr id="21" name="Text 19"/>
          <p:cNvSpPr txBox="1"/>
          <p:nvPr/>
        </p:nvSpPr>
        <p:spPr>
          <a:xfrm>
            <a:off x="5504688" y="1645920"/>
            <a:ext cx="1554480" cy="320040"/>
          </a:xfrm>
          <a:prstGeom prst="rect">
            <a:avLst/>
          </a:prstGeom>
          <a:noFill/>
          <a:ln/>
        </p:spPr>
        <p:txBody>
          <a:bodyPr wrap="square" lIns="635" tIns="635" rIns="635" bIns="635" rtlCol="0" anchor="t"/>
          <a:lstStyle/>
          <a:p>
            <a:pPr algn="ctr" indent="0" marL="0">
              <a:buNone/>
            </a:pPr>
            <a:r>
              <a:rPr lang="en-US" sz="1500" b="1" dirty="0">
                <a:solidFill>
                  <a:schemeClr val="tx2"/>
                </a:solidFill>
              </a:rPr>
              <a:t>Match</a:t>
            </a:r>
            <a:endParaRPr lang="en-US" sz="1500" dirty="0"/>
          </a:p>
        </p:txBody>
      </p:sp>
      <p:sp>
        <p:nvSpPr>
          <p:cNvPr id="22" name="Text 20"/>
          <p:cNvSpPr txBox="1"/>
          <p:nvPr/>
        </p:nvSpPr>
        <p:spPr>
          <a:xfrm>
            <a:off x="5504688" y="1965960"/>
            <a:ext cx="1554480" cy="1097280"/>
          </a:xfrm>
          <a:prstGeom prst="rect">
            <a:avLst/>
          </a:prstGeom>
          <a:noFill/>
          <a:ln/>
        </p:spPr>
        <p:txBody>
          <a:bodyPr wrap="square" lIns="635" tIns="635" rIns="635" bIns="635" rtlCol="0" anchor="t"/>
          <a:lstStyle/>
          <a:p>
            <a:pPr algn="ctr" indent="0" marL="0">
              <a:buNone/>
            </a:pPr>
            <a:r>
              <a:rPr lang="en-US" sz="1150" dirty="0">
                <a:solidFill>
                  <a:schemeClr val="tx1"/>
                </a:solidFill>
              </a:rPr>
              <a:t>normalise province names → 77 official codes (0 unmatched)</a:t>
            </a:r>
            <a:endParaRPr lang="en-US" sz="1150" dirty="0"/>
          </a:p>
        </p:txBody>
      </p:sp>
      <p:sp>
        <p:nvSpPr>
          <p:cNvPr id="23" name="Shape 21"/>
          <p:cNvSpPr/>
          <p:nvPr/>
        </p:nvSpPr>
        <p:spPr>
          <a:xfrm>
            <a:off x="7735824" y="1097280"/>
            <a:ext cx="457200" cy="457200"/>
          </a:xfrm>
          <a:prstGeom prst="ellipse">
            <a:avLst/>
          </a:prstGeom>
          <a:solidFill>
            <a:srgbClr val="1D7874"/>
          </a:solidFill>
          <a:ln w="12700">
            <a:solidFill>
              <a:srgbClr val="1D7874"/>
            </a:solidFill>
            <a:prstDash val="solid"/>
          </a:ln>
        </p:spPr>
      </p:sp>
      <p:sp>
        <p:nvSpPr>
          <p:cNvPr id="24" name="Text 22"/>
          <p:cNvSpPr txBox="1"/>
          <p:nvPr/>
        </p:nvSpPr>
        <p:spPr>
          <a:xfrm>
            <a:off x="7735824" y="10972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5" name="Text 23"/>
          <p:cNvSpPr txBox="1"/>
          <p:nvPr/>
        </p:nvSpPr>
        <p:spPr>
          <a:xfrm>
            <a:off x="7187184" y="1645920"/>
            <a:ext cx="1554480" cy="320040"/>
          </a:xfrm>
          <a:prstGeom prst="rect">
            <a:avLst/>
          </a:prstGeom>
          <a:noFill/>
          <a:ln/>
        </p:spPr>
        <p:txBody>
          <a:bodyPr wrap="square" lIns="635" tIns="635" rIns="635" bIns="635" rtlCol="0" anchor="t"/>
          <a:lstStyle/>
          <a:p>
            <a:pPr algn="ctr" indent="0" marL="0">
              <a:buNone/>
            </a:pPr>
            <a:r>
              <a:rPr lang="en-US" sz="1500" b="1" dirty="0">
                <a:solidFill>
                  <a:schemeClr val="tx2"/>
                </a:solidFill>
              </a:rPr>
              <a:t>Join</a:t>
            </a:r>
            <a:endParaRPr lang="en-US" sz="1500" dirty="0"/>
          </a:p>
        </p:txBody>
      </p:sp>
      <p:sp>
        <p:nvSpPr>
          <p:cNvPr id="26" name="Text 24"/>
          <p:cNvSpPr txBox="1"/>
          <p:nvPr/>
        </p:nvSpPr>
        <p:spPr>
          <a:xfrm>
            <a:off x="7187184" y="1965960"/>
            <a:ext cx="1554480" cy="1097280"/>
          </a:xfrm>
          <a:prstGeom prst="rect">
            <a:avLst/>
          </a:prstGeom>
          <a:noFill/>
          <a:ln/>
        </p:spPr>
        <p:txBody>
          <a:bodyPr wrap="square" lIns="635" tIns="635" rIns="635" bIns="635" rtlCol="0" anchor="t"/>
          <a:lstStyle/>
          <a:p>
            <a:pPr algn="ctr" indent="0" marL="0">
              <a:buNone/>
            </a:pPr>
            <a:r>
              <a:rPr lang="en-US" sz="1150" dirty="0">
                <a:solidFill>
                  <a:schemeClr val="tx1"/>
                </a:solidFill>
              </a:rPr>
              <a:t>province × year grid with rain + population; absent year = no flood</a:t>
            </a:r>
            <a:endParaRPr lang="en-US" sz="1150" dirty="0"/>
          </a:p>
        </p:txBody>
      </p:sp>
      <p:sp>
        <p:nvSpPr>
          <p:cNvPr id="27" name="Shape 25"/>
          <p:cNvSpPr/>
          <p:nvPr/>
        </p:nvSpPr>
        <p:spPr>
          <a:xfrm>
            <a:off x="457200" y="3154680"/>
            <a:ext cx="8229600" cy="1463040"/>
          </a:xfrm>
          <a:prstGeom prst="roundRect">
            <a:avLst>
              <a:gd name="adj" fmla="val 5000"/>
            </a:avLst>
          </a:prstGeom>
          <a:solidFill>
            <a:srgbClr val="EAF2F8"/>
          </a:solidFill>
          <a:ln w="12700">
            <a:solidFill>
              <a:srgbClr val="EAF2F8"/>
            </a:solidFill>
            <a:prstDash val="solid"/>
          </a:ln>
        </p:spPr>
      </p:sp>
      <p:sp>
        <p:nvSpPr>
          <p:cNvPr id="28" name="Text 26"/>
          <p:cNvSpPr txBox="1"/>
          <p:nvPr/>
        </p:nvSpPr>
        <p:spPr>
          <a:xfrm>
            <a:off x="640080" y="3246120"/>
            <a:ext cx="7863840" cy="320040"/>
          </a:xfrm>
          <a:prstGeom prst="rect">
            <a:avLst/>
          </a:prstGeom>
          <a:noFill/>
          <a:ln/>
        </p:spPr>
        <p:txBody>
          <a:bodyPr wrap="square" lIns="635" tIns="635" rIns="635" bIns="635" rtlCol="0" anchor="t"/>
          <a:lstStyle/>
          <a:p>
            <a:pPr indent="0" marL="0">
              <a:buNone/>
            </a:pPr>
            <a:r>
              <a:rPr lang="en-US" sz="1300" b="1" dirty="0">
                <a:solidFill>
                  <a:schemeClr val="tx2"/>
                </a:solidFill>
              </a:rPr>
              <a:t>Harmonised attributes (sum of the matching raw columns per year)</a:t>
            </a:r>
            <a:endParaRPr lang="en-US" sz="1300" dirty="0"/>
          </a:p>
        </p:txBody>
      </p:sp>
      <p:sp>
        <p:nvSpPr>
          <p:cNvPr id="29" name="Text 27"/>
          <p:cNvSpPr txBox="1"/>
          <p:nvPr/>
        </p:nvSpPr>
        <p:spPr>
          <a:xfrm>
            <a:off x="640080" y="3611880"/>
            <a:ext cx="7863840" cy="502920"/>
          </a:xfrm>
          <a:prstGeom prst="rect">
            <a:avLst/>
          </a:prstGeom>
          <a:noFill/>
          <a:ln/>
        </p:spPr>
        <p:txBody>
          <a:bodyPr wrap="square" lIns="635" tIns="635" rIns="635" bIns="635" rtlCol="0" anchor="t"/>
          <a:lstStyle/>
          <a:p>
            <a:pPr indent="0" marL="0">
              <a:buNone/>
            </a:pPr>
            <a:r>
              <a:rPr lang="en-US" sz="1200" dirty="0">
                <a:solidFill>
                  <a:schemeClr val="tx1"/>
                </a:solidFill>
              </a:rPr>
              <a:t>affected people · affected households · evacuated · deaths · injured/missing · housing · farmland (rai) · livestock · fishery · roads &amp; bridges · public sites · districts · villages</a:t>
            </a:r>
            <a:endParaRPr lang="en-US" sz="1200" dirty="0"/>
          </a:p>
        </p:txBody>
      </p:sp>
      <p:sp>
        <p:nvSpPr>
          <p:cNvPr id="30" name="Text 28"/>
          <p:cNvSpPr txBox="1"/>
          <p:nvPr/>
        </p:nvSpPr>
        <p:spPr>
          <a:xfrm>
            <a:off x="640080" y="4114800"/>
            <a:ext cx="7863840" cy="411480"/>
          </a:xfrm>
          <a:prstGeom prst="rect">
            <a:avLst/>
          </a:prstGeom>
          <a:noFill/>
          <a:ln/>
        </p:spPr>
        <p:txBody>
          <a:bodyPr wrap="square" lIns="635" tIns="635" rIns="635" bIns="635" rtlCol="0" anchor="t"/>
          <a:lstStyle/>
          <a:p>
            <a:pPr indent="0" marL="0">
              <a:buNone/>
            </a:pPr>
            <a:r>
              <a:rPr lang="en-US" sz="1150" i="1" dirty="0">
                <a:solidFill>
                  <a:schemeClr val="accent6"/>
                </a:solidFill>
              </a:rPr>
              <a:t>Check: yearly totals reproduce the official 'รวมทั้งหมด' rows exactly (e.g. 2020: 3,576,314 people) before imputation.</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Pre-processing 2: missing values, scaling, PCA</a:t>
            </a:r>
            <a:endParaRPr lang="en-US" sz="2800" dirty="0"/>
          </a:p>
        </p:txBody>
      </p:sp>
      <p:sp>
        <p:nvSpPr>
          <p:cNvPr id="3" name="Text 1"/>
          <p:cNvSpPr txBox="1"/>
          <p:nvPr/>
        </p:nvSpPr>
        <p:spPr>
          <a:xfrm>
            <a:off x="457200" y="1005840"/>
            <a:ext cx="4023360" cy="3657600"/>
          </a:xfrm>
          <a:prstGeom prst="rect">
            <a:avLst/>
          </a:prstGeom>
          <a:noFill/>
          <a:ln/>
        </p:spPr>
        <p:txBody>
          <a:bodyPr wrap="square" lIns="635" tIns="635" rIns="635" bIns="635" rtlCol="0" anchor="t"/>
          <a:lstStyle/>
          <a:p>
            <a:pPr marL="342900" indent="-342900">
              <a:buSzPct val="100000"/>
              <a:buChar char="•"/>
            </a:pPr>
            <a:r>
              <a:rPr lang="en-US" sz="1250" b="1" dirty="0">
                <a:solidFill>
                  <a:schemeClr val="tx1"/>
                </a:solidFill>
              </a:rPr>
              <a:t>Zeros that mean missing: </a:t>
            </a:r>
            <a:pPr indent="0" marL="0">
              <a:spcAft>
                <a:spcPts val="600"/>
              </a:spcAft>
              <a:buNone/>
            </a:pPr>
            <a:r>
              <a:rPr lang="en-US" sz="1250" dirty="0">
                <a:solidFill>
                  <a:schemeClr val="tx1"/>
                </a:solidFill>
              </a:rPr>
              <a:t>households &gt; 0 but people = 0 (e.g. Roi Et 2019: 47,822 households, 0 people) → people = households × 2.74 (median ratio); 8 cells</a:t>
            </a:r>
            <a:endParaRPr lang="en-US" sz="1250" dirty="0"/>
          </a:p>
          <a:p>
            <a:pPr marL="342900" indent="-342900">
              <a:buSzPct val="100000"/>
              <a:buChar char="•"/>
            </a:pPr>
            <a:r>
              <a:rPr lang="en-US" sz="1250" b="1" dirty="0">
                <a:solidFill>
                  <a:schemeClr val="tx1"/>
                </a:solidFill>
              </a:rPr>
              <a:t>Unreliable features dropped: </a:t>
            </a:r>
            <a:pPr indent="0" marL="0">
              <a:spcAft>
                <a:spcPts val="600"/>
              </a:spcAft>
              <a:buNone/>
            </a:pPr>
            <a:r>
              <a:rPr lang="en-US" sz="1250" dirty="0">
                <a:solidFill>
                  <a:schemeClr val="tx1"/>
                </a:solidFill>
              </a:rPr>
              <a:t>evacuees (2023 schema records only 20 nationwide), livestock (one-off poultry spikes)</a:t>
            </a:r>
            <a:endParaRPr lang="en-US" sz="1250" dirty="0"/>
          </a:p>
          <a:p>
            <a:pPr marL="342900" indent="-342900">
              <a:buSzPct val="100000"/>
              <a:buChar char="•"/>
            </a:pPr>
            <a:r>
              <a:rPr lang="en-US" sz="1250" b="1" dirty="0">
                <a:solidFill>
                  <a:schemeClr val="tx1"/>
                </a:solidFill>
              </a:rPr>
              <a:t>Normalisation: </a:t>
            </a:r>
            <a:pPr indent="0" marL="0">
              <a:spcAft>
                <a:spcPts val="600"/>
              </a:spcAft>
              <a:buNone/>
            </a:pPr>
            <a:r>
              <a:rPr lang="en-US" sz="1250" dirty="0">
                <a:solidFill>
                  <a:schemeClr val="tx1"/>
                </a:solidFill>
              </a:rPr>
              <a:t>per 1,000 / 100,000 residents or per km² – removes the big-province effect</a:t>
            </a:r>
            <a:endParaRPr lang="en-US" sz="1250" dirty="0"/>
          </a:p>
          <a:p>
            <a:pPr marL="342900" indent="-342900">
              <a:buSzPct val="100000"/>
              <a:buChar char="•"/>
            </a:pPr>
            <a:r>
              <a:rPr lang="en-US" sz="1250" b="1" dirty="0">
                <a:solidFill>
                  <a:schemeClr val="tx1"/>
                </a:solidFill>
              </a:rPr>
              <a:t>log1p + z-score: </a:t>
            </a:r>
            <a:pPr indent="0" marL="0">
              <a:spcAft>
                <a:spcPts val="600"/>
              </a:spcAft>
              <a:buNone/>
            </a:pPr>
            <a:r>
              <a:rPr lang="en-US" sz="1250" dirty="0">
                <a:solidFill>
                  <a:schemeClr val="tx1"/>
                </a:solidFill>
              </a:rPr>
              <a:t>median skewness 2.88 → 0.09</a:t>
            </a:r>
            <a:endParaRPr lang="en-US" sz="1250" dirty="0"/>
          </a:p>
          <a:p>
            <a:pPr marL="342900" indent="-342900">
              <a:buSzPct val="100000"/>
              <a:buChar char="•"/>
            </a:pPr>
            <a:r>
              <a:rPr lang="en-US" sz="1250" b="1" dirty="0">
                <a:solidFill>
                  <a:schemeClr val="tx1"/>
                </a:solidFill>
              </a:rPr>
              <a:t>PCA: </a:t>
            </a:r>
            <a:pPr indent="0" marL="0">
              <a:spcAft>
                <a:spcPts val="600"/>
              </a:spcAft>
              <a:buNone/>
            </a:pPr>
            <a:r>
              <a:rPr lang="en-US" sz="1250" dirty="0">
                <a:solidFill>
                  <a:schemeClr val="tx1"/>
                </a:solidFill>
              </a:rPr>
              <a:t>9 features → 5 PCs keep 85% of variance; PC1 (45%) loads on every impact feature → used as the Flood Severity Index</a:t>
            </a:r>
            <a:endParaRPr lang="en-US" sz="1250" dirty="0"/>
          </a:p>
        </p:txBody>
      </p:sp>
      <p:pic>
        <p:nvPicPr>
          <p:cNvPr id="4" name="fig_pca" descr="pca">    </p:cNvPr>
          <p:cNvPicPr>
            <a:picLocks noChangeAspect="1"/>
          </p:cNvPicPr>
          <p:nvPr/>
        </p:nvPicPr>
        <p:blipFill>
          <a:blip r:embed="rId1"/>
          <a:stretch>
            <a:fillRect/>
          </a:stretch>
        </p:blipFill>
        <p:spPr>
          <a:xfrm>
            <a:off x="4572000" y="1854080"/>
            <a:ext cx="4206240" cy="1686799"/>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Technique 1: K-Means vs HDBSCAN</a:t>
            </a:r>
            <a:endParaRPr lang="en-US" sz="2800" dirty="0"/>
          </a:p>
        </p:txBody>
      </p:sp>
      <p:sp>
        <p:nvSpPr>
          <p:cNvPr id="3" name="Shape 1"/>
          <p:cNvSpPr/>
          <p:nvPr/>
        </p:nvSpPr>
        <p:spPr>
          <a:xfrm>
            <a:off x="457200" y="1005840"/>
            <a:ext cx="4023360" cy="2743200"/>
          </a:xfrm>
          <a:prstGeom prst="roundRect">
            <a:avLst>
              <a:gd name="adj" fmla="val 2667"/>
            </a:avLst>
          </a:prstGeom>
          <a:solidFill>
            <a:srgbClr val="EAF2F8"/>
          </a:solidFill>
          <a:ln w="12700">
            <a:solidFill>
              <a:srgbClr val="EAF2F8"/>
            </a:solidFill>
            <a:prstDash val="solid"/>
          </a:ln>
        </p:spPr>
      </p:sp>
      <p:sp>
        <p:nvSpPr>
          <p:cNvPr id="4" name="Text 2"/>
          <p:cNvSpPr txBox="1"/>
          <p:nvPr/>
        </p:nvSpPr>
        <p:spPr>
          <a:xfrm>
            <a:off x="640080" y="1097280"/>
            <a:ext cx="3657600" cy="365760"/>
          </a:xfrm>
          <a:prstGeom prst="rect">
            <a:avLst/>
          </a:prstGeom>
          <a:noFill/>
          <a:ln/>
        </p:spPr>
        <p:txBody>
          <a:bodyPr wrap="square" lIns="635" tIns="635" rIns="635" bIns="635" rtlCol="0" anchor="t"/>
          <a:lstStyle/>
          <a:p>
            <a:pPr indent="0" marL="0">
              <a:buNone/>
            </a:pPr>
            <a:r>
              <a:rPr lang="en-US" sz="1600" b="1" dirty="0">
                <a:solidFill>
                  <a:schemeClr val="tx2"/>
                </a:solidFill>
              </a:rPr>
              <a:t>K-Means (covered in class)</a:t>
            </a:r>
            <a:endParaRPr lang="en-US" sz="1600" dirty="0"/>
          </a:p>
        </p:txBody>
      </p:sp>
      <p:sp>
        <p:nvSpPr>
          <p:cNvPr id="5" name="Text 3"/>
          <p:cNvSpPr txBox="1"/>
          <p:nvPr/>
        </p:nvSpPr>
        <p:spPr>
          <a:xfrm>
            <a:off x="640080" y="1508760"/>
            <a:ext cx="3657600" cy="219456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chemeClr val="tx1"/>
                </a:solidFill>
              </a:rPr>
              <a:t>Partitions provinces into k spherical groups around centroids</a:t>
            </a:r>
            <a:endParaRPr lang="en-US" sz="1300" dirty="0"/>
          </a:p>
          <a:p>
            <a:pPr marL="342900" indent="-342900">
              <a:spcAft>
                <a:spcPts val="600"/>
              </a:spcAft>
              <a:buSzPct val="100000"/>
              <a:buChar char="•"/>
            </a:pPr>
            <a:r>
              <a:rPr lang="en-US" sz="1300" dirty="0">
                <a:solidFill>
                  <a:schemeClr val="tx1"/>
                </a:solidFill>
              </a:rPr>
              <a:t>k chosen by elbow + silhouette + stability over 20 seeds</a:t>
            </a:r>
            <a:endParaRPr lang="en-US" sz="1300" dirty="0"/>
          </a:p>
          <a:p>
            <a:pPr marL="342900" indent="-342900">
              <a:spcAft>
                <a:spcPts val="600"/>
              </a:spcAft>
              <a:buSzPct val="100000"/>
              <a:buChar char="•"/>
            </a:pPr>
            <a:r>
              <a:rPr lang="en-US" sz="1300" dirty="0">
                <a:solidFill>
                  <a:schemeClr val="tx1"/>
                </a:solidFill>
              </a:rPr>
              <a:t>Every province must join a cluster – outliers distort centroids</a:t>
            </a:r>
            <a:endParaRPr lang="en-US" sz="1300" dirty="0"/>
          </a:p>
        </p:txBody>
      </p:sp>
      <p:sp>
        <p:nvSpPr>
          <p:cNvPr id="6" name="Shape 4"/>
          <p:cNvSpPr/>
          <p:nvPr/>
        </p:nvSpPr>
        <p:spPr>
          <a:xfrm>
            <a:off x="4663440" y="1005840"/>
            <a:ext cx="4023360" cy="2743200"/>
          </a:xfrm>
          <a:prstGeom prst="roundRect">
            <a:avLst>
              <a:gd name="adj" fmla="val 2667"/>
            </a:avLst>
          </a:prstGeom>
          <a:solidFill>
            <a:srgbClr val="FDEBD0"/>
          </a:solidFill>
          <a:ln w="12700">
            <a:solidFill>
              <a:srgbClr val="FDEBD0"/>
            </a:solidFill>
            <a:prstDash val="solid"/>
          </a:ln>
        </p:spPr>
      </p:sp>
      <p:sp>
        <p:nvSpPr>
          <p:cNvPr id="7" name="Text 5"/>
          <p:cNvSpPr txBox="1"/>
          <p:nvPr/>
        </p:nvSpPr>
        <p:spPr>
          <a:xfrm>
            <a:off x="4846320" y="1097280"/>
            <a:ext cx="3657600" cy="365760"/>
          </a:xfrm>
          <a:prstGeom prst="rect">
            <a:avLst/>
          </a:prstGeom>
          <a:noFill/>
          <a:ln/>
        </p:spPr>
        <p:txBody>
          <a:bodyPr wrap="square" lIns="635" tIns="635" rIns="635" bIns="635" rtlCol="0" anchor="t"/>
          <a:lstStyle/>
          <a:p>
            <a:pPr indent="0" marL="0">
              <a:buNone/>
            </a:pPr>
            <a:r>
              <a:rPr lang="en-US" sz="1600" b="1" dirty="0">
                <a:solidFill>
                  <a:schemeClr val="tx2"/>
                </a:solidFill>
              </a:rPr>
              <a:t>HDBSCAN (not covered in class)</a:t>
            </a:r>
            <a:endParaRPr lang="en-US" sz="1600" dirty="0"/>
          </a:p>
        </p:txBody>
      </p:sp>
      <p:sp>
        <p:nvSpPr>
          <p:cNvPr id="8" name="Text 6"/>
          <p:cNvSpPr txBox="1"/>
          <p:nvPr/>
        </p:nvSpPr>
        <p:spPr>
          <a:xfrm>
            <a:off x="4846320" y="1508760"/>
            <a:ext cx="3657600" cy="219456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chemeClr val="tx1"/>
                </a:solidFill>
              </a:rPr>
              <a:t>Hierarchical density-based clustering: builds a minimum spanning tree on mutual-reachability distance, keeps the most stable density clusters</a:t>
            </a:r>
            <a:endParaRPr lang="en-US" sz="1300" dirty="0"/>
          </a:p>
          <a:p>
            <a:pPr marL="342900" indent="-342900">
              <a:spcAft>
                <a:spcPts val="600"/>
              </a:spcAft>
              <a:buSzPct val="100000"/>
              <a:buChar char="•"/>
            </a:pPr>
            <a:r>
              <a:rPr lang="en-US" sz="1300" dirty="0">
                <a:solidFill>
                  <a:schemeClr val="tx1"/>
                </a:solidFill>
              </a:rPr>
              <a:t>No k needed; only min_cluster_size</a:t>
            </a:r>
            <a:endParaRPr lang="en-US" sz="1300" dirty="0"/>
          </a:p>
          <a:p>
            <a:pPr marL="342900" indent="-342900">
              <a:spcAft>
                <a:spcPts val="600"/>
              </a:spcAft>
              <a:buSzPct val="100000"/>
              <a:buChar char="•"/>
            </a:pPr>
            <a:r>
              <a:rPr lang="en-US" sz="1300" dirty="0">
                <a:solidFill>
                  <a:schemeClr val="tx1"/>
                </a:solidFill>
              </a:rPr>
              <a:t>Labels low-density points as noise → natural outlier detector</a:t>
            </a:r>
            <a:endParaRPr lang="en-US" sz="1300" dirty="0"/>
          </a:p>
        </p:txBody>
      </p:sp>
      <p:sp>
        <p:nvSpPr>
          <p:cNvPr id="9" name="Text 7"/>
          <p:cNvSpPr txBox="1"/>
          <p:nvPr/>
        </p:nvSpPr>
        <p:spPr>
          <a:xfrm>
            <a:off x="457200" y="3931920"/>
            <a:ext cx="8229600" cy="640080"/>
          </a:xfrm>
          <a:prstGeom prst="rect">
            <a:avLst/>
          </a:prstGeom>
          <a:noFill/>
          <a:ln/>
        </p:spPr>
        <p:txBody>
          <a:bodyPr wrap="square" lIns="635" tIns="635" rIns="635" bIns="635" rtlCol="0" anchor="t"/>
          <a:lstStyle/>
          <a:p>
            <a:pPr indent="0" marL="0">
              <a:buNone/>
            </a:pPr>
            <a:r>
              <a:rPr lang="en-US" sz="1300" dirty="0">
                <a:solidFill>
                  <a:schemeClr val="accent1"/>
                </a:solidFill>
              </a:rPr>
              <a:t>Input for both: the 5 PCA scores of 77 provinces. Question: are there natural flood-impact types, and which provinces are atypical?</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Technique 2: Moran’s I and LISA hotspots</a:t>
            </a:r>
            <a:endParaRPr lang="en-US" sz="2800" dirty="0"/>
          </a:p>
        </p:txBody>
      </p:sp>
      <p:sp>
        <p:nvSpPr>
          <p:cNvPr id="3" name="Shape 1"/>
          <p:cNvSpPr/>
          <p:nvPr/>
        </p:nvSpPr>
        <p:spPr>
          <a:xfrm>
            <a:off x="457200" y="1005840"/>
            <a:ext cx="4023360" cy="1417320"/>
          </a:xfrm>
          <a:prstGeom prst="roundRect">
            <a:avLst>
              <a:gd name="adj" fmla="val 5161"/>
            </a:avLst>
          </a:prstGeom>
          <a:solidFill>
            <a:srgbClr val="EAF2F8"/>
          </a:solidFill>
          <a:ln w="12700">
            <a:solidFill>
              <a:srgbClr val="EAF2F8"/>
            </a:solidFill>
            <a:prstDash val="solid"/>
          </a:ln>
        </p:spPr>
      </p:sp>
      <p:sp>
        <p:nvSpPr>
          <p:cNvPr id="4" name="Text 2"/>
          <p:cNvSpPr txBox="1"/>
          <p:nvPr/>
        </p:nvSpPr>
        <p:spPr>
          <a:xfrm>
            <a:off x="640080" y="1051560"/>
            <a:ext cx="3657600" cy="365760"/>
          </a:xfrm>
          <a:prstGeom prst="rect">
            <a:avLst/>
          </a:prstGeom>
          <a:noFill/>
          <a:ln/>
        </p:spPr>
        <p:txBody>
          <a:bodyPr wrap="square" lIns="635" tIns="635" rIns="635" bIns="635" rtlCol="0" anchor="t"/>
          <a:lstStyle/>
          <a:p>
            <a:pPr indent="0" marL="0">
              <a:buNone/>
            </a:pPr>
            <a:r>
              <a:rPr lang="en-US" sz="1500" b="1" dirty="0">
                <a:solidFill>
                  <a:schemeClr val="tx2"/>
                </a:solidFill>
              </a:rPr>
              <a:t>Global Moran’s I (not covered in class)</a:t>
            </a:r>
            <a:endParaRPr lang="en-US" sz="1500" dirty="0"/>
          </a:p>
        </p:txBody>
      </p:sp>
      <p:sp>
        <p:nvSpPr>
          <p:cNvPr id="5" name="Text 3"/>
          <p:cNvSpPr txBox="1"/>
          <p:nvPr/>
        </p:nvSpPr>
        <p:spPr>
          <a:xfrm>
            <a:off x="640080" y="1417320"/>
            <a:ext cx="3657600" cy="365760"/>
          </a:xfrm>
          <a:prstGeom prst="rect">
            <a:avLst/>
          </a:prstGeom>
          <a:noFill/>
          <a:ln/>
        </p:spPr>
        <p:txBody>
          <a:bodyPr wrap="square" lIns="635" tIns="635" rIns="635" bIns="635" rtlCol="0" anchor="t"/>
          <a:lstStyle/>
          <a:p>
            <a:pPr indent="0" marL="0">
              <a:buNone/>
            </a:pPr>
            <a:r>
              <a:rPr lang="en-US" sz="1500" i="1" dirty="0">
                <a:solidFill>
                  <a:schemeClr val="tx1"/>
                </a:solidFill>
                <a:latin typeface="Cambria" pitchFamily="34" charset="0"/>
                <a:ea typeface="Cambria" pitchFamily="34" charset="-122"/>
                <a:cs typeface="Cambria" pitchFamily="34" charset="-120"/>
              </a:rPr>
              <a:t>I = (n / ΣΣwᵢⱼ) · ΣΣ wᵢⱼ zᵢ zⱼ / Σ zᵢ²</a:t>
            </a:r>
            <a:endParaRPr lang="en-US" sz="1500" dirty="0"/>
          </a:p>
        </p:txBody>
      </p:sp>
      <p:sp>
        <p:nvSpPr>
          <p:cNvPr id="6" name="Text 4"/>
          <p:cNvSpPr txBox="1"/>
          <p:nvPr/>
        </p:nvSpPr>
        <p:spPr>
          <a:xfrm>
            <a:off x="640080" y="1783080"/>
            <a:ext cx="3657600" cy="594360"/>
          </a:xfrm>
          <a:prstGeom prst="rect">
            <a:avLst/>
          </a:prstGeom>
          <a:noFill/>
          <a:ln/>
        </p:spPr>
        <p:txBody>
          <a:bodyPr wrap="square" lIns="635" tIns="635" rIns="635" bIns="635" rtlCol="0" anchor="t"/>
          <a:lstStyle/>
          <a:p>
            <a:pPr indent="0" marL="0">
              <a:buNone/>
            </a:pPr>
            <a:r>
              <a:rPr lang="en-US" sz="1200" dirty="0">
                <a:solidFill>
                  <a:schemeClr val="tx1"/>
                </a:solidFill>
              </a:rPr>
              <a:t>Do neighbouring provinces have similar severity? I &gt; 0 = clustered, ≈ 0 = random.</a:t>
            </a:r>
            <a:endParaRPr lang="en-US" sz="1200" dirty="0"/>
          </a:p>
        </p:txBody>
      </p:sp>
      <p:sp>
        <p:nvSpPr>
          <p:cNvPr id="7" name="Shape 5"/>
          <p:cNvSpPr/>
          <p:nvPr/>
        </p:nvSpPr>
        <p:spPr>
          <a:xfrm>
            <a:off x="457200" y="2560320"/>
            <a:ext cx="4023360" cy="1417320"/>
          </a:xfrm>
          <a:prstGeom prst="roundRect">
            <a:avLst>
              <a:gd name="adj" fmla="val 5161"/>
            </a:avLst>
          </a:prstGeom>
          <a:solidFill>
            <a:srgbClr val="EAF2F8"/>
          </a:solidFill>
          <a:ln w="12700">
            <a:solidFill>
              <a:srgbClr val="EAF2F8"/>
            </a:solidFill>
            <a:prstDash val="solid"/>
          </a:ln>
        </p:spPr>
      </p:sp>
      <p:sp>
        <p:nvSpPr>
          <p:cNvPr id="8" name="Text 6"/>
          <p:cNvSpPr txBox="1"/>
          <p:nvPr/>
        </p:nvSpPr>
        <p:spPr>
          <a:xfrm>
            <a:off x="640080" y="2606040"/>
            <a:ext cx="3657600" cy="365760"/>
          </a:xfrm>
          <a:prstGeom prst="rect">
            <a:avLst/>
          </a:prstGeom>
          <a:noFill/>
          <a:ln/>
        </p:spPr>
        <p:txBody>
          <a:bodyPr wrap="square" lIns="635" tIns="635" rIns="635" bIns="635" rtlCol="0" anchor="t"/>
          <a:lstStyle/>
          <a:p>
            <a:pPr indent="0" marL="0">
              <a:buNone/>
            </a:pPr>
            <a:r>
              <a:rPr lang="en-US" sz="1500" b="1" dirty="0">
                <a:solidFill>
                  <a:schemeClr val="tx2"/>
                </a:solidFill>
              </a:rPr>
              <a:t>LISA – Local Moran’s Iᵢ</a:t>
            </a:r>
            <a:endParaRPr lang="en-US" sz="1500" dirty="0"/>
          </a:p>
        </p:txBody>
      </p:sp>
      <p:sp>
        <p:nvSpPr>
          <p:cNvPr id="9" name="Text 7"/>
          <p:cNvSpPr txBox="1"/>
          <p:nvPr/>
        </p:nvSpPr>
        <p:spPr>
          <a:xfrm>
            <a:off x="640080" y="2971800"/>
            <a:ext cx="3657600" cy="960120"/>
          </a:xfrm>
          <a:prstGeom prst="rect">
            <a:avLst/>
          </a:prstGeom>
          <a:noFill/>
          <a:ln/>
        </p:spPr>
        <p:txBody>
          <a:bodyPr wrap="square" lIns="635" tIns="635" rIns="635" bIns="635" rtlCol="0" anchor="t"/>
          <a:lstStyle/>
          <a:p>
            <a:pPr indent="0" marL="0">
              <a:buNone/>
            </a:pPr>
            <a:r>
              <a:rPr lang="en-US" sz="1200" dirty="0">
                <a:solidFill>
                  <a:schemeClr val="tx1"/>
                </a:solidFill>
              </a:rPr>
              <a:t>One statistic per province: HH = high severity surrounded by high (hotspot), LL = coldspot, HL/LH = spatial outliers. Significance by 9,999 conditional permutations, p &lt; 0.05.</a:t>
            </a:r>
            <a:endParaRPr lang="en-US" sz="1200" dirty="0"/>
          </a:p>
        </p:txBody>
      </p:sp>
      <p:sp>
        <p:nvSpPr>
          <p:cNvPr id="10" name="Text 8"/>
          <p:cNvSpPr txBox="1"/>
          <p:nvPr/>
        </p:nvSpPr>
        <p:spPr>
          <a:xfrm>
            <a:off x="457200" y="4114800"/>
            <a:ext cx="4023360" cy="548640"/>
          </a:xfrm>
          <a:prstGeom prst="rect">
            <a:avLst/>
          </a:prstGeom>
          <a:noFill/>
          <a:ln/>
        </p:spPr>
        <p:txBody>
          <a:bodyPr wrap="square" lIns="635" tIns="635" rIns="635" bIns="635" rtlCol="0" anchor="t"/>
          <a:lstStyle/>
          <a:p>
            <a:pPr indent="0" marL="0">
              <a:buNone/>
            </a:pPr>
            <a:r>
              <a:rPr lang="en-US" sz="1150" dirty="0">
                <a:solidFill>
                  <a:schemeClr val="accent6"/>
                </a:solidFill>
              </a:rPr>
              <a:t>Spatial weights: Queen contiguity (shared border), row-standardised; mean 4.6 neighbours per province.</a:t>
            </a:r>
            <a:endParaRPr lang="en-US" sz="1150" dirty="0"/>
          </a:p>
        </p:txBody>
      </p:sp>
      <p:sp>
        <p:nvSpPr>
          <p:cNvPr id="11" name="Shape 9"/>
          <p:cNvSpPr/>
          <p:nvPr/>
        </p:nvSpPr>
        <p:spPr>
          <a:xfrm>
            <a:off x="4937760" y="1051560"/>
            <a:ext cx="1554480" cy="1554480"/>
          </a:xfrm>
          <a:prstGeom prst="rect">
            <a:avLst/>
          </a:prstGeom>
          <a:solidFill>
            <a:srgbClr val="ABD9E9"/>
          </a:solidFill>
          <a:ln w="12700">
            <a:solidFill>
              <a:srgbClr val="ABD9E9"/>
            </a:solidFill>
            <a:prstDash val="solid"/>
          </a:ln>
        </p:spPr>
      </p:sp>
      <p:sp>
        <p:nvSpPr>
          <p:cNvPr id="12" name="Text 10"/>
          <p:cNvSpPr txBox="1"/>
          <p:nvPr/>
        </p:nvSpPr>
        <p:spPr>
          <a:xfrm>
            <a:off x="4937760" y="1051560"/>
            <a:ext cx="1554480" cy="1554480"/>
          </a:xfrm>
          <a:prstGeom prst="rect">
            <a:avLst/>
          </a:prstGeom>
          <a:noFill/>
          <a:ln/>
        </p:spPr>
        <p:txBody>
          <a:bodyPr wrap="square" lIns="635" tIns="635" rIns="635" bIns="635" rtlCol="0" anchor="ctr"/>
          <a:lstStyle/>
          <a:p>
            <a:pPr algn="ctr" indent="0" marL="0">
              <a:buNone/>
            </a:pPr>
            <a:r>
              <a:rPr lang="en-US" sz="1500" b="1" dirty="0">
                <a:solidFill>
                  <a:schemeClr val="tx1"/>
                </a:solidFill>
              </a:rPr>
              <a:t>LH</a:t>
            </a:r>
            <a:endParaRPr lang="en-US" sz="1500" dirty="0"/>
          </a:p>
        </p:txBody>
      </p:sp>
      <p:sp>
        <p:nvSpPr>
          <p:cNvPr id="13" name="Shape 11"/>
          <p:cNvSpPr/>
          <p:nvPr/>
        </p:nvSpPr>
        <p:spPr>
          <a:xfrm>
            <a:off x="6537960" y="1051560"/>
            <a:ext cx="1554480" cy="1554480"/>
          </a:xfrm>
          <a:prstGeom prst="rect">
            <a:avLst/>
          </a:prstGeom>
          <a:solidFill>
            <a:srgbClr val="D7191C"/>
          </a:solidFill>
          <a:ln w="12700">
            <a:solidFill>
              <a:srgbClr val="D7191C"/>
            </a:solidFill>
            <a:prstDash val="solid"/>
          </a:ln>
        </p:spPr>
      </p:sp>
      <p:sp>
        <p:nvSpPr>
          <p:cNvPr id="14" name="Text 12"/>
          <p:cNvSpPr txBox="1"/>
          <p:nvPr/>
        </p:nvSpPr>
        <p:spPr>
          <a:xfrm>
            <a:off x="6537960" y="1051560"/>
            <a:ext cx="1554480" cy="1554480"/>
          </a:xfrm>
          <a:prstGeom prst="rect">
            <a:avLst/>
          </a:prstGeom>
          <a:noFill/>
          <a:ln/>
        </p:spPr>
        <p:txBody>
          <a:bodyPr wrap="square" lIns="635" tIns="635" rIns="635" bIns="635" rtlCol="0" anchor="ctr"/>
          <a:lstStyle/>
          <a:p>
            <a:pPr algn="ctr" indent="0" marL="0">
              <a:buNone/>
            </a:pPr>
            <a:r>
              <a:rPr lang="en-US" sz="1500" b="1" dirty="0">
                <a:solidFill>
                  <a:schemeClr val="bg1"/>
                </a:solidFill>
              </a:rPr>
              <a:t>HH  hotspot</a:t>
            </a:r>
            <a:endParaRPr lang="en-US" sz="1500" dirty="0"/>
          </a:p>
        </p:txBody>
      </p:sp>
      <p:sp>
        <p:nvSpPr>
          <p:cNvPr id="15" name="Shape 13"/>
          <p:cNvSpPr/>
          <p:nvPr/>
        </p:nvSpPr>
        <p:spPr>
          <a:xfrm>
            <a:off x="4937760" y="2651760"/>
            <a:ext cx="1554480" cy="1554480"/>
          </a:xfrm>
          <a:prstGeom prst="rect">
            <a:avLst/>
          </a:prstGeom>
          <a:solidFill>
            <a:srgbClr val="2C7BB6"/>
          </a:solidFill>
          <a:ln w="12700">
            <a:solidFill>
              <a:srgbClr val="2C7BB6"/>
            </a:solidFill>
            <a:prstDash val="solid"/>
          </a:ln>
        </p:spPr>
      </p:sp>
      <p:sp>
        <p:nvSpPr>
          <p:cNvPr id="16" name="Text 14"/>
          <p:cNvSpPr txBox="1"/>
          <p:nvPr/>
        </p:nvSpPr>
        <p:spPr>
          <a:xfrm>
            <a:off x="4937760" y="2651760"/>
            <a:ext cx="1554480" cy="1554480"/>
          </a:xfrm>
          <a:prstGeom prst="rect">
            <a:avLst/>
          </a:prstGeom>
          <a:noFill/>
          <a:ln/>
        </p:spPr>
        <p:txBody>
          <a:bodyPr wrap="square" lIns="635" tIns="635" rIns="635" bIns="635" rtlCol="0" anchor="ctr"/>
          <a:lstStyle/>
          <a:p>
            <a:pPr algn="ctr" indent="0" marL="0">
              <a:buNone/>
            </a:pPr>
            <a:r>
              <a:rPr lang="en-US" sz="1500" b="1" dirty="0">
                <a:solidFill>
                  <a:schemeClr val="bg1"/>
                </a:solidFill>
              </a:rPr>
              <a:t>LL  coldspot</a:t>
            </a:r>
            <a:endParaRPr lang="en-US" sz="1500" dirty="0"/>
          </a:p>
        </p:txBody>
      </p:sp>
      <p:sp>
        <p:nvSpPr>
          <p:cNvPr id="17" name="Shape 15"/>
          <p:cNvSpPr/>
          <p:nvPr/>
        </p:nvSpPr>
        <p:spPr>
          <a:xfrm>
            <a:off x="6537960" y="2651760"/>
            <a:ext cx="1554480" cy="1554480"/>
          </a:xfrm>
          <a:prstGeom prst="rect">
            <a:avLst/>
          </a:prstGeom>
          <a:solidFill>
            <a:srgbClr val="FDAE61"/>
          </a:solidFill>
          <a:ln w="12700">
            <a:solidFill>
              <a:srgbClr val="FDAE61"/>
            </a:solidFill>
            <a:prstDash val="solid"/>
          </a:ln>
        </p:spPr>
      </p:sp>
      <p:sp>
        <p:nvSpPr>
          <p:cNvPr id="18" name="Text 16"/>
          <p:cNvSpPr txBox="1"/>
          <p:nvPr/>
        </p:nvSpPr>
        <p:spPr>
          <a:xfrm>
            <a:off x="6537960" y="2651760"/>
            <a:ext cx="1554480" cy="1554480"/>
          </a:xfrm>
          <a:prstGeom prst="rect">
            <a:avLst/>
          </a:prstGeom>
          <a:noFill/>
          <a:ln/>
        </p:spPr>
        <p:txBody>
          <a:bodyPr wrap="square" lIns="635" tIns="635" rIns="635" bIns="635" rtlCol="0" anchor="ctr"/>
          <a:lstStyle/>
          <a:p>
            <a:pPr algn="ctr" indent="0" marL="0">
              <a:buNone/>
            </a:pPr>
            <a:r>
              <a:rPr lang="en-US" sz="1500" b="1" dirty="0">
                <a:solidFill>
                  <a:schemeClr val="tx1"/>
                </a:solidFill>
              </a:rPr>
              <a:t>HL</a:t>
            </a:r>
            <a:endParaRPr lang="en-US" sz="1500" dirty="0"/>
          </a:p>
        </p:txBody>
      </p:sp>
      <p:sp>
        <p:nvSpPr>
          <p:cNvPr id="19" name="Text 17"/>
          <p:cNvSpPr txBox="1"/>
          <p:nvPr/>
        </p:nvSpPr>
        <p:spPr>
          <a:xfrm>
            <a:off x="4937760" y="4270248"/>
            <a:ext cx="3200400" cy="274320"/>
          </a:xfrm>
          <a:prstGeom prst="rect">
            <a:avLst/>
          </a:prstGeom>
          <a:noFill/>
          <a:ln/>
        </p:spPr>
        <p:txBody>
          <a:bodyPr wrap="square" lIns="635" tIns="635" rIns="635" bIns="635" rtlCol="0" anchor="t"/>
          <a:lstStyle/>
          <a:p>
            <a:pPr algn="ctr" indent="0" marL="0">
              <a:buNone/>
            </a:pPr>
            <a:r>
              <a:rPr lang="en-US" sz="1100" dirty="0">
                <a:solidFill>
                  <a:schemeClr val="accent6"/>
                </a:solidFill>
              </a:rPr>
              <a:t>own severity (z) →</a:t>
            </a:r>
            <a:endParaRPr lang="en-US" sz="1100" dirty="0"/>
          </a:p>
        </p:txBody>
      </p:sp>
      <p:sp>
        <p:nvSpPr>
          <p:cNvPr id="20" name="Text 18"/>
          <p:cNvSpPr txBox="1"/>
          <p:nvPr/>
        </p:nvSpPr>
        <p:spPr>
          <a:xfrm>
            <a:off x="8183880" y="1051560"/>
            <a:ext cx="548640" cy="3200400"/>
          </a:xfrm>
          <a:prstGeom prst="rect">
            <a:avLst/>
          </a:prstGeom>
          <a:noFill/>
          <a:ln/>
        </p:spPr>
        <p:txBody>
          <a:bodyPr wrap="square" lIns="635" tIns="635" rIns="635" bIns="635" rtlCol="0" anchor="ctr" vert="vert270"/>
          <a:lstStyle/>
          <a:p>
            <a:pPr algn="ctr" indent="0" marL="0">
              <a:buNone/>
            </a:pPr>
            <a:r>
              <a:rPr lang="en-US" sz="1100" dirty="0">
                <a:solidFill>
                  <a:schemeClr val="accent6"/>
                </a:solidFill>
              </a:rPr>
              <a:t>neighbours’ average (spatial lag) →</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Result: 4 flood-impact types (K-Means)</a:t>
            </a:r>
            <a:endParaRPr lang="en-US" sz="2800" dirty="0"/>
          </a:p>
        </p:txBody>
      </p:sp>
      <p:pic>
        <p:nvPicPr>
          <p:cNvPr id="3" name="fig_clusters_map" descr="clusters_map">    </p:cNvPr>
          <p:cNvPicPr>
            <a:picLocks noChangeAspect="1"/>
          </p:cNvPicPr>
          <p:nvPr/>
        </p:nvPicPr>
        <p:blipFill>
          <a:blip r:embed="rId1"/>
          <a:stretch>
            <a:fillRect/>
          </a:stretch>
        </p:blipFill>
        <p:spPr>
          <a:xfrm>
            <a:off x="274320" y="1375871"/>
            <a:ext cx="3840480" cy="2917537"/>
          </a:xfrm>
          <a:prstGeom prst="rect">
            <a:avLst/>
          </a:prstGeom>
        </p:spPr>
      </p:pic>
      <p:sp>
        <p:nvSpPr>
          <p:cNvPr id="4" name="Shape 1"/>
          <p:cNvSpPr/>
          <p:nvPr/>
        </p:nvSpPr>
        <p:spPr>
          <a:xfrm>
            <a:off x="4297680" y="960120"/>
            <a:ext cx="4434840" cy="850392"/>
          </a:xfrm>
          <a:prstGeom prst="roundRect">
            <a:avLst>
              <a:gd name="adj" fmla="val 8602"/>
            </a:avLst>
          </a:prstGeom>
          <a:solidFill>
            <a:srgbClr val="EAF2F8"/>
          </a:solidFill>
          <a:ln w="12700">
            <a:solidFill>
              <a:srgbClr val="EAF2F8"/>
            </a:solidFill>
            <a:prstDash val="solid"/>
          </a:ln>
        </p:spPr>
      </p:sp>
      <p:sp>
        <p:nvSpPr>
          <p:cNvPr id="5" name="Shape 2"/>
          <p:cNvSpPr/>
          <p:nvPr/>
        </p:nvSpPr>
        <p:spPr>
          <a:xfrm>
            <a:off x="4407408" y="1069848"/>
            <a:ext cx="292608" cy="292608"/>
          </a:xfrm>
          <a:prstGeom prst="ellipse">
            <a:avLst/>
          </a:prstGeom>
          <a:solidFill>
            <a:srgbClr val="FDAE61"/>
          </a:solidFill>
          <a:ln w="12700">
            <a:solidFill>
              <a:srgbClr val="FDAE61"/>
            </a:solidFill>
            <a:prstDash val="solid"/>
          </a:ln>
        </p:spPr>
      </p:sp>
      <p:sp>
        <p:nvSpPr>
          <p:cNvPr id="6" name="Text 3"/>
          <p:cNvSpPr txBox="1"/>
          <p:nvPr/>
        </p:nvSpPr>
        <p:spPr>
          <a:xfrm>
            <a:off x="4773168" y="1014984"/>
            <a:ext cx="3886200" cy="329184"/>
          </a:xfrm>
          <a:prstGeom prst="rect">
            <a:avLst/>
          </a:prstGeom>
          <a:noFill/>
          <a:ln/>
        </p:spPr>
        <p:txBody>
          <a:bodyPr wrap="square" lIns="635" tIns="635" rIns="635" bIns="635" rtlCol="0" anchor="t"/>
          <a:lstStyle/>
          <a:p>
            <a:pPr indent="0" marL="0">
              <a:buNone/>
            </a:pPr>
            <a:r>
              <a:rPr lang="en-US" sz="1350" b="1" dirty="0">
                <a:solidFill>
                  <a:schemeClr val="tx2"/>
                </a:solidFill>
              </a:rPr>
              <a:t>K2 Flash-flood / human impact (16)</a:t>
            </a:r>
            <a:endParaRPr lang="en-US" sz="1350" dirty="0"/>
          </a:p>
        </p:txBody>
      </p:sp>
      <p:sp>
        <p:nvSpPr>
          <p:cNvPr id="7" name="Text 4"/>
          <p:cNvSpPr txBox="1"/>
          <p:nvPr/>
        </p:nvSpPr>
        <p:spPr>
          <a:xfrm>
            <a:off x="4773168" y="1344168"/>
            <a:ext cx="3886200" cy="457200"/>
          </a:xfrm>
          <a:prstGeom prst="rect">
            <a:avLst/>
          </a:prstGeom>
          <a:noFill/>
          <a:ln/>
        </p:spPr>
        <p:txBody>
          <a:bodyPr wrap="square" lIns="635" tIns="635" rIns="635" bIns="635" rtlCol="0" anchor="t"/>
          <a:lstStyle/>
          <a:p>
            <a:pPr indent="0" marL="0">
              <a:buNone/>
            </a:pPr>
            <a:r>
              <a:rPr lang="en-US" sz="1150" dirty="0">
                <a:solidFill>
                  <a:schemeClr val="tx1"/>
                </a:solidFill>
              </a:rPr>
              <a:t>North uplands &amp; deep south – most people affected (70/1k/yr), casualties, public sites</a:t>
            </a:r>
            <a:endParaRPr lang="en-US" sz="1150" dirty="0"/>
          </a:p>
        </p:txBody>
      </p:sp>
      <p:sp>
        <p:nvSpPr>
          <p:cNvPr id="8" name="Shape 5"/>
          <p:cNvSpPr/>
          <p:nvPr/>
        </p:nvSpPr>
        <p:spPr>
          <a:xfrm>
            <a:off x="4297680" y="1901952"/>
            <a:ext cx="4434840" cy="850392"/>
          </a:xfrm>
          <a:prstGeom prst="roundRect">
            <a:avLst>
              <a:gd name="adj" fmla="val 8602"/>
            </a:avLst>
          </a:prstGeom>
          <a:solidFill>
            <a:srgbClr val="EAF2F8"/>
          </a:solidFill>
          <a:ln w="12700">
            <a:solidFill>
              <a:srgbClr val="EAF2F8"/>
            </a:solidFill>
            <a:prstDash val="solid"/>
          </a:ln>
        </p:spPr>
      </p:sp>
      <p:sp>
        <p:nvSpPr>
          <p:cNvPr id="9" name="Shape 6"/>
          <p:cNvSpPr/>
          <p:nvPr/>
        </p:nvSpPr>
        <p:spPr>
          <a:xfrm>
            <a:off x="4407408" y="2011680"/>
            <a:ext cx="292608" cy="292608"/>
          </a:xfrm>
          <a:prstGeom prst="ellipse">
            <a:avLst/>
          </a:prstGeom>
          <a:solidFill>
            <a:srgbClr val="D7191C"/>
          </a:solidFill>
          <a:ln w="12700">
            <a:solidFill>
              <a:srgbClr val="D7191C"/>
            </a:solidFill>
            <a:prstDash val="solid"/>
          </a:ln>
        </p:spPr>
      </p:sp>
      <p:sp>
        <p:nvSpPr>
          <p:cNvPr id="10" name="Text 7"/>
          <p:cNvSpPr txBox="1"/>
          <p:nvPr/>
        </p:nvSpPr>
        <p:spPr>
          <a:xfrm>
            <a:off x="4773168" y="1956816"/>
            <a:ext cx="3886200" cy="329184"/>
          </a:xfrm>
          <a:prstGeom prst="rect">
            <a:avLst/>
          </a:prstGeom>
          <a:noFill/>
          <a:ln/>
        </p:spPr>
        <p:txBody>
          <a:bodyPr wrap="square" lIns="635" tIns="635" rIns="635" bIns="635" rtlCol="0" anchor="t"/>
          <a:lstStyle/>
          <a:p>
            <a:pPr indent="0" marL="0">
              <a:buNone/>
            </a:pPr>
            <a:r>
              <a:rPr lang="en-US" sz="1350" b="1" dirty="0">
                <a:solidFill>
                  <a:schemeClr val="tx2"/>
                </a:solidFill>
              </a:rPr>
              <a:t>K3 Agricultural basin flooding (27)</a:t>
            </a:r>
            <a:endParaRPr lang="en-US" sz="1350" dirty="0"/>
          </a:p>
        </p:txBody>
      </p:sp>
      <p:sp>
        <p:nvSpPr>
          <p:cNvPr id="11" name="Text 8"/>
          <p:cNvSpPr txBox="1"/>
          <p:nvPr/>
        </p:nvSpPr>
        <p:spPr>
          <a:xfrm>
            <a:off x="4773168" y="2286000"/>
            <a:ext cx="3886200" cy="457200"/>
          </a:xfrm>
          <a:prstGeom prst="rect">
            <a:avLst/>
          </a:prstGeom>
          <a:noFill/>
          <a:ln/>
        </p:spPr>
        <p:txBody>
          <a:bodyPr wrap="square" lIns="635" tIns="635" rIns="635" bIns="635" rtlCol="0" anchor="t"/>
          <a:lstStyle/>
          <a:p>
            <a:pPr indent="0" marL="0">
              <a:buNone/>
            </a:pPr>
            <a:r>
              <a:rPr lang="en-US" sz="1150" dirty="0">
                <a:solidFill>
                  <a:schemeClr val="tx1"/>
                </a:solidFill>
              </a:rPr>
              <a:t>NE &amp; lower-north basins – 10 rai farmland/km²/yr, fisheries, roads</a:t>
            </a:r>
            <a:endParaRPr lang="en-US" sz="1150" dirty="0"/>
          </a:p>
        </p:txBody>
      </p:sp>
      <p:sp>
        <p:nvSpPr>
          <p:cNvPr id="12" name="Shape 9"/>
          <p:cNvSpPr/>
          <p:nvPr/>
        </p:nvSpPr>
        <p:spPr>
          <a:xfrm>
            <a:off x="4297680" y="2843784"/>
            <a:ext cx="4434840" cy="850392"/>
          </a:xfrm>
          <a:prstGeom prst="roundRect">
            <a:avLst>
              <a:gd name="adj" fmla="val 8602"/>
            </a:avLst>
          </a:prstGeom>
          <a:solidFill>
            <a:srgbClr val="EAF2F8"/>
          </a:solidFill>
          <a:ln w="12700">
            <a:solidFill>
              <a:srgbClr val="EAF2F8"/>
            </a:solidFill>
            <a:prstDash val="solid"/>
          </a:ln>
        </p:spPr>
      </p:sp>
      <p:sp>
        <p:nvSpPr>
          <p:cNvPr id="13" name="Shape 10"/>
          <p:cNvSpPr/>
          <p:nvPr/>
        </p:nvSpPr>
        <p:spPr>
          <a:xfrm>
            <a:off x="4407408" y="2953512"/>
            <a:ext cx="292608" cy="292608"/>
          </a:xfrm>
          <a:prstGeom prst="ellipse">
            <a:avLst/>
          </a:prstGeom>
          <a:solidFill>
            <a:srgbClr val="ABD9E9"/>
          </a:solidFill>
          <a:ln w="12700">
            <a:solidFill>
              <a:srgbClr val="ABD9E9"/>
            </a:solidFill>
            <a:prstDash val="solid"/>
          </a:ln>
        </p:spPr>
      </p:sp>
      <p:sp>
        <p:nvSpPr>
          <p:cNvPr id="14" name="Text 11"/>
          <p:cNvSpPr txBox="1"/>
          <p:nvPr/>
        </p:nvSpPr>
        <p:spPr>
          <a:xfrm>
            <a:off x="4773168" y="2898648"/>
            <a:ext cx="3886200" cy="329184"/>
          </a:xfrm>
          <a:prstGeom prst="rect">
            <a:avLst/>
          </a:prstGeom>
          <a:noFill/>
          <a:ln/>
        </p:spPr>
        <p:txBody>
          <a:bodyPr wrap="square" lIns="635" tIns="635" rIns="635" bIns="635" rtlCol="0" anchor="t"/>
          <a:lstStyle/>
          <a:p>
            <a:pPr indent="0" marL="0">
              <a:buNone/>
            </a:pPr>
            <a:r>
              <a:rPr lang="en-US" sz="1350" b="1" dirty="0">
                <a:solidFill>
                  <a:schemeClr val="tx2"/>
                </a:solidFill>
              </a:rPr>
              <a:t>K1 Moderate impact (24)</a:t>
            </a:r>
            <a:endParaRPr lang="en-US" sz="1350" dirty="0"/>
          </a:p>
        </p:txBody>
      </p:sp>
      <p:sp>
        <p:nvSpPr>
          <p:cNvPr id="15" name="Text 12"/>
          <p:cNvSpPr txBox="1"/>
          <p:nvPr/>
        </p:nvSpPr>
        <p:spPr>
          <a:xfrm>
            <a:off x="4773168" y="3227832"/>
            <a:ext cx="3886200" cy="457200"/>
          </a:xfrm>
          <a:prstGeom prst="rect">
            <a:avLst/>
          </a:prstGeom>
          <a:noFill/>
          <a:ln/>
        </p:spPr>
        <p:txBody>
          <a:bodyPr wrap="square" lIns="635" tIns="635" rIns="635" bIns="635" rtlCol="0" anchor="t"/>
          <a:lstStyle/>
          <a:p>
            <a:pPr indent="0" marL="0">
              <a:buNone/>
            </a:pPr>
            <a:r>
              <a:rPr lang="en-US" sz="1150" dirty="0">
                <a:solidFill>
                  <a:schemeClr val="tx1"/>
                </a:solidFill>
              </a:rPr>
              <a:t>East, lower south, parts of NE – moderate, frequent but small</a:t>
            </a:r>
            <a:endParaRPr lang="en-US" sz="1150" dirty="0"/>
          </a:p>
        </p:txBody>
      </p:sp>
      <p:sp>
        <p:nvSpPr>
          <p:cNvPr id="16" name="Shape 13"/>
          <p:cNvSpPr/>
          <p:nvPr/>
        </p:nvSpPr>
        <p:spPr>
          <a:xfrm>
            <a:off x="4297680" y="3785616"/>
            <a:ext cx="4434840" cy="850392"/>
          </a:xfrm>
          <a:prstGeom prst="roundRect">
            <a:avLst>
              <a:gd name="adj" fmla="val 8602"/>
            </a:avLst>
          </a:prstGeom>
          <a:solidFill>
            <a:srgbClr val="EAF2F8"/>
          </a:solidFill>
          <a:ln w="12700">
            <a:solidFill>
              <a:srgbClr val="EAF2F8"/>
            </a:solidFill>
            <a:prstDash val="solid"/>
          </a:ln>
        </p:spPr>
      </p:sp>
      <p:sp>
        <p:nvSpPr>
          <p:cNvPr id="17" name="Shape 14"/>
          <p:cNvSpPr/>
          <p:nvPr/>
        </p:nvSpPr>
        <p:spPr>
          <a:xfrm>
            <a:off x="4407408" y="3895344"/>
            <a:ext cx="292608" cy="292608"/>
          </a:xfrm>
          <a:prstGeom prst="ellipse">
            <a:avLst/>
          </a:prstGeom>
          <a:solidFill>
            <a:srgbClr val="2C7BB6"/>
          </a:solidFill>
          <a:ln w="12700">
            <a:solidFill>
              <a:srgbClr val="2C7BB6"/>
            </a:solidFill>
            <a:prstDash val="solid"/>
          </a:ln>
        </p:spPr>
      </p:sp>
      <p:sp>
        <p:nvSpPr>
          <p:cNvPr id="18" name="Text 15"/>
          <p:cNvSpPr txBox="1"/>
          <p:nvPr/>
        </p:nvSpPr>
        <p:spPr>
          <a:xfrm>
            <a:off x="4773168" y="3840480"/>
            <a:ext cx="3886200" cy="329184"/>
          </a:xfrm>
          <a:prstGeom prst="rect">
            <a:avLst/>
          </a:prstGeom>
          <a:noFill/>
          <a:ln/>
        </p:spPr>
        <p:txBody>
          <a:bodyPr wrap="square" lIns="635" tIns="635" rIns="635" bIns="635" rtlCol="0" anchor="t"/>
          <a:lstStyle/>
          <a:p>
            <a:pPr indent="0" marL="0">
              <a:buNone/>
            </a:pPr>
            <a:r>
              <a:rPr lang="en-US" sz="1350" b="1" dirty="0">
                <a:solidFill>
                  <a:schemeClr val="tx2"/>
                </a:solidFill>
              </a:rPr>
              <a:t>K0 Low reported impact (10)</a:t>
            </a:r>
            <a:endParaRPr lang="en-US" sz="1350" dirty="0"/>
          </a:p>
        </p:txBody>
      </p:sp>
      <p:sp>
        <p:nvSpPr>
          <p:cNvPr id="19" name="Text 16"/>
          <p:cNvSpPr txBox="1"/>
          <p:nvPr/>
        </p:nvSpPr>
        <p:spPr>
          <a:xfrm>
            <a:off x="4773168" y="4169664"/>
            <a:ext cx="3886200" cy="457200"/>
          </a:xfrm>
          <a:prstGeom prst="rect">
            <a:avLst/>
          </a:prstGeom>
          <a:noFill/>
          <a:ln/>
        </p:spPr>
        <p:txBody>
          <a:bodyPr wrap="square" lIns="635" tIns="635" rIns="635" bIns="635" rtlCol="0" anchor="t"/>
          <a:lstStyle/>
          <a:p>
            <a:pPr indent="0" marL="0">
              <a:buNone/>
            </a:pPr>
            <a:r>
              <a:rPr lang="en-US" sz="1150" dirty="0">
                <a:solidFill>
                  <a:schemeClr val="tx1"/>
                </a:solidFill>
              </a:rPr>
              <a:t>Bangkok ring &amp; Mekong NE – floods declared rarely; low damage per capita</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Result: HDBSCAN finds a continuum + outliers</a:t>
            </a:r>
            <a:endParaRPr lang="en-US" sz="2800" dirty="0"/>
          </a:p>
        </p:txBody>
      </p:sp>
      <p:pic>
        <p:nvPicPr>
          <p:cNvPr id="3" name="fig_clusters_pca" descr="clusters_pca">    </p:cNvPr>
          <p:cNvPicPr>
            <a:picLocks noChangeAspect="1"/>
          </p:cNvPicPr>
          <p:nvPr/>
        </p:nvPicPr>
        <p:blipFill>
          <a:blip r:embed="rId1"/>
          <a:stretch>
            <a:fillRect/>
          </a:stretch>
        </p:blipFill>
        <p:spPr>
          <a:xfrm>
            <a:off x="365760" y="1004534"/>
            <a:ext cx="5120640" cy="2288613"/>
          </a:xfrm>
          <a:prstGeom prst="rect">
            <a:avLst/>
          </a:prstGeom>
        </p:spPr>
      </p:pic>
      <p:sp>
        <p:nvSpPr>
          <p:cNvPr id="4" name="Text 1"/>
          <p:cNvSpPr txBox="1"/>
          <p:nvPr/>
        </p:nvSpPr>
        <p:spPr>
          <a:xfrm>
            <a:off x="5669280" y="960120"/>
            <a:ext cx="3108960" cy="3566160"/>
          </a:xfrm>
          <a:prstGeom prst="rect">
            <a:avLst/>
          </a:prstGeom>
          <a:noFill/>
          <a:ln/>
        </p:spPr>
        <p:txBody>
          <a:bodyPr wrap="square" lIns="635" tIns="635" rIns="635" bIns="635" rtlCol="0" anchor="t"/>
          <a:lstStyle/>
          <a:p>
            <a:pPr marL="342900" indent="-342900">
              <a:buSzPct val="100000"/>
              <a:buChar char="•"/>
            </a:pPr>
            <a:r>
              <a:rPr lang="en-US" sz="1250" b="1" dirty="0">
                <a:solidFill>
                  <a:schemeClr val="tx1"/>
                </a:solidFill>
              </a:rPr>
              <a:t>2 density clusters, 3 noise </a:t>
            </a:r>
            <a:pPr indent="0" marL="0">
              <a:spcAft>
                <a:spcPts val="600"/>
              </a:spcAft>
              <a:buNone/>
            </a:pPr>
            <a:r>
              <a:rPr lang="en-US" sz="1250" dirty="0">
                <a:solidFill>
                  <a:schemeClr val="tx1"/>
                </a:solidFill>
              </a:rPr>
              <a:t>(min_cluster_size = 3, best silhouette with ≤25% noise)</a:t>
            </a:r>
            <a:endParaRPr lang="en-US" sz="1250" dirty="0"/>
          </a:p>
          <a:p>
            <a:pPr marL="342900" indent="-342900">
              <a:buSzPct val="100000"/>
              <a:buChar char="•"/>
            </a:pPr>
            <a:r>
              <a:rPr lang="en-US" sz="1250" b="1" dirty="0">
                <a:solidFill>
                  <a:schemeClr val="tx1"/>
                </a:solidFill>
              </a:rPr>
              <a:t>One dense core of 71 provinces: </a:t>
            </a:r>
            <a:pPr indent="0" marL="0">
              <a:spcAft>
                <a:spcPts val="600"/>
              </a:spcAft>
              <a:buNone/>
            </a:pPr>
            <a:r>
              <a:rPr lang="en-US" sz="1250" dirty="0">
                <a:solidFill>
                  <a:schemeClr val="tx1"/>
                </a:solidFill>
              </a:rPr>
              <a:t>impact varies smoothly – no density gaps between 'types'</a:t>
            </a:r>
            <a:endParaRPr lang="en-US" sz="1250" dirty="0"/>
          </a:p>
          <a:p>
            <a:pPr marL="342900" indent="-342900">
              <a:buSzPct val="100000"/>
              <a:buChar char="•"/>
            </a:pPr>
            <a:r>
              <a:rPr lang="en-US" sz="1250" b="1" dirty="0">
                <a:solidFill>
                  <a:schemeClr val="tx1"/>
                </a:solidFill>
              </a:rPr>
              <a:t>Noise = </a:t>
            </a:r>
            <a:pPr indent="0" marL="0">
              <a:spcAft>
                <a:spcPts val="600"/>
              </a:spcAft>
              <a:buNone/>
            </a:pPr>
            <a:r>
              <a:rPr lang="en-US" sz="1250" dirty="0">
                <a:solidFill>
                  <a:schemeClr val="tx1"/>
                </a:solidFill>
              </a:rPr>
              <a:t>Bangkok, Phra Nakhon Si Ayutthaya, Sing Buri – protected metro / extreme lowland provinces</a:t>
            </a:r>
            <a:endParaRPr lang="en-US" sz="1250" dirty="0"/>
          </a:p>
        </p:txBody>
      </p:sp>
      <p:sp>
        <p:nvSpPr>
          <p:cNvPr id="5" name="Text 2"/>
          <p:cNvSpPr txBox="1"/>
          <p:nvPr/>
        </p:nvSpPr>
        <p:spPr>
          <a:xfrm>
            <a:off x="457200" y="3520440"/>
            <a:ext cx="5029200" cy="1005840"/>
          </a:xfrm>
          <a:prstGeom prst="rect">
            <a:avLst/>
          </a:prstGeom>
          <a:noFill/>
          <a:ln/>
        </p:spPr>
        <p:txBody>
          <a:bodyPr wrap="square" lIns="635" tIns="635" rIns="635" bIns="635" rtlCol="0" anchor="t"/>
          <a:lstStyle/>
          <a:p>
            <a:pPr indent="0" marL="0">
              <a:buNone/>
            </a:pPr>
            <a:r>
              <a:rPr lang="en-US" sz="1300" dirty="0">
                <a:solidFill>
                  <a:schemeClr val="accent1"/>
                </a:solidFill>
              </a:rPr>
              <a:t>Take-away: K-Means gives a usable typology of a continuous gradient; HDBSCAN tells us the gradient has no natural breaks and flags atypical provinces.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Result: impact is spatially clustered</a:t>
            </a:r>
            <a:endParaRPr lang="en-US" sz="2800" dirty="0"/>
          </a:p>
        </p:txBody>
      </p:sp>
      <p:pic>
        <p:nvPicPr>
          <p:cNvPr id="3" name="fig_lisa" descr="lisa">    </p:cNvPr>
          <p:cNvPicPr>
            <a:picLocks noChangeAspect="1"/>
          </p:cNvPicPr>
          <p:nvPr/>
        </p:nvPicPr>
        <p:blipFill>
          <a:blip r:embed="rId1"/>
          <a:stretch>
            <a:fillRect/>
          </a:stretch>
        </p:blipFill>
        <p:spPr>
          <a:xfrm>
            <a:off x="274320" y="923975"/>
            <a:ext cx="5120640" cy="3226969"/>
          </a:xfrm>
          <a:prstGeom prst="rect">
            <a:avLst/>
          </a:prstGeom>
        </p:spPr>
      </p:pic>
      <p:sp>
        <p:nvSpPr>
          <p:cNvPr id="4" name="Text 1"/>
          <p:cNvSpPr txBox="1"/>
          <p:nvPr/>
        </p:nvSpPr>
        <p:spPr>
          <a:xfrm>
            <a:off x="5577840" y="914400"/>
            <a:ext cx="3200400" cy="594360"/>
          </a:xfrm>
          <a:prstGeom prst="rect">
            <a:avLst/>
          </a:prstGeom>
          <a:noFill/>
          <a:ln/>
        </p:spPr>
        <p:txBody>
          <a:bodyPr wrap="square" lIns="0" tIns="0" rIns="0" bIns="0" rtlCol="0" anchor="t"/>
          <a:lstStyle/>
          <a:p>
            <a:pPr algn="l" indent="0" marL="0">
              <a:buNone/>
            </a:pPr>
            <a:r>
              <a:rPr lang="en-US" sz="3400" b="1" dirty="0">
                <a:solidFill>
                  <a:schemeClr val="accent2"/>
                </a:solidFill>
                <a:latin typeface="Cambria" pitchFamily="34" charset="0"/>
                <a:ea typeface="Cambria" pitchFamily="34" charset="-122"/>
                <a:cs typeface="Cambria" pitchFamily="34" charset="-120"/>
              </a:rPr>
              <a:t>I = 0.44</a:t>
            </a:r>
            <a:endParaRPr lang="en-US" sz="3400" dirty="0"/>
          </a:p>
        </p:txBody>
      </p:sp>
      <p:sp>
        <p:nvSpPr>
          <p:cNvPr id="5" name="Text 2"/>
          <p:cNvSpPr txBox="1"/>
          <p:nvPr/>
        </p:nvSpPr>
        <p:spPr>
          <a:xfrm>
            <a:off x="5577840" y="1508760"/>
            <a:ext cx="3200400" cy="502920"/>
          </a:xfrm>
          <a:prstGeom prst="rect">
            <a:avLst/>
          </a:prstGeom>
          <a:noFill/>
          <a:ln/>
        </p:spPr>
        <p:txBody>
          <a:bodyPr wrap="square" lIns="0" tIns="0" rIns="0" bIns="0" rtlCol="0" anchor="t"/>
          <a:lstStyle/>
          <a:p>
            <a:pPr indent="0" marL="0">
              <a:buNone/>
            </a:pPr>
            <a:r>
              <a:rPr lang="en-US" sz="1100" dirty="0">
                <a:solidFill>
                  <a:schemeClr val="accent6"/>
                </a:solidFill>
              </a:rPr>
              <a:t>Global Moran’s I of severity index (z = 5.84, p &lt; 0.001)</a:t>
            </a:r>
            <a:endParaRPr lang="en-US" sz="1100" dirty="0"/>
          </a:p>
        </p:txBody>
      </p:sp>
      <p:graphicFrame>
        <p:nvGraphicFramePr>
          <p:cNvPr id="6" name="Chart 0" descr=""/>
          <p:cNvGraphicFramePr/>
          <p:nvPr/>
        </p:nvGraphicFramePr>
        <p:xfrm>
          <a:off x="5486400" y="2011680"/>
          <a:ext cx="3291840" cy="164592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457200" y="4206240"/>
            <a:ext cx="8229600" cy="548640"/>
          </a:xfrm>
          <a:prstGeom prst="rect">
            <a:avLst/>
          </a:prstGeom>
          <a:noFill/>
          <a:ln/>
        </p:spPr>
        <p:txBody>
          <a:bodyPr wrap="square" lIns="635" tIns="635" rIns="635" bIns="635" rtlCol="0" anchor="t"/>
          <a:lstStyle/>
          <a:p>
            <a:pPr indent="0" marL="0">
              <a:buNone/>
            </a:pPr>
            <a:r>
              <a:rPr lang="en-US" sz="1150" b="1" dirty="0">
                <a:solidFill>
                  <a:schemeClr val="tx1"/>
                </a:solidFill>
              </a:rPr>
              <a:t>9 hotspots: </a:t>
            </a:r>
            <a:pPr indent="0" marL="0">
              <a:buNone/>
            </a:pPr>
            <a:r>
              <a:rPr lang="en-US" sz="1150" dirty="0">
                <a:solidFill>
                  <a:schemeClr val="tx1"/>
                </a:solidFill>
              </a:rPr>
              <a:t>Lampang, Uttaradit, Phrae, Phayao, Chiang Rai, Kamphaeng Phet, Tak, Sukhothai, Phetchabun</a:t>
            </a:r>
            <a:pPr indent="0" marL="0">
              <a:buNone/>
            </a:pPr>
            <a:r>
              <a:rPr lang="en-US" sz="1150" b="1" dirty="0">
                <a:solidFill>
                  <a:schemeClr val="tx1"/>
                </a:solidFill>
              </a:rPr>
              <a:t>  ·  12 coldspots: </a:t>
            </a:r>
            <a:pPr indent="0" marL="0">
              <a:buNone/>
            </a:pPr>
            <a:r>
              <a:rPr lang="en-US" sz="1150" dirty="0">
                <a:solidFill>
                  <a:schemeClr val="tx1"/>
                </a:solidFill>
              </a:rPr>
              <a:t>Bangkok metro, Mekong NE, west coast</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Demo: Python notebook pipeline</a:t>
            </a:r>
            <a:endParaRPr lang="en-US" sz="2800" dirty="0"/>
          </a:p>
        </p:txBody>
      </p:sp>
      <p:sp>
        <p:nvSpPr>
          <p:cNvPr id="3" name="Shape 1"/>
          <p:cNvSpPr/>
          <p:nvPr/>
        </p:nvSpPr>
        <p:spPr>
          <a:xfrm>
            <a:off x="457200" y="1005840"/>
            <a:ext cx="5120640" cy="3108960"/>
          </a:xfrm>
          <a:prstGeom prst="roundRect">
            <a:avLst>
              <a:gd name="adj" fmla="val 2353"/>
            </a:avLst>
          </a:prstGeom>
          <a:solidFill>
            <a:srgbClr val="1B2631"/>
          </a:solidFill>
          <a:ln w="12700">
            <a:solidFill>
              <a:srgbClr val="1B2631"/>
            </a:solidFill>
            <a:prstDash val="solid"/>
          </a:ln>
        </p:spPr>
      </p:sp>
      <p:sp>
        <p:nvSpPr>
          <p:cNvPr id="4" name="Text 2"/>
          <p:cNvSpPr txBox="1"/>
          <p:nvPr/>
        </p:nvSpPr>
        <p:spPr>
          <a:xfrm>
            <a:off x="594360" y="1097280"/>
            <a:ext cx="4892040" cy="2926080"/>
          </a:xfrm>
          <a:prstGeom prst="rect">
            <a:avLst/>
          </a:prstGeom>
          <a:noFill/>
          <a:ln/>
        </p:spPr>
        <p:txBody>
          <a:bodyPr wrap="square" lIns="635" tIns="635" rIns="635" bIns="635" rtlCol="0" anchor="t"/>
          <a:lstStyle/>
          <a:p>
            <a:pPr indent="0" marL="0">
              <a:buNone/>
            </a:pPr>
            <a:r>
              <a:rPr lang="en-US" sz="1100" dirty="0">
                <a:solidFill>
                  <a:srgbClr val="D5F5E3"/>
                </a:solidFill>
                <a:latin typeface="Courier New" pitchFamily="34" charset="0"/>
                <a:ea typeface="Courier New" pitchFamily="34" charset="-122"/>
                <a:cs typeface="Courier New" pitchFamily="34" charset="-120"/>
              </a:rPr>
              <a:t>py = build_dataset.main()   # 462 province-years</a:t>
            </a:r>
            <a:endParaRPr lang="en-US" sz="1100" dirty="0"/>
          </a:p>
          <a:p>
            <a:pPr indent="0" marL="0">
              <a:buNone/>
            </a:pPr>
            <a:r>
              <a:rPr lang="en-US" sz="1100" dirty="0">
                <a:solidFill>
                  <a:srgbClr val="D5F5E3"/>
                </a:solidFill>
                <a:latin typeface="Courier New" pitchFamily="34" charset="0"/>
                <a:ea typeface="Courier New" pitchFamily="34" charset="-122"/>
                <a:cs typeface="Courier New" pitchFamily="34" charset="-120"/>
              </a:rPr>
              <a:t>Z = StandardScaler().fit_transform(np.log1p(F))</a:t>
            </a:r>
            <a:endParaRPr lang="en-US" sz="1100" dirty="0"/>
          </a:p>
          <a:p>
            <a:pPr indent="0" marL="0">
              <a:buNone/>
            </a:pPr>
            <a:r>
              <a:rPr lang="en-US" sz="1100" dirty="0">
                <a:solidFill>
                  <a:srgbClr val="D5F5E3"/>
                </a:solidFill>
                <a:latin typeface="Courier New" pitchFamily="34" charset="0"/>
                <a:ea typeface="Courier New" pitchFamily="34" charset="-122"/>
                <a:cs typeface="Courier New" pitchFamily="34" charset="-120"/>
              </a:rPr>
              <a:t>P = PCA(n_components=5).fit_transform(Z)</a:t>
            </a:r>
            <a:endParaRPr lang="en-US" sz="1100" dirty="0"/>
          </a:p>
          <a:p>
            <a:pPr indent="0" marL="0">
              <a:buNone/>
            </a:pPr>
            <a:r>
              <a:rPr lang="en-US" sz="1100" dirty="0">
                <a:solidFill>
                  <a:srgbClr val="D5F5E3"/>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5F5E3"/>
                </a:solidFill>
                <a:latin typeface="Courier New" pitchFamily="34" charset="0"/>
                <a:ea typeface="Courier New" pitchFamily="34" charset="-122"/>
                <a:cs typeface="Courier New" pitchFamily="34" charset="-120"/>
              </a:rPr>
              <a:t>km = KMeans(4, n_init=50).fit(P)</a:t>
            </a:r>
            <a:endParaRPr lang="en-US" sz="1100" dirty="0"/>
          </a:p>
          <a:p>
            <a:pPr indent="0" marL="0">
              <a:buNone/>
            </a:pPr>
            <a:r>
              <a:rPr lang="en-US" sz="1100" dirty="0">
                <a:solidFill>
                  <a:srgbClr val="D5F5E3"/>
                </a:solidFill>
                <a:latin typeface="Courier New" pitchFamily="34" charset="0"/>
                <a:ea typeface="Courier New" pitchFamily="34" charset="-122"/>
                <a:cs typeface="Courier New" pitchFamily="34" charset="-120"/>
              </a:rPr>
              <a:t>hd = HDBSCAN(min_cluster_size=3, min_samples=2).fit(P)</a:t>
            </a:r>
            <a:endParaRPr lang="en-US" sz="1100" dirty="0"/>
          </a:p>
          <a:p>
            <a:pPr indent="0" marL="0">
              <a:buNone/>
            </a:pPr>
            <a:r>
              <a:rPr lang="en-US" sz="1100" dirty="0">
                <a:solidFill>
                  <a:srgbClr val="D5F5E3"/>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5F5E3"/>
                </a:solidFill>
                <a:latin typeface="Courier New" pitchFamily="34" charset="0"/>
                <a:ea typeface="Courier New" pitchFamily="34" charset="-122"/>
                <a:cs typeface="Courier New" pitchFamily="34" charset="-120"/>
              </a:rPr>
              <a:t>w  = Queen.from_dataframe(provinces); w.transform = 'r'</a:t>
            </a:r>
            <a:endParaRPr lang="en-US" sz="1100" dirty="0"/>
          </a:p>
          <a:p>
            <a:pPr indent="0" marL="0">
              <a:buNone/>
            </a:pPr>
            <a:r>
              <a:rPr lang="en-US" sz="1100" dirty="0">
                <a:solidFill>
                  <a:srgbClr val="D5F5E3"/>
                </a:solidFill>
                <a:latin typeface="Courier New" pitchFamily="34" charset="0"/>
                <a:ea typeface="Courier New" pitchFamily="34" charset="-122"/>
                <a:cs typeface="Courier New" pitchFamily="34" charset="-120"/>
              </a:rPr>
              <a:t>mi   = Moran(severity, w, permutations=9999)</a:t>
            </a:r>
            <a:endParaRPr lang="en-US" sz="1100" dirty="0"/>
          </a:p>
          <a:p>
            <a:pPr indent="0" marL="0">
              <a:buNone/>
            </a:pPr>
            <a:r>
              <a:rPr lang="en-US" sz="1100" dirty="0">
                <a:solidFill>
                  <a:srgbClr val="D5F5E3"/>
                </a:solidFill>
                <a:latin typeface="Courier New" pitchFamily="34" charset="0"/>
                <a:ea typeface="Courier New" pitchFamily="34" charset="-122"/>
                <a:cs typeface="Courier New" pitchFamily="34" charset="-120"/>
              </a:rPr>
              <a:t>lisa = Moran_Local(severity, w, permutations=9999)</a:t>
            </a:r>
            <a:endParaRPr lang="en-US" sz="1100" dirty="0"/>
          </a:p>
        </p:txBody>
      </p:sp>
      <p:sp>
        <p:nvSpPr>
          <p:cNvPr id="5" name="Text 3"/>
          <p:cNvSpPr txBox="1"/>
          <p:nvPr/>
        </p:nvSpPr>
        <p:spPr>
          <a:xfrm>
            <a:off x="5760720" y="1005840"/>
            <a:ext cx="3017520" cy="3200400"/>
          </a:xfrm>
          <a:prstGeom prst="rect">
            <a:avLst/>
          </a:prstGeom>
          <a:noFill/>
          <a:ln/>
        </p:spPr>
        <p:txBody>
          <a:bodyPr wrap="square" lIns="635" tIns="635" rIns="635" bIns="635" rtlCol="0" anchor="t"/>
          <a:lstStyle/>
          <a:p>
            <a:pPr marL="342900" indent="-342900">
              <a:buSzPct val="100000"/>
              <a:buChar char="•"/>
            </a:pPr>
            <a:r>
              <a:rPr lang="en-US" sz="1250" b="1" dirty="0">
                <a:solidFill>
                  <a:schemeClr val="tx1"/>
                </a:solidFill>
              </a:rPr>
              <a:t>src/build_dataset.py </a:t>
            </a:r>
            <a:pPr indent="0" marL="0">
              <a:spcAft>
                <a:spcPts val="600"/>
              </a:spcAft>
              <a:buNone/>
            </a:pPr>
            <a:r>
              <a:rPr lang="en-US" sz="1250" dirty="0">
                <a:solidFill>
                  <a:schemeClr val="tx1"/>
                </a:solidFill>
              </a:rPr>
              <a:t>– parse, clean, harmonise, join</a:t>
            </a:r>
            <a:endParaRPr lang="en-US" sz="1250" dirty="0"/>
          </a:p>
          <a:p>
            <a:pPr marL="342900" indent="-342900">
              <a:buSzPct val="100000"/>
              <a:buChar char="•"/>
            </a:pPr>
            <a:r>
              <a:rPr lang="en-US" sz="1250" b="1" dirty="0">
                <a:solidFill>
                  <a:schemeClr val="tx1"/>
                </a:solidFill>
              </a:rPr>
              <a:t>flood_analysis.ipynb </a:t>
            </a:r>
            <a:pPr indent="0" marL="0">
              <a:spcAft>
                <a:spcPts val="600"/>
              </a:spcAft>
              <a:buNone/>
            </a:pPr>
            <a:r>
              <a:rPr lang="en-US" sz="1250" dirty="0">
                <a:solidFill>
                  <a:schemeClr val="tx1"/>
                </a:solidFill>
              </a:rPr>
              <a:t>– EDA → preprocessing → clustering → Moran/LISA → evaluation</a:t>
            </a:r>
            <a:endParaRPr lang="en-US" sz="1250" dirty="0"/>
          </a:p>
          <a:p>
            <a:pPr marL="342900" indent="-342900">
              <a:buSzPct val="100000"/>
              <a:buChar char="•"/>
            </a:pPr>
            <a:r>
              <a:rPr lang="en-US" sz="1250" b="1" dirty="0">
                <a:solidFill>
                  <a:schemeClr val="tx1"/>
                </a:solidFill>
              </a:rPr>
              <a:t>Libraries: </a:t>
            </a:r>
            <a:pPr indent="0" marL="0">
              <a:spcAft>
                <a:spcPts val="600"/>
              </a:spcAft>
              <a:buNone/>
            </a:pPr>
            <a:r>
              <a:rPr lang="en-US" sz="1250" dirty="0">
                <a:solidFill>
                  <a:schemeClr val="tx1"/>
                </a:solidFill>
              </a:rPr>
              <a:t>pandas, geopandas, scikit-learn 1.9 (KMeans, HDBSCAN, PCA), PySAL libpysal + esda</a:t>
            </a:r>
            <a:endParaRPr lang="en-US" sz="1250" dirty="0"/>
          </a:p>
          <a:p>
            <a:pPr marL="342900" indent="-342900">
              <a:buSzPct val="100000"/>
              <a:buChar char="•"/>
            </a:pPr>
            <a:r>
              <a:rPr lang="en-US" sz="1250" b="1" dirty="0">
                <a:solidFill>
                  <a:schemeClr val="tx1"/>
                </a:solidFill>
              </a:rPr>
              <a:t>Reproducible: </a:t>
            </a:r>
            <a:pPr indent="0" marL="0">
              <a:spcAft>
                <a:spcPts val="600"/>
              </a:spcAft>
              <a:buNone/>
            </a:pPr>
            <a:r>
              <a:rPr lang="en-US" sz="1250" dirty="0">
                <a:solidFill>
                  <a:schemeClr val="tx1"/>
                </a:solidFill>
              </a:rPr>
              <a:t>raw files + one command; all figures and numbers regenerate</a:t>
            </a:r>
            <a:endParaRPr lang="en-US" sz="1250" dirty="0"/>
          </a:p>
        </p:txBody>
      </p:sp>
      <p:sp>
        <p:nvSpPr>
          <p:cNvPr id="6" name="Text 4"/>
          <p:cNvSpPr txBox="1"/>
          <p:nvPr/>
        </p:nvSpPr>
        <p:spPr>
          <a:xfrm>
            <a:off x="457200" y="4251960"/>
            <a:ext cx="8229600" cy="411480"/>
          </a:xfrm>
          <a:prstGeom prst="rect">
            <a:avLst/>
          </a:prstGeom>
          <a:noFill/>
          <a:ln/>
        </p:spPr>
        <p:txBody>
          <a:bodyPr wrap="square" lIns="635" tIns="635" rIns="635" bIns="635" rtlCol="0" anchor="t"/>
          <a:lstStyle/>
          <a:p>
            <a:pPr indent="0" marL="0">
              <a:buNone/>
            </a:pPr>
            <a:r>
              <a:rPr lang="en-US" sz="1250" dirty="0">
                <a:solidFill>
                  <a:schemeClr val="accent1"/>
                </a:solidFill>
              </a:rPr>
              <a:t>Live demo: run the notebook top-to-bottom (~1 min) and show the cluster + LISA maps.</a:t>
            </a:r>
            <a:endParaRPr lang="en-US" sz="12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Evaluation 1: internal cluster quality</a:t>
            </a:r>
            <a:endParaRPr lang="en-US" sz="2800" dirty="0"/>
          </a:p>
        </p:txBody>
      </p:sp>
      <p:graphicFrame>
        <p:nvGraphicFramePr>
          <p:cNvPr id="15" name="k_table"/>
          <p:cNvGraphicFramePr>
            <a:graphicFrameLocks noGrp="1"/>
          </p:cNvGraphicFramePr>
          <p:nvPr>
            <p:extLst>
              <p:ext uri="{D42A27DB-BD31-4B8C-83A1-F6EECF244321}">
                <p14:modId xmlns:p14="http://schemas.microsoft.com/office/powerpoint/2010/main" val="1579011935"/>
              </p:ext>
            </p:extLst>
          </p:nvPr>
        </p:nvGraphicFramePr>
        <p:xfrm>
          <a:off x="457200" y="1005840"/>
          <a:ext cx="4754880" cy="914400"/>
        </p:xfrm>
        <a:graphic>
          <a:graphicData uri="http://schemas.openxmlformats.org/drawingml/2006/table">
            <a:tbl>
              <a:tblPr/>
              <a:tblGrid>
                <a:gridCol w="457200"/>
                <a:gridCol w="914400"/>
                <a:gridCol w="1051560"/>
                <a:gridCol w="1051560"/>
                <a:gridCol w="1280160"/>
              </a:tblGrid>
              <a:tr h="27432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0B3C5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Silhouette</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0B3C5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Davies–Bouldin</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0B3C5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Smallest cluster</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0B3C5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Seed stability (ARI)</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0B3C5D"/>
                    </a:solidFill>
                  </a:tcPr>
                </a:tc>
              </a:tr>
              <a:tr h="274320">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0.307</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1.229</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0.981</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274320">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0.217</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1.433</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0.886</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274320">
                <a:tc>
                  <a:txBody>
                    <a:bodyPr/>
                    <a:lstStyle/>
                    <a:p>
                      <a:pPr algn="ctr" indent="0" marL="0">
                        <a:buNone/>
                      </a:pPr>
                      <a:r>
                        <a:rPr lang="en-US" sz="1100" b="1" dirty="0">
                          <a:solidFill>
                            <a:srgbClr val="1B2631"/>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D6EAF8"/>
                    </a:solidFill>
                  </a:tcPr>
                </a:tc>
                <a:tc>
                  <a:txBody>
                    <a:bodyPr/>
                    <a:lstStyle/>
                    <a:p>
                      <a:pPr algn="ctr" indent="0" marL="0">
                        <a:buNone/>
                      </a:pPr>
                      <a:r>
                        <a:rPr lang="en-US" sz="1100" b="1" dirty="0">
                          <a:solidFill>
                            <a:srgbClr val="1B2631"/>
                          </a:solidFill>
                          <a:latin typeface="Calibri" pitchFamily="34" charset="0"/>
                          <a:ea typeface="Calibri" pitchFamily="34" charset="-122"/>
                          <a:cs typeface="Calibri" pitchFamily="34" charset="-120"/>
                        </a:rPr>
                        <a:t>0.223</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D6EAF8"/>
                    </a:solidFill>
                  </a:tcPr>
                </a:tc>
                <a:tc>
                  <a:txBody>
                    <a:bodyPr/>
                    <a:lstStyle/>
                    <a:p>
                      <a:pPr algn="ctr" indent="0" marL="0">
                        <a:buNone/>
                      </a:pPr>
                      <a:r>
                        <a:rPr lang="en-US" sz="1100" b="1" dirty="0">
                          <a:solidFill>
                            <a:srgbClr val="1B2631"/>
                          </a:solidFill>
                          <a:latin typeface="Calibri" pitchFamily="34" charset="0"/>
                          <a:ea typeface="Calibri" pitchFamily="34" charset="-122"/>
                          <a:cs typeface="Calibri" pitchFamily="34" charset="-120"/>
                        </a:rPr>
                        <a:t>1.323</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D6EAF8"/>
                    </a:solidFill>
                  </a:tcPr>
                </a:tc>
                <a:tc>
                  <a:txBody>
                    <a:bodyPr/>
                    <a:lstStyle/>
                    <a:p>
                      <a:pPr algn="ctr" indent="0" marL="0">
                        <a:buNone/>
                      </a:pPr>
                      <a:r>
                        <a:rPr lang="en-US" sz="1100" b="1" dirty="0">
                          <a:solidFill>
                            <a:srgbClr val="1B2631"/>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D6EAF8"/>
                    </a:solidFill>
                  </a:tcPr>
                </a:tc>
                <a:tc>
                  <a:txBody>
                    <a:bodyPr/>
                    <a:lstStyle/>
                    <a:p>
                      <a:pPr algn="ctr" indent="0" marL="0">
                        <a:buNone/>
                      </a:pPr>
                      <a:r>
                        <a:rPr lang="en-US" sz="1100" b="1" dirty="0">
                          <a:solidFill>
                            <a:srgbClr val="1B2631"/>
                          </a:solidFill>
                          <a:latin typeface="Calibri" pitchFamily="34" charset="0"/>
                          <a:ea typeface="Calibri" pitchFamily="34" charset="-122"/>
                          <a:cs typeface="Calibri" pitchFamily="34" charset="-120"/>
                        </a:rPr>
                        <a:t>0.800</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solidFill>
                      <a:srgbClr val="D6EAF8"/>
                    </a:solidFill>
                  </a:tcPr>
                </a:tc>
              </a:tr>
              <a:tr h="274320">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0.200</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1.325</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0.633</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274320">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0.226</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1.179</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0.661</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274320">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0.202</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1.224</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0.692</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r h="274320">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0.225</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1.186</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c>
                  <a:txBody>
                    <a:bodyPr/>
                    <a:lstStyle/>
                    <a:p>
                      <a:pPr algn="ctr" indent="0" marL="0">
                        <a:buNone/>
                      </a:pPr>
                      <a:r>
                        <a:rPr lang="en-US" sz="1100" dirty="0">
                          <a:solidFill>
                            <a:srgbClr val="1B2631"/>
                          </a:solidFill>
                          <a:latin typeface="Calibri" pitchFamily="34" charset="0"/>
                          <a:ea typeface="Calibri" pitchFamily="34" charset="-122"/>
                          <a:cs typeface="Calibri" pitchFamily="34" charset="-120"/>
                        </a:rPr>
                        <a:t>0.670</a:t>
                      </a:r>
                      <a:endParaRPr lang="en-US" sz="1100" dirty="0">
                        <a:latin typeface="Calibri" charset="0"/>
                        <a:ea typeface="Calibri" charset="0"/>
                        <a:cs typeface="Calibri" charset="0"/>
                      </a:endParaRPr>
                    </a:p>
                  </a:txBody>
                  <a:tcPr marL="91440" marR="91440" marT="45720" marB="45720">
                    <a:lnL w="9525" cap="flat" cmpd="sng" algn="ctr">
                      <a:solidFill>
                        <a:srgbClr val="D5DBDB"/>
                      </a:solidFill>
                      <a:prstDash val="solid"/>
                      <a:round/>
                      <a:headEnd type="none" w="med" len="med"/>
                      <a:tailEnd type="none" w="med" len="med"/>
                    </a:lnL>
                    <a:lnR w="9525" cap="flat" cmpd="sng" algn="ctr">
                      <a:solidFill>
                        <a:srgbClr val="D5DBDB"/>
                      </a:solidFill>
                      <a:prstDash val="solid"/>
                      <a:round/>
                      <a:headEnd type="none" w="med" len="med"/>
                      <a:tailEnd type="none" w="med" len="med"/>
                    </a:lnR>
                    <a:lnT w="9525" cap="flat" cmpd="sng" algn="ctr">
                      <a:solidFill>
                        <a:srgbClr val="D5DBDB"/>
                      </a:solidFill>
                      <a:prstDash val="solid"/>
                      <a:round/>
                      <a:headEnd type="none" w="med" len="med"/>
                      <a:tailEnd type="none" w="med" len="med"/>
                    </a:lnT>
                    <a:lnB w="9525" cap="flat" cmpd="sng" algn="ctr">
                      <a:solidFill>
                        <a:srgbClr val="D5DBDB"/>
                      </a:solidFill>
                      <a:prstDash val="solid"/>
                      <a:round/>
                      <a:headEnd type="none" w="med" len="med"/>
                      <a:tailEnd type="none" w="med" len="med"/>
                    </a:lnB>
                  </a:tcPr>
                </a:tc>
              </a:tr>
            </a:tbl>
          </a:graphicData>
        </a:graphic>
      </p:graphicFrame>
      <p:sp>
        <p:nvSpPr>
          <p:cNvPr id="4" name="Text 1"/>
          <p:cNvSpPr txBox="1"/>
          <p:nvPr/>
        </p:nvSpPr>
        <p:spPr>
          <a:xfrm>
            <a:off x="457200" y="3337560"/>
            <a:ext cx="4754880" cy="640080"/>
          </a:xfrm>
          <a:prstGeom prst="rect">
            <a:avLst/>
          </a:prstGeom>
          <a:noFill/>
          <a:ln/>
        </p:spPr>
        <p:txBody>
          <a:bodyPr wrap="square" lIns="635" tIns="635" rIns="635" bIns="635" rtlCol="0" anchor="t"/>
          <a:lstStyle/>
          <a:p>
            <a:pPr indent="0" marL="0">
              <a:buNone/>
            </a:pPr>
            <a:r>
              <a:rPr lang="en-US" sz="1150" dirty="0">
                <a:solidFill>
                  <a:schemeClr val="accent6"/>
                </a:solidFill>
              </a:rPr>
              <a:t>Rule: best silhouette among k ≥ 3 with smallest cluster ≥ 3 and seed-ARI ≥ 0.75 → k = 4 (k = 2 is only 'more vs less flooded').</a:t>
            </a:r>
            <a:endParaRPr lang="en-US" sz="1150" dirty="0"/>
          </a:p>
        </p:txBody>
      </p:sp>
      <p:sp>
        <p:nvSpPr>
          <p:cNvPr id="5" name="Shape 2"/>
          <p:cNvSpPr/>
          <p:nvPr/>
        </p:nvSpPr>
        <p:spPr>
          <a:xfrm>
            <a:off x="5486400" y="1005840"/>
            <a:ext cx="3291840" cy="2971800"/>
          </a:xfrm>
          <a:prstGeom prst="roundRect">
            <a:avLst>
              <a:gd name="adj" fmla="val 2462"/>
            </a:avLst>
          </a:prstGeom>
          <a:solidFill>
            <a:srgbClr val="EAF2F8"/>
          </a:solidFill>
          <a:ln w="12700">
            <a:solidFill>
              <a:srgbClr val="EAF2F8"/>
            </a:solidFill>
            <a:prstDash val="solid"/>
          </a:ln>
        </p:spPr>
      </p:sp>
      <p:sp>
        <p:nvSpPr>
          <p:cNvPr id="6" name="Text 3"/>
          <p:cNvSpPr txBox="1"/>
          <p:nvPr/>
        </p:nvSpPr>
        <p:spPr>
          <a:xfrm>
            <a:off x="5669280" y="1051560"/>
            <a:ext cx="2926080" cy="320040"/>
          </a:xfrm>
          <a:prstGeom prst="rect">
            <a:avLst/>
          </a:prstGeom>
          <a:noFill/>
          <a:ln/>
        </p:spPr>
        <p:txBody>
          <a:bodyPr wrap="square" lIns="635" tIns="635" rIns="635" bIns="635" rtlCol="0" anchor="t"/>
          <a:lstStyle/>
          <a:p>
            <a:pPr indent="0" marL="0">
              <a:buNone/>
            </a:pPr>
            <a:r>
              <a:rPr lang="en-US" sz="1400" b="1" dirty="0">
                <a:solidFill>
                  <a:schemeClr val="tx2"/>
                </a:solidFill>
              </a:rPr>
              <a:t>Final models</a:t>
            </a:r>
            <a:endParaRPr lang="en-US" sz="1400" dirty="0"/>
          </a:p>
        </p:txBody>
      </p:sp>
      <p:graphicFrame>
        <p:nvGraphicFramePr>
          <p:cNvPr id="29" name="final_table"/>
          <p:cNvGraphicFramePr>
            <a:graphicFrameLocks noGrp="1"/>
          </p:cNvGraphicFramePr>
          <p:nvPr>
            <p:extLst>
              <p:ext uri="{D42A27DB-BD31-4B8C-83A1-F6EECF244321}">
                <p14:modId xmlns:p14="http://schemas.microsoft.com/office/powerpoint/2010/main" val="1579011935"/>
              </p:ext>
            </p:extLst>
          </p:nvPr>
        </p:nvGraphicFramePr>
        <p:xfrm>
          <a:off x="5577840" y="1371600"/>
          <a:ext cx="3108960" cy="914400"/>
        </p:xfrm>
        <a:graphic>
          <a:graphicData uri="http://schemas.openxmlformats.org/drawingml/2006/table">
            <a:tbl>
              <a:tblPr/>
              <a:tblGrid>
                <a:gridCol w="1371600"/>
                <a:gridCol w="868680"/>
                <a:gridCol w="868680"/>
              </a:tblGrid>
              <a:tr h="274320">
                <a:tc>
                  <a:txBody>
                    <a:bodyPr/>
                    <a:lstStyle/>
                    <a:p>
                      <a:pPr indent="0" marL="0">
                        <a:buNone/>
                      </a:pP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K-Means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HDBSCAN</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r>
              <a:tr h="274320">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clusters</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r>
              <a:tr h="274320">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noise</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r>
              <a:tr h="274320">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silhouette</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0.223</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0.473</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r>
              <a:tr h="274320">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Davies–B. (lower)</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1.323</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0.574</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r>
              <a:tr h="274320">
                <a:tc>
                  <a:txBody>
                    <a:bodyPr/>
                    <a:lstStyle/>
                    <a:p>
                      <a:pPr indent="0" marL="0">
                        <a:buNone/>
                      </a:pPr>
                      <a:r>
                        <a:rPr lang="en-US" sz="1100" b="1" dirty="0">
                          <a:solidFill>
                            <a:srgbClr val="1B2631"/>
                          </a:solidFill>
                          <a:latin typeface="Calibri" pitchFamily="34" charset="0"/>
                          <a:ea typeface="Calibri" pitchFamily="34" charset="-122"/>
                          <a:cs typeface="Calibri" pitchFamily="34" charset="-120"/>
                        </a:rPr>
                        <a:t>Calinski–H.</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28.18</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100" dirty="0">
                          <a:solidFill>
                            <a:srgbClr val="1B2631"/>
                          </a:solidFill>
                          <a:latin typeface="Calibri" pitchFamily="34" charset="0"/>
                          <a:ea typeface="Calibri" pitchFamily="34" charset="-122"/>
                          <a:cs typeface="Calibri" pitchFamily="34" charset="-120"/>
                        </a:rPr>
                        <a:t>17.86</a:t>
                      </a:r>
                      <a:endParaRPr lang="en-US" sz="11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
        <p:nvSpPr>
          <p:cNvPr id="8" name="Text 4"/>
          <p:cNvSpPr txBox="1"/>
          <p:nvPr/>
        </p:nvSpPr>
        <p:spPr>
          <a:xfrm>
            <a:off x="5669280" y="3246120"/>
            <a:ext cx="2926080" cy="685800"/>
          </a:xfrm>
          <a:prstGeom prst="rect">
            <a:avLst/>
          </a:prstGeom>
          <a:noFill/>
          <a:ln/>
        </p:spPr>
        <p:txBody>
          <a:bodyPr wrap="square" lIns="635" tIns="635" rIns="635" bIns="635" rtlCol="0" anchor="t"/>
          <a:lstStyle/>
          <a:p>
            <a:pPr indent="0" marL="0">
              <a:buNone/>
            </a:pPr>
            <a:r>
              <a:rPr lang="en-US" sz="1150" i="1" dirty="0">
                <a:solidFill>
                  <a:schemeClr val="tx1"/>
                </a:solidFill>
              </a:rPr>
              <a:t>HDBSCAN’s higher silhouette comes from one 71-province cluster – tidy but uninformative.</a:t>
            </a:r>
            <a:endParaRPr lang="en-US" sz="1150" dirty="0"/>
          </a:p>
        </p:txBody>
      </p:sp>
      <p:sp>
        <p:nvSpPr>
          <p:cNvPr id="9" name="Text 5"/>
          <p:cNvSpPr txBox="1"/>
          <p:nvPr/>
        </p:nvSpPr>
        <p:spPr>
          <a:xfrm>
            <a:off x="457200" y="4069080"/>
            <a:ext cx="8229600" cy="457200"/>
          </a:xfrm>
          <a:prstGeom prst="rect">
            <a:avLst/>
          </a:prstGeom>
          <a:noFill/>
          <a:ln/>
        </p:spPr>
        <p:txBody>
          <a:bodyPr wrap="square" lIns="635" tIns="635" rIns="635" bIns="635" rtlCol="0" anchor="t"/>
          <a:lstStyle/>
          <a:p>
            <a:pPr indent="0" marL="0">
              <a:buNone/>
            </a:pPr>
            <a:r>
              <a:rPr lang="en-US" sz="1300" dirty="0">
                <a:solidFill>
                  <a:schemeClr val="accent1"/>
                </a:solidFill>
              </a:rPr>
              <a:t>Silhouette ≈ 0.2 = weak structure: provinces form a gradient, not well-separated groups.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Evaluation 2: agreement with recurrence map</a:t>
            </a:r>
            <a:endParaRPr lang="en-US" sz="2800" dirty="0"/>
          </a:p>
        </p:txBody>
      </p:sp>
      <p:pic>
        <p:nvPicPr>
          <p:cNvPr id="3" name="fig_mismatch" descr="mismatch">    </p:cNvPr>
          <p:cNvPicPr>
            <a:picLocks noChangeAspect="1"/>
          </p:cNvPicPr>
          <p:nvPr/>
        </p:nvPicPr>
        <p:blipFill>
          <a:blip r:embed="rId1"/>
          <a:stretch>
            <a:fillRect/>
          </a:stretch>
        </p:blipFill>
        <p:spPr>
          <a:xfrm>
            <a:off x="274320" y="910518"/>
            <a:ext cx="4754880" cy="2430925"/>
          </a:xfrm>
          <a:prstGeom prst="rect">
            <a:avLst/>
          </a:prstGeom>
        </p:spPr>
      </p:pic>
      <p:graphicFrame>
        <p:nvGraphicFramePr>
          <p:cNvPr id="16" name="ext_table"/>
          <p:cNvGraphicFramePr>
            <a:graphicFrameLocks noGrp="1"/>
          </p:cNvGraphicFramePr>
          <p:nvPr>
            <p:extLst>
              <p:ext uri="{D42A27DB-BD31-4B8C-83A1-F6EECF244321}">
                <p14:modId xmlns:p14="http://schemas.microsoft.com/office/powerpoint/2010/main" val="1579011935"/>
              </p:ext>
            </p:extLst>
          </p:nvPr>
        </p:nvGraphicFramePr>
        <p:xfrm>
          <a:off x="5120640" y="914400"/>
          <a:ext cx="3657600" cy="914400"/>
        </p:xfrm>
        <a:graphic>
          <a:graphicData uri="http://schemas.openxmlformats.org/drawingml/2006/table">
            <a:tbl>
              <a:tblPr/>
              <a:tblGrid>
                <a:gridCol w="1828800"/>
                <a:gridCol w="320040"/>
                <a:gridCol w="411480"/>
                <a:gridCol w="594360"/>
                <a:gridCol w="5029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Flagged provinces vs reference top-25%</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0B3C5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0B3C5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F1</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0B3C5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random F1</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0B3C5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0B3C5D"/>
                    </a:solidFill>
                  </a:tcPr>
                </a:tc>
              </a:tr>
              <a:tr h="274320">
                <a:tc>
                  <a:txBody>
                    <a:bodyPr/>
                    <a:lstStyle/>
                    <a:p>
                      <a:pPr indent="0" marL="0">
                        <a:buNone/>
                      </a:pPr>
                      <a:r>
                        <a:rPr lang="en-US" sz="950" b="1" dirty="0">
                          <a:solidFill>
                            <a:srgbClr val="1B2631"/>
                          </a:solidFill>
                          <a:latin typeface="Calibri" pitchFamily="34" charset="0"/>
                          <a:ea typeface="Calibri" pitchFamily="34" charset="-122"/>
                          <a:cs typeface="Calibri" pitchFamily="34" charset="-120"/>
                        </a:rPr>
                        <a:t>K3 Agricultural basin flooding</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ADBD8"/>
                    </a:solidFill>
                  </a:tcPr>
                </a:tc>
                <a:tc>
                  <a:txBody>
                    <a:bodyPr/>
                    <a:lstStyle/>
                    <a:p>
                      <a:pPr indent="0" marL="0">
                        <a:buNone/>
                      </a:pPr>
                      <a:r>
                        <a:rPr lang="en-US" sz="950" b="1" dirty="0">
                          <a:solidFill>
                            <a:srgbClr val="1B2631"/>
                          </a:solidFill>
                          <a:latin typeface="Calibri" pitchFamily="34" charset="0"/>
                          <a:ea typeface="Calibri" pitchFamily="34" charset="-122"/>
                          <a:cs typeface="Calibri" pitchFamily="34" charset="-120"/>
                        </a:rPr>
                        <a:t>27</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ADBD8"/>
                    </a:solidFill>
                  </a:tcPr>
                </a:tc>
                <a:tc>
                  <a:txBody>
                    <a:bodyPr/>
                    <a:lstStyle/>
                    <a:p>
                      <a:pPr indent="0" marL="0">
                        <a:buNone/>
                      </a:pPr>
                      <a:r>
                        <a:rPr lang="en-US" sz="950" b="1" dirty="0">
                          <a:solidFill>
                            <a:srgbClr val="1B2631"/>
                          </a:solidFill>
                          <a:latin typeface="Calibri" pitchFamily="34" charset="0"/>
                          <a:ea typeface="Calibri" pitchFamily="34" charset="-122"/>
                          <a:cs typeface="Calibri" pitchFamily="34" charset="-120"/>
                        </a:rPr>
                        <a:t>0.51</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ADBD8"/>
                    </a:solidFill>
                  </a:tcPr>
                </a:tc>
                <a:tc>
                  <a:txBody>
                    <a:bodyPr/>
                    <a:lstStyle/>
                    <a:p>
                      <a:pPr indent="0" marL="0">
                        <a:buNone/>
                      </a:pPr>
                      <a:r>
                        <a:rPr lang="en-US" sz="950" b="1" dirty="0">
                          <a:solidFill>
                            <a:srgbClr val="1B2631"/>
                          </a:solidFill>
                          <a:latin typeface="Calibri" pitchFamily="34" charset="0"/>
                          <a:ea typeface="Calibri" pitchFamily="34" charset="-122"/>
                          <a:cs typeface="Calibri" pitchFamily="34" charset="-120"/>
                        </a:rPr>
                        <a:t>0.30</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ADBD8"/>
                    </a:solidFill>
                  </a:tcPr>
                </a:tc>
                <a:tc>
                  <a:txBody>
                    <a:bodyPr/>
                    <a:lstStyle/>
                    <a:p>
                      <a:pPr indent="0" marL="0">
                        <a:buNone/>
                      </a:pPr>
                      <a:r>
                        <a:rPr lang="en-US" sz="950" b="1" dirty="0">
                          <a:solidFill>
                            <a:srgbClr val="1B2631"/>
                          </a:solidFill>
                          <a:latin typeface="Calibri" pitchFamily="34" charset="0"/>
                          <a:ea typeface="Calibri" pitchFamily="34" charset="-122"/>
                          <a:cs typeface="Calibri" pitchFamily="34" charset="-120"/>
                        </a:rPr>
                        <a:t>0.007</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solidFill>
                      <a:srgbClr val="FADBD8"/>
                    </a:solidFill>
                  </a:tcPr>
                </a:tc>
              </a:tr>
              <a:tr h="274320">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K2 Flash-flood / human impact</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16</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0.06</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0.23</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r>
              <a:tr h="274320">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both high-impact clusters</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43</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0.41</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0.35</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0.25</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r>
              <a:tr h="274320">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HDBSCAN top cluster (H1)</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71</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0.37</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0.41</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0.97</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r>
              <a:tr h="274320">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LISA HH hotspots</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0.07</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0.16</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0.94</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r>
              <a:tr h="274320">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Severity index top quartile</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0.25</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0.26</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c>
                  <a:txBody>
                    <a:bodyPr/>
                    <a:lstStyle/>
                    <a:p>
                      <a:pPr indent="0" marL="0">
                        <a:buNone/>
                      </a:pPr>
                      <a:r>
                        <a:rPr lang="en-US" sz="950" dirty="0">
                          <a:solidFill>
                            <a:srgbClr val="1B2631"/>
                          </a:solidFill>
                          <a:latin typeface="Calibri" pitchFamily="34" charset="0"/>
                          <a:ea typeface="Calibri" pitchFamily="34" charset="-122"/>
                          <a:cs typeface="Calibri" pitchFamily="34" charset="-120"/>
                        </a:rPr>
                        <a:t>0.65</a:t>
                      </a:r>
                      <a:endParaRPr lang="en-US" sz="950" dirty="0">
                        <a:latin typeface="Calibri" charset="0"/>
                        <a:ea typeface="Calibri" charset="0"/>
                        <a:cs typeface="Calibri" charset="0"/>
                      </a:endParaRPr>
                    </a:p>
                  </a:txBody>
                  <a:tcPr marL="91440" marR="91440" marT="45720" marB="45720">
                    <a:lnL w="6350" cap="flat" cmpd="sng" algn="ctr">
                      <a:solidFill>
                        <a:srgbClr val="D5DBDB"/>
                      </a:solidFill>
                      <a:prstDash val="solid"/>
                      <a:round/>
                      <a:headEnd type="none" w="med" len="med"/>
                      <a:tailEnd type="none" w="med" len="med"/>
                    </a:lnL>
                    <a:lnR w="6350" cap="flat" cmpd="sng" algn="ctr">
                      <a:solidFill>
                        <a:srgbClr val="D5DBDB"/>
                      </a:solidFill>
                      <a:prstDash val="solid"/>
                      <a:round/>
                      <a:headEnd type="none" w="med" len="med"/>
                      <a:tailEnd type="none" w="med" len="med"/>
                    </a:lnR>
                    <a:lnT w="6350" cap="flat" cmpd="sng" algn="ctr">
                      <a:solidFill>
                        <a:srgbClr val="D5DBDB"/>
                      </a:solidFill>
                      <a:prstDash val="solid"/>
                      <a:round/>
                      <a:headEnd type="none" w="med" len="med"/>
                      <a:tailEnd type="none" w="med" len="med"/>
                    </a:lnT>
                    <a:lnB w="6350" cap="flat" cmpd="sng" algn="ctr">
                      <a:solidFill>
                        <a:srgbClr val="D5DBDB"/>
                      </a:solidFill>
                      <a:prstDash val="solid"/>
                      <a:round/>
                      <a:headEnd type="none" w="med" len="med"/>
                      <a:tailEnd type="none" w="med" len="med"/>
                    </a:lnB>
                  </a:tcPr>
                </a:tc>
              </a:tr>
            </a:tbl>
          </a:graphicData>
        </a:graphic>
      </p:graphicFrame>
      <p:sp>
        <p:nvSpPr>
          <p:cNvPr id="5" name="Text 1"/>
          <p:cNvSpPr txBox="1"/>
          <p:nvPr/>
        </p:nvSpPr>
        <p:spPr>
          <a:xfrm>
            <a:off x="457200" y="3474720"/>
            <a:ext cx="8321040" cy="1280160"/>
          </a:xfrm>
          <a:prstGeom prst="rect">
            <a:avLst/>
          </a:prstGeom>
          <a:noFill/>
          <a:ln/>
        </p:spPr>
        <p:txBody>
          <a:bodyPr wrap="square" lIns="635" tIns="635" rIns="635" bIns="635" rtlCol="0" anchor="t"/>
          <a:lstStyle/>
          <a:p>
            <a:pPr marL="342900" indent="-342900">
              <a:buSzPct val="100000"/>
              <a:buChar char="•"/>
            </a:pPr>
            <a:r>
              <a:rPr lang="en-US" sz="1200" b="1" dirty="0">
                <a:solidFill>
                  <a:schemeClr val="tx1"/>
                </a:solidFill>
              </a:rPr>
              <a:t>Severity vs recurrent share: ρ = 0.03 </a:t>
            </a:r>
            <a:pPr indent="0" marL="0">
              <a:spcAft>
                <a:spcPts val="600"/>
              </a:spcAft>
              <a:buNone/>
            </a:pPr>
            <a:r>
              <a:rPr lang="en-US" sz="1200" dirty="0">
                <a:solidFill>
                  <a:schemeClr val="tx1"/>
                </a:solidFill>
              </a:rPr>
              <a:t>(no overall relation)</a:t>
            </a:r>
            <a:endParaRPr lang="en-US" sz="1200" dirty="0"/>
          </a:p>
          <a:p>
            <a:pPr marL="342900" indent="-342900">
              <a:buSzPct val="100000"/>
              <a:buChar char="•"/>
            </a:pPr>
            <a:r>
              <a:rPr lang="en-US" sz="1200" b="1" dirty="0">
                <a:solidFill>
                  <a:schemeClr val="tx1"/>
                </a:solidFill>
              </a:rPr>
              <a:t>Only the agricultural-basin cluster K3 matches </a:t>
            </a:r>
            <a:pPr indent="0" marL="0">
              <a:spcAft>
                <a:spcPts val="600"/>
              </a:spcAft>
              <a:buNone/>
            </a:pPr>
            <a:r>
              <a:rPr lang="en-US" sz="1200" dirty="0">
                <a:solidFill>
                  <a:schemeClr val="tx1"/>
                </a:solidFill>
              </a:rPr>
              <a:t>(F1 0.51 vs 0.30 random, p = 0.007); Kruskal–Wallis across clusters p = 0.016</a:t>
            </a:r>
            <a:endParaRPr lang="en-US" sz="1200" dirty="0"/>
          </a:p>
          <a:p>
            <a:pPr marL="342900" indent="-342900">
              <a:buSzPct val="100000"/>
              <a:buChar char="•"/>
            </a:pPr>
            <a:r>
              <a:rPr lang="en-US" sz="1200" b="1" dirty="0">
                <a:solidFill>
                  <a:schemeClr val="tx1"/>
                </a:solidFill>
              </a:rPr>
              <a:t>Recurrent-flood hotspots = lower Chao Phraya </a:t>
            </a:r>
            <a:pPr indent="0" marL="0">
              <a:spcAft>
                <a:spcPts val="600"/>
              </a:spcAft>
              <a:buNone/>
            </a:pPr>
            <a:r>
              <a:rPr lang="en-US" sz="1200" dirty="0">
                <a:solidFill>
                  <a:schemeClr val="tx1"/>
                </a:solidFill>
              </a:rPr>
              <a:t>(Bangkok, Pathum Thani, Ayutthaya …) where reported impact is LOW</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Key findings</a:t>
            </a:r>
            <a:endParaRPr lang="en-US" sz="2800" dirty="0"/>
          </a:p>
        </p:txBody>
      </p:sp>
      <p:sp>
        <p:nvSpPr>
          <p:cNvPr id="3" name="Shape 1"/>
          <p:cNvSpPr/>
          <p:nvPr/>
        </p:nvSpPr>
        <p:spPr>
          <a:xfrm>
            <a:off x="457200" y="1005840"/>
            <a:ext cx="4023360" cy="1691640"/>
          </a:xfrm>
          <a:prstGeom prst="roundRect">
            <a:avLst>
              <a:gd name="adj" fmla="val 4324"/>
            </a:avLst>
          </a:prstGeom>
          <a:solidFill>
            <a:srgbClr val="EAF2F8"/>
          </a:solidFill>
          <a:ln w="12700">
            <a:solidFill>
              <a:srgbClr val="EAF2F8"/>
            </a:solidFill>
            <a:prstDash val="solid"/>
          </a:ln>
        </p:spPr>
      </p:sp>
      <p:sp>
        <p:nvSpPr>
          <p:cNvPr id="4" name="Shape 2"/>
          <p:cNvSpPr/>
          <p:nvPr/>
        </p:nvSpPr>
        <p:spPr>
          <a:xfrm>
            <a:off x="594360" y="1143000"/>
            <a:ext cx="411480" cy="411480"/>
          </a:xfrm>
          <a:prstGeom prst="ellipse">
            <a:avLst/>
          </a:prstGeom>
          <a:solidFill>
            <a:srgbClr val="1D7874"/>
          </a:solidFill>
          <a:ln w="12700">
            <a:solidFill>
              <a:srgbClr val="1D7874"/>
            </a:solidFill>
            <a:prstDash val="solid"/>
          </a:ln>
        </p:spPr>
      </p:sp>
      <p:sp>
        <p:nvSpPr>
          <p:cNvPr id="5" name="Text 3"/>
          <p:cNvSpPr txBox="1"/>
          <p:nvPr/>
        </p:nvSpPr>
        <p:spPr>
          <a:xfrm>
            <a:off x="594360" y="11430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143000" y="1143000"/>
            <a:ext cx="3246120" cy="457200"/>
          </a:xfrm>
          <a:prstGeom prst="rect">
            <a:avLst/>
          </a:prstGeom>
          <a:noFill/>
          <a:ln/>
        </p:spPr>
        <p:txBody>
          <a:bodyPr wrap="square" lIns="635" tIns="635" rIns="635" bIns="635" rtlCol="0" anchor="ctr"/>
          <a:lstStyle/>
          <a:p>
            <a:pPr indent="0" marL="0">
              <a:buNone/>
            </a:pPr>
            <a:r>
              <a:rPr lang="en-US" sz="1400" b="1" dirty="0">
                <a:solidFill>
                  <a:schemeClr val="tx2"/>
                </a:solidFill>
              </a:rPr>
              <a:t>Two different flood problems</a:t>
            </a:r>
            <a:endParaRPr lang="en-US" sz="1400" dirty="0"/>
          </a:p>
        </p:txBody>
      </p:sp>
      <p:sp>
        <p:nvSpPr>
          <p:cNvPr id="7" name="Text 5"/>
          <p:cNvSpPr txBox="1"/>
          <p:nvPr/>
        </p:nvSpPr>
        <p:spPr>
          <a:xfrm>
            <a:off x="640080" y="1664208"/>
            <a:ext cx="3703320" cy="1005840"/>
          </a:xfrm>
          <a:prstGeom prst="rect">
            <a:avLst/>
          </a:prstGeom>
          <a:noFill/>
          <a:ln/>
        </p:spPr>
        <p:txBody>
          <a:bodyPr wrap="square" lIns="635" tIns="635" rIns="635" bIns="635" rtlCol="0" anchor="t"/>
          <a:lstStyle/>
          <a:p>
            <a:pPr indent="0" marL="0">
              <a:buNone/>
            </a:pPr>
            <a:r>
              <a:rPr lang="en-US" sz="1200" dirty="0">
                <a:solidFill>
                  <a:schemeClr val="tx1"/>
                </a:solidFill>
              </a:rPr>
              <a:t>Flash floods in the northern uplands &amp; deep south hurt people; basin floods in the NE &amp; lower north hurt farmland.</a:t>
            </a:r>
            <a:endParaRPr lang="en-US" sz="1200" dirty="0"/>
          </a:p>
        </p:txBody>
      </p:sp>
      <p:sp>
        <p:nvSpPr>
          <p:cNvPr id="8" name="Shape 6"/>
          <p:cNvSpPr/>
          <p:nvPr/>
        </p:nvSpPr>
        <p:spPr>
          <a:xfrm>
            <a:off x="4663440" y="1005840"/>
            <a:ext cx="4023360" cy="1691640"/>
          </a:xfrm>
          <a:prstGeom prst="roundRect">
            <a:avLst>
              <a:gd name="adj" fmla="val 4324"/>
            </a:avLst>
          </a:prstGeom>
          <a:solidFill>
            <a:srgbClr val="EAF2F8"/>
          </a:solidFill>
          <a:ln w="12700">
            <a:solidFill>
              <a:srgbClr val="EAF2F8"/>
            </a:solidFill>
            <a:prstDash val="solid"/>
          </a:ln>
        </p:spPr>
      </p:sp>
      <p:sp>
        <p:nvSpPr>
          <p:cNvPr id="9" name="Shape 7"/>
          <p:cNvSpPr/>
          <p:nvPr/>
        </p:nvSpPr>
        <p:spPr>
          <a:xfrm>
            <a:off x="4800600" y="1143000"/>
            <a:ext cx="411480" cy="411480"/>
          </a:xfrm>
          <a:prstGeom prst="ellipse">
            <a:avLst/>
          </a:prstGeom>
          <a:solidFill>
            <a:srgbClr val="1D7874"/>
          </a:solidFill>
          <a:ln w="12700">
            <a:solidFill>
              <a:srgbClr val="1D7874"/>
            </a:solidFill>
            <a:prstDash val="solid"/>
          </a:ln>
        </p:spPr>
      </p:sp>
      <p:sp>
        <p:nvSpPr>
          <p:cNvPr id="10" name="Text 8"/>
          <p:cNvSpPr txBox="1"/>
          <p:nvPr/>
        </p:nvSpPr>
        <p:spPr>
          <a:xfrm>
            <a:off x="4800600" y="11430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5349240" y="1143000"/>
            <a:ext cx="3246120" cy="457200"/>
          </a:xfrm>
          <a:prstGeom prst="rect">
            <a:avLst/>
          </a:prstGeom>
          <a:noFill/>
          <a:ln/>
        </p:spPr>
        <p:txBody>
          <a:bodyPr wrap="square" lIns="635" tIns="635" rIns="635" bIns="635" rtlCol="0" anchor="ctr"/>
          <a:lstStyle/>
          <a:p>
            <a:pPr indent="0" marL="0">
              <a:buNone/>
            </a:pPr>
            <a:r>
              <a:rPr lang="en-US" sz="1400" b="1" dirty="0">
                <a:solidFill>
                  <a:schemeClr val="tx2"/>
                </a:solidFill>
              </a:rPr>
              <a:t>Impact is spatially clustered</a:t>
            </a:r>
            <a:endParaRPr lang="en-US" sz="1400" dirty="0"/>
          </a:p>
        </p:txBody>
      </p:sp>
      <p:sp>
        <p:nvSpPr>
          <p:cNvPr id="12" name="Text 10"/>
          <p:cNvSpPr txBox="1"/>
          <p:nvPr/>
        </p:nvSpPr>
        <p:spPr>
          <a:xfrm>
            <a:off x="4846320" y="1664208"/>
            <a:ext cx="3703320" cy="1005840"/>
          </a:xfrm>
          <a:prstGeom prst="rect">
            <a:avLst/>
          </a:prstGeom>
          <a:noFill/>
          <a:ln/>
        </p:spPr>
        <p:txBody>
          <a:bodyPr wrap="square" lIns="635" tIns="635" rIns="635" bIns="635" rtlCol="0" anchor="t"/>
          <a:lstStyle/>
          <a:p>
            <a:pPr indent="0" marL="0">
              <a:buNone/>
            </a:pPr>
            <a:r>
              <a:rPr lang="en-US" sz="1200" dirty="0">
                <a:solidFill>
                  <a:schemeClr val="tx1"/>
                </a:solidFill>
              </a:rPr>
              <a:t>Moran’s I = 0.44 (p &lt; 0.001), stable every year 2019–2024; 9 northern hotspots.</a:t>
            </a:r>
            <a:endParaRPr lang="en-US" sz="1200" dirty="0"/>
          </a:p>
        </p:txBody>
      </p:sp>
      <p:sp>
        <p:nvSpPr>
          <p:cNvPr id="13" name="Shape 11"/>
          <p:cNvSpPr/>
          <p:nvPr/>
        </p:nvSpPr>
        <p:spPr>
          <a:xfrm>
            <a:off x="457200" y="2834640"/>
            <a:ext cx="4023360" cy="1691640"/>
          </a:xfrm>
          <a:prstGeom prst="roundRect">
            <a:avLst>
              <a:gd name="adj" fmla="val 4324"/>
            </a:avLst>
          </a:prstGeom>
          <a:solidFill>
            <a:srgbClr val="EAF2F8"/>
          </a:solidFill>
          <a:ln w="12700">
            <a:solidFill>
              <a:srgbClr val="EAF2F8"/>
            </a:solidFill>
            <a:prstDash val="solid"/>
          </a:ln>
        </p:spPr>
      </p:sp>
      <p:sp>
        <p:nvSpPr>
          <p:cNvPr id="14" name="Shape 12"/>
          <p:cNvSpPr/>
          <p:nvPr/>
        </p:nvSpPr>
        <p:spPr>
          <a:xfrm>
            <a:off x="594360" y="2971800"/>
            <a:ext cx="411480" cy="411480"/>
          </a:xfrm>
          <a:prstGeom prst="ellipse">
            <a:avLst/>
          </a:prstGeom>
          <a:solidFill>
            <a:srgbClr val="1D7874"/>
          </a:solidFill>
          <a:ln w="12700">
            <a:solidFill>
              <a:srgbClr val="1D7874"/>
            </a:solidFill>
            <a:prstDash val="solid"/>
          </a:ln>
        </p:spPr>
      </p:sp>
      <p:sp>
        <p:nvSpPr>
          <p:cNvPr id="15" name="Text 13"/>
          <p:cNvSpPr txBox="1"/>
          <p:nvPr/>
        </p:nvSpPr>
        <p:spPr>
          <a:xfrm>
            <a:off x="594360" y="29718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143000" y="2971800"/>
            <a:ext cx="3246120" cy="457200"/>
          </a:xfrm>
          <a:prstGeom prst="rect">
            <a:avLst/>
          </a:prstGeom>
          <a:noFill/>
          <a:ln/>
        </p:spPr>
        <p:txBody>
          <a:bodyPr wrap="square" lIns="635" tIns="635" rIns="635" bIns="635" rtlCol="0" anchor="ctr"/>
          <a:lstStyle/>
          <a:p>
            <a:pPr indent="0" marL="0">
              <a:buNone/>
            </a:pPr>
            <a:r>
              <a:rPr lang="en-US" sz="1400" b="1" dirty="0">
                <a:solidFill>
                  <a:schemeClr val="tx2"/>
                </a:solidFill>
              </a:rPr>
              <a:t>Where water recurs ≠ where damage is reported</a:t>
            </a:r>
            <a:endParaRPr lang="en-US" sz="1400" dirty="0"/>
          </a:p>
        </p:txBody>
      </p:sp>
      <p:sp>
        <p:nvSpPr>
          <p:cNvPr id="17" name="Text 15"/>
          <p:cNvSpPr txBox="1"/>
          <p:nvPr/>
        </p:nvSpPr>
        <p:spPr>
          <a:xfrm>
            <a:off x="640080" y="3493008"/>
            <a:ext cx="3703320" cy="1005840"/>
          </a:xfrm>
          <a:prstGeom prst="rect">
            <a:avLst/>
          </a:prstGeom>
          <a:noFill/>
          <a:ln/>
        </p:spPr>
        <p:txBody>
          <a:bodyPr wrap="square" lIns="635" tIns="635" rIns="635" bIns="635" rtlCol="0" anchor="t"/>
          <a:lstStyle/>
          <a:p>
            <a:pPr indent="0" marL="0">
              <a:buNone/>
            </a:pPr>
            <a:r>
              <a:rPr lang="en-US" sz="1200" dirty="0">
                <a:solidFill>
                  <a:schemeClr val="tx1"/>
                </a:solidFill>
              </a:rPr>
              <a:t>The lower Chao Phraya floods most often but reports little impact – protection works or under-reporting; only the farmland cluster matches the recurrence map.</a:t>
            </a:r>
            <a:endParaRPr lang="en-US" sz="1200" dirty="0"/>
          </a:p>
        </p:txBody>
      </p:sp>
      <p:sp>
        <p:nvSpPr>
          <p:cNvPr id="18" name="Shape 16"/>
          <p:cNvSpPr/>
          <p:nvPr/>
        </p:nvSpPr>
        <p:spPr>
          <a:xfrm>
            <a:off x="4663440" y="2834640"/>
            <a:ext cx="4023360" cy="1691640"/>
          </a:xfrm>
          <a:prstGeom prst="roundRect">
            <a:avLst>
              <a:gd name="adj" fmla="val 4324"/>
            </a:avLst>
          </a:prstGeom>
          <a:solidFill>
            <a:srgbClr val="EAF2F8"/>
          </a:solidFill>
          <a:ln w="12700">
            <a:solidFill>
              <a:srgbClr val="EAF2F8"/>
            </a:solidFill>
            <a:prstDash val="solid"/>
          </a:ln>
        </p:spPr>
      </p:sp>
      <p:sp>
        <p:nvSpPr>
          <p:cNvPr id="19" name="Shape 17"/>
          <p:cNvSpPr/>
          <p:nvPr/>
        </p:nvSpPr>
        <p:spPr>
          <a:xfrm>
            <a:off x="4800600" y="2971800"/>
            <a:ext cx="411480" cy="411480"/>
          </a:xfrm>
          <a:prstGeom prst="ellipse">
            <a:avLst/>
          </a:prstGeom>
          <a:solidFill>
            <a:srgbClr val="1D7874"/>
          </a:solidFill>
          <a:ln w="12700">
            <a:solidFill>
              <a:srgbClr val="1D7874"/>
            </a:solidFill>
            <a:prstDash val="solid"/>
          </a:ln>
        </p:spPr>
      </p:sp>
      <p:sp>
        <p:nvSpPr>
          <p:cNvPr id="20" name="Text 18"/>
          <p:cNvSpPr txBox="1"/>
          <p:nvPr/>
        </p:nvSpPr>
        <p:spPr>
          <a:xfrm>
            <a:off x="4800600" y="29718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5349240" y="2971800"/>
            <a:ext cx="3246120" cy="457200"/>
          </a:xfrm>
          <a:prstGeom prst="rect">
            <a:avLst/>
          </a:prstGeom>
          <a:noFill/>
          <a:ln/>
        </p:spPr>
        <p:txBody>
          <a:bodyPr wrap="square" lIns="635" tIns="635" rIns="635" bIns="635" rtlCol="0" anchor="ctr"/>
          <a:lstStyle/>
          <a:p>
            <a:pPr indent="0" marL="0">
              <a:buNone/>
            </a:pPr>
            <a:r>
              <a:rPr lang="en-US" sz="1400" b="1" dirty="0">
                <a:solidFill>
                  <a:schemeClr val="tx2"/>
                </a:solidFill>
              </a:rPr>
              <a:t>Data preparation was most of the work</a:t>
            </a:r>
            <a:endParaRPr lang="en-US" sz="1400" dirty="0"/>
          </a:p>
        </p:txBody>
      </p:sp>
      <p:sp>
        <p:nvSpPr>
          <p:cNvPr id="22" name="Text 20"/>
          <p:cNvSpPr txBox="1"/>
          <p:nvPr/>
        </p:nvSpPr>
        <p:spPr>
          <a:xfrm>
            <a:off x="4846320" y="3493008"/>
            <a:ext cx="3703320" cy="1005840"/>
          </a:xfrm>
          <a:prstGeom prst="rect">
            <a:avLst/>
          </a:prstGeom>
          <a:noFill/>
          <a:ln/>
        </p:spPr>
        <p:txBody>
          <a:bodyPr wrap="square" lIns="635" tIns="635" rIns="635" bIns="635" rtlCol="0" anchor="t"/>
          <a:lstStyle/>
          <a:p>
            <a:pPr indent="0" marL="0">
              <a:buNone/>
            </a:pPr>
            <a:r>
              <a:rPr lang="en-US" sz="1200" dirty="0">
                <a:solidFill>
                  <a:schemeClr val="tx1"/>
                </a:solidFill>
              </a:rPr>
              <a:t>Without removing 144 subtotal rows and harmonising 6 schemas, every total would be double-counted.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Possible applications</a:t>
            </a:r>
            <a:endParaRPr lang="en-US" sz="2800" dirty="0"/>
          </a:p>
        </p:txBody>
      </p:sp>
      <p:sp>
        <p:nvSpPr>
          <p:cNvPr id="3" name="Shape 1"/>
          <p:cNvSpPr/>
          <p:nvPr/>
        </p:nvSpPr>
        <p:spPr>
          <a:xfrm>
            <a:off x="457200" y="1005840"/>
            <a:ext cx="8229600" cy="804672"/>
          </a:xfrm>
          <a:prstGeom prst="roundRect">
            <a:avLst>
              <a:gd name="adj" fmla="val 9091"/>
            </a:avLst>
          </a:prstGeom>
          <a:solidFill>
            <a:srgbClr val="EAF2F8"/>
          </a:solidFill>
          <a:ln w="12700">
            <a:solidFill>
              <a:srgbClr val="EAF2F8"/>
            </a:solidFill>
            <a:prstDash val="solid"/>
          </a:ln>
        </p:spPr>
      </p:sp>
      <p:sp>
        <p:nvSpPr>
          <p:cNvPr id="4" name="Text 2"/>
          <p:cNvSpPr txBox="1"/>
          <p:nvPr/>
        </p:nvSpPr>
        <p:spPr>
          <a:xfrm>
            <a:off x="640080" y="1078992"/>
            <a:ext cx="2377440" cy="658368"/>
          </a:xfrm>
          <a:prstGeom prst="rect">
            <a:avLst/>
          </a:prstGeom>
          <a:noFill/>
          <a:ln/>
        </p:spPr>
        <p:txBody>
          <a:bodyPr wrap="square" lIns="635" tIns="635" rIns="635" bIns="635" rtlCol="0" anchor="ctr"/>
          <a:lstStyle/>
          <a:p>
            <a:pPr indent="0" marL="0">
              <a:buNone/>
            </a:pPr>
            <a:r>
              <a:rPr lang="en-US" sz="1400" b="1" dirty="0">
                <a:solidFill>
                  <a:schemeClr val="tx2"/>
                </a:solidFill>
              </a:rPr>
              <a:t>Targeted preparedness</a:t>
            </a:r>
            <a:endParaRPr lang="en-US" sz="1400" dirty="0"/>
          </a:p>
        </p:txBody>
      </p:sp>
      <p:sp>
        <p:nvSpPr>
          <p:cNvPr id="5" name="Text 3"/>
          <p:cNvSpPr txBox="1"/>
          <p:nvPr/>
        </p:nvSpPr>
        <p:spPr>
          <a:xfrm>
            <a:off x="3017520" y="1078992"/>
            <a:ext cx="5532120" cy="658368"/>
          </a:xfrm>
          <a:prstGeom prst="rect">
            <a:avLst/>
          </a:prstGeom>
          <a:noFill/>
          <a:ln/>
        </p:spPr>
        <p:txBody>
          <a:bodyPr wrap="square" lIns="635" tIns="635" rIns="635" bIns="635" rtlCol="0" anchor="ctr"/>
          <a:lstStyle/>
          <a:p>
            <a:pPr indent="0" marL="0">
              <a:buNone/>
            </a:pPr>
            <a:r>
              <a:rPr lang="en-US" sz="1250" dirty="0">
                <a:solidFill>
                  <a:schemeClr val="tx1"/>
                </a:solidFill>
              </a:rPr>
              <a:t>K2 flash-flood provinces: early-warning &amp; evacuation; K3 basin provinces: crop insurance, drainage, farmer compensation</a:t>
            </a:r>
            <a:endParaRPr lang="en-US" sz="1250" dirty="0"/>
          </a:p>
        </p:txBody>
      </p:sp>
      <p:sp>
        <p:nvSpPr>
          <p:cNvPr id="6" name="Shape 4"/>
          <p:cNvSpPr/>
          <p:nvPr/>
        </p:nvSpPr>
        <p:spPr>
          <a:xfrm>
            <a:off x="457200" y="1920240"/>
            <a:ext cx="8229600" cy="804672"/>
          </a:xfrm>
          <a:prstGeom prst="roundRect">
            <a:avLst>
              <a:gd name="adj" fmla="val 9091"/>
            </a:avLst>
          </a:prstGeom>
          <a:solidFill>
            <a:srgbClr val="EAF2F8"/>
          </a:solidFill>
          <a:ln w="12700">
            <a:solidFill>
              <a:srgbClr val="EAF2F8"/>
            </a:solidFill>
            <a:prstDash val="solid"/>
          </a:ln>
        </p:spPr>
      </p:sp>
      <p:sp>
        <p:nvSpPr>
          <p:cNvPr id="7" name="Text 5"/>
          <p:cNvSpPr txBox="1"/>
          <p:nvPr/>
        </p:nvSpPr>
        <p:spPr>
          <a:xfrm>
            <a:off x="640080" y="1993392"/>
            <a:ext cx="2377440" cy="658368"/>
          </a:xfrm>
          <a:prstGeom prst="rect">
            <a:avLst/>
          </a:prstGeom>
          <a:noFill/>
          <a:ln/>
        </p:spPr>
        <p:txBody>
          <a:bodyPr wrap="square" lIns="635" tIns="635" rIns="635" bIns="635" rtlCol="0" anchor="ctr"/>
          <a:lstStyle/>
          <a:p>
            <a:pPr indent="0" marL="0">
              <a:buNone/>
            </a:pPr>
            <a:r>
              <a:rPr lang="en-US" sz="1400" b="1" dirty="0">
                <a:solidFill>
                  <a:schemeClr val="tx2"/>
                </a:solidFill>
              </a:rPr>
              <a:t>Budget allocation</a:t>
            </a:r>
            <a:endParaRPr lang="en-US" sz="1400" dirty="0"/>
          </a:p>
        </p:txBody>
      </p:sp>
      <p:sp>
        <p:nvSpPr>
          <p:cNvPr id="8" name="Text 6"/>
          <p:cNvSpPr txBox="1"/>
          <p:nvPr/>
        </p:nvSpPr>
        <p:spPr>
          <a:xfrm>
            <a:off x="3017520" y="1993392"/>
            <a:ext cx="5532120" cy="658368"/>
          </a:xfrm>
          <a:prstGeom prst="rect">
            <a:avLst/>
          </a:prstGeom>
          <a:noFill/>
          <a:ln/>
        </p:spPr>
        <p:txBody>
          <a:bodyPr wrap="square" lIns="635" tIns="635" rIns="635" bIns="635" rtlCol="0" anchor="ctr"/>
          <a:lstStyle/>
          <a:p>
            <a:pPr indent="0" marL="0">
              <a:buNone/>
            </a:pPr>
            <a:r>
              <a:rPr lang="en-US" sz="1250" dirty="0">
                <a:solidFill>
                  <a:schemeClr val="tx1"/>
                </a:solidFill>
              </a:rPr>
              <a:t>Use the severity index + LISA hotspots to prioritise DDPM disaster-relief budgets by region rather than province by province</a:t>
            </a:r>
            <a:endParaRPr lang="en-US" sz="1250" dirty="0"/>
          </a:p>
        </p:txBody>
      </p:sp>
      <p:sp>
        <p:nvSpPr>
          <p:cNvPr id="9" name="Shape 7"/>
          <p:cNvSpPr/>
          <p:nvPr/>
        </p:nvSpPr>
        <p:spPr>
          <a:xfrm>
            <a:off x="457200" y="2834640"/>
            <a:ext cx="8229600" cy="804672"/>
          </a:xfrm>
          <a:prstGeom prst="roundRect">
            <a:avLst>
              <a:gd name="adj" fmla="val 9091"/>
            </a:avLst>
          </a:prstGeom>
          <a:solidFill>
            <a:srgbClr val="EAF2F8"/>
          </a:solidFill>
          <a:ln w="12700">
            <a:solidFill>
              <a:srgbClr val="EAF2F8"/>
            </a:solidFill>
            <a:prstDash val="solid"/>
          </a:ln>
        </p:spPr>
      </p:sp>
      <p:sp>
        <p:nvSpPr>
          <p:cNvPr id="10" name="Text 8"/>
          <p:cNvSpPr txBox="1"/>
          <p:nvPr/>
        </p:nvSpPr>
        <p:spPr>
          <a:xfrm>
            <a:off x="640080" y="2907792"/>
            <a:ext cx="2377440" cy="658368"/>
          </a:xfrm>
          <a:prstGeom prst="rect">
            <a:avLst/>
          </a:prstGeom>
          <a:noFill/>
          <a:ln/>
        </p:spPr>
        <p:txBody>
          <a:bodyPr wrap="square" lIns="635" tIns="635" rIns="635" bIns="635" rtlCol="0" anchor="ctr"/>
          <a:lstStyle/>
          <a:p>
            <a:pPr indent="0" marL="0">
              <a:buNone/>
            </a:pPr>
            <a:r>
              <a:rPr lang="en-US" sz="1400" b="1" dirty="0">
                <a:solidFill>
                  <a:schemeClr val="tx2"/>
                </a:solidFill>
              </a:rPr>
              <a:t>Data-quality audit</a:t>
            </a:r>
            <a:endParaRPr lang="en-US" sz="1400" dirty="0"/>
          </a:p>
        </p:txBody>
      </p:sp>
      <p:sp>
        <p:nvSpPr>
          <p:cNvPr id="11" name="Text 9"/>
          <p:cNvSpPr txBox="1"/>
          <p:nvPr/>
        </p:nvSpPr>
        <p:spPr>
          <a:xfrm>
            <a:off x="3017520" y="2907792"/>
            <a:ext cx="5532120" cy="658368"/>
          </a:xfrm>
          <a:prstGeom prst="rect">
            <a:avLst/>
          </a:prstGeom>
          <a:noFill/>
          <a:ln/>
        </p:spPr>
        <p:txBody>
          <a:bodyPr wrap="square" lIns="635" tIns="635" rIns="635" bIns="635" rtlCol="0" anchor="ctr"/>
          <a:lstStyle/>
          <a:p>
            <a:pPr indent="0" marL="0">
              <a:buNone/>
            </a:pPr>
            <a:r>
              <a:rPr lang="en-US" sz="1250" dirty="0">
                <a:solidFill>
                  <a:schemeClr val="tx1"/>
                </a:solidFill>
              </a:rPr>
              <a:t>'Recurrence-only' provinces and HDBSCAN outliers flag possible under-reporting to check with local offices</a:t>
            </a:r>
            <a:endParaRPr lang="en-US" sz="1250" dirty="0"/>
          </a:p>
        </p:txBody>
      </p:sp>
      <p:sp>
        <p:nvSpPr>
          <p:cNvPr id="12" name="Shape 10"/>
          <p:cNvSpPr/>
          <p:nvPr/>
        </p:nvSpPr>
        <p:spPr>
          <a:xfrm>
            <a:off x="457200" y="3749040"/>
            <a:ext cx="8229600" cy="804672"/>
          </a:xfrm>
          <a:prstGeom prst="roundRect">
            <a:avLst>
              <a:gd name="adj" fmla="val 9091"/>
            </a:avLst>
          </a:prstGeom>
          <a:solidFill>
            <a:srgbClr val="EAF2F8"/>
          </a:solidFill>
          <a:ln w="12700">
            <a:solidFill>
              <a:srgbClr val="EAF2F8"/>
            </a:solidFill>
            <a:prstDash val="solid"/>
          </a:ln>
        </p:spPr>
      </p:sp>
      <p:sp>
        <p:nvSpPr>
          <p:cNvPr id="13" name="Text 11"/>
          <p:cNvSpPr txBox="1"/>
          <p:nvPr/>
        </p:nvSpPr>
        <p:spPr>
          <a:xfrm>
            <a:off x="640080" y="3822192"/>
            <a:ext cx="2377440" cy="658368"/>
          </a:xfrm>
          <a:prstGeom prst="rect">
            <a:avLst/>
          </a:prstGeom>
          <a:noFill/>
          <a:ln/>
        </p:spPr>
        <p:txBody>
          <a:bodyPr wrap="square" lIns="635" tIns="635" rIns="635" bIns="635" rtlCol="0" anchor="ctr"/>
          <a:lstStyle/>
          <a:p>
            <a:pPr indent="0" marL="0">
              <a:buNone/>
            </a:pPr>
            <a:r>
              <a:rPr lang="en-US" sz="1400" b="1" dirty="0">
                <a:solidFill>
                  <a:schemeClr val="tx2"/>
                </a:solidFill>
              </a:rPr>
              <a:t>Monitoring</a:t>
            </a:r>
            <a:endParaRPr lang="en-US" sz="1400" dirty="0"/>
          </a:p>
        </p:txBody>
      </p:sp>
      <p:sp>
        <p:nvSpPr>
          <p:cNvPr id="14" name="Text 12"/>
          <p:cNvSpPr txBox="1"/>
          <p:nvPr/>
        </p:nvSpPr>
        <p:spPr>
          <a:xfrm>
            <a:off x="3017520" y="3822192"/>
            <a:ext cx="5532120" cy="658368"/>
          </a:xfrm>
          <a:prstGeom prst="rect">
            <a:avLst/>
          </a:prstGeom>
          <a:noFill/>
          <a:ln/>
        </p:spPr>
        <p:txBody>
          <a:bodyPr wrap="square" lIns="635" tIns="635" rIns="635" bIns="635" rtlCol="0" anchor="ctr"/>
          <a:lstStyle/>
          <a:p>
            <a:pPr indent="0" marL="0">
              <a:buNone/>
            </a:pPr>
            <a:r>
              <a:rPr lang="en-US" sz="1250" dirty="0">
                <a:solidFill>
                  <a:schemeClr val="tx1"/>
                </a:solidFill>
              </a:rPr>
              <a:t>Re-run yearly as new DDPM data arrives; track whether hotspots move (Moran’s I per year)</a:t>
            </a:r>
            <a:endParaRPr lang="en-US" sz="12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References and data sources</a:t>
            </a:r>
            <a:endParaRPr lang="en-US" sz="2800" dirty="0"/>
          </a:p>
        </p:txBody>
      </p:sp>
      <p:sp>
        <p:nvSpPr>
          <p:cNvPr id="3" name="Text 1"/>
          <p:cNvSpPr txBox="1"/>
          <p:nvPr/>
        </p:nvSpPr>
        <p:spPr>
          <a:xfrm>
            <a:off x="457200" y="960120"/>
            <a:ext cx="8229600" cy="3749040"/>
          </a:xfrm>
          <a:prstGeom prst="rect">
            <a:avLst/>
          </a:prstGeom>
          <a:noFill/>
          <a:ln/>
        </p:spPr>
        <p:txBody>
          <a:bodyPr wrap="square" lIns="635" tIns="635" rIns="635" bIns="635" rtlCol="0" anchor="t"/>
          <a:lstStyle/>
          <a:p>
            <a:pPr marL="342900" indent="-342900">
              <a:spcAft>
                <a:spcPts val="600"/>
              </a:spcAft>
              <a:buSzPct val="100000"/>
              <a:buChar char="•"/>
            </a:pPr>
            <a:r>
              <a:rPr lang="en-US" sz="1150" dirty="0">
                <a:solidFill>
                  <a:schemeClr val="tx1"/>
                </a:solidFill>
              </a:rPr>
              <a:t>DDPM – สถิติรายปีการเกิดอุทกภัย 2562–2567, catalog.disaster.go.th/dataset/dpm-gd027</a:t>
            </a:r>
            <a:endParaRPr lang="en-US" sz="1150" dirty="0"/>
          </a:p>
          <a:p>
            <a:pPr marL="342900" indent="-342900">
              <a:spcAft>
                <a:spcPts val="600"/>
              </a:spcAft>
              <a:buSzPct val="100000"/>
              <a:buChar char="•"/>
            </a:pPr>
            <a:r>
              <a:rPr lang="en-US" sz="1150" dirty="0">
                <a:solidFill>
                  <a:schemeClr val="tx1"/>
                </a:solidFill>
              </a:rPr>
              <a:t>HII / ThaiWater – ปริมาณฝนเชิงพื้นที่รายเดือนรายจังหวัด และค่าเฉลี่ย 30 ปี, data.go.th/dataset/spatial-rain</a:t>
            </a:r>
            <a:endParaRPr lang="en-US" sz="1150" dirty="0"/>
          </a:p>
          <a:p>
            <a:pPr marL="342900" indent="-342900">
              <a:spcAft>
                <a:spcPts val="600"/>
              </a:spcAft>
              <a:buSzPct val="100000"/>
              <a:buChar char="•"/>
            </a:pPr>
            <a:r>
              <a:rPr lang="en-US" sz="1150" dirty="0">
                <a:solidFill>
                  <a:schemeClr val="tx1"/>
                </a:solidFill>
              </a:rPr>
              <a:t>DOPA – สถิติจำนวนประชากร 2562–2567, data.go.th/dataset/dopa-star</a:t>
            </a:r>
            <a:endParaRPr lang="en-US" sz="1150" dirty="0"/>
          </a:p>
          <a:p>
            <a:pPr marL="342900" indent="-342900">
              <a:spcAft>
                <a:spcPts val="600"/>
              </a:spcAft>
              <a:buSzPct val="100000"/>
              <a:buChar char="•"/>
            </a:pPr>
            <a:r>
              <a:rPr lang="en-US" sz="1150" dirty="0">
                <a:solidFill>
                  <a:schemeClr val="tx1"/>
                </a:solidFill>
              </a:rPr>
              <a:t>Land Development Department – สถิติพื้นที่น้ำท่วมซ้ำซากรายตำบล, data.go.th/dataset/ldd_21_04</a:t>
            </a:r>
            <a:endParaRPr lang="en-US" sz="1150" dirty="0"/>
          </a:p>
          <a:p>
            <a:pPr marL="342900" indent="-342900">
              <a:spcAft>
                <a:spcPts val="600"/>
              </a:spcAft>
              <a:buSzPct val="100000"/>
              <a:buChar char="•"/>
            </a:pPr>
            <a:r>
              <a:rPr lang="en-US" sz="1150" dirty="0">
                <a:solidFill>
                  <a:schemeClr val="tx1"/>
                </a:solidFill>
              </a:rPr>
              <a:t>Province boundaries – github.com/chingchai/OpenGISData-Thailand</a:t>
            </a:r>
            <a:endParaRPr lang="en-US" sz="1150" dirty="0"/>
          </a:p>
          <a:p>
            <a:pPr marL="342900" indent="-342900">
              <a:spcAft>
                <a:spcPts val="600"/>
              </a:spcAft>
              <a:buSzPct val="100000"/>
              <a:buChar char="•"/>
            </a:pPr>
            <a:r>
              <a:rPr lang="en-US" sz="1150" dirty="0">
                <a:solidFill>
                  <a:schemeClr val="tx1"/>
                </a:solidFill>
              </a:rPr>
              <a:t>Campello, Moulavi &amp; Sander (2013). Density-based clustering based on hierarchical density estimates. PAKDD.</a:t>
            </a:r>
            <a:endParaRPr lang="en-US" sz="1150" dirty="0"/>
          </a:p>
          <a:p>
            <a:pPr marL="342900" indent="-342900">
              <a:spcAft>
                <a:spcPts val="600"/>
              </a:spcAft>
              <a:buSzPct val="100000"/>
              <a:buChar char="•"/>
            </a:pPr>
            <a:r>
              <a:rPr lang="en-US" sz="1150" dirty="0">
                <a:solidFill>
                  <a:schemeClr val="tx1"/>
                </a:solidFill>
              </a:rPr>
              <a:t>Anselin, L. (1995). Local Indicators of Spatial Association – LISA. Geographical Analysis 27(2).</a:t>
            </a:r>
            <a:endParaRPr lang="en-US" sz="1150" dirty="0"/>
          </a:p>
          <a:p>
            <a:pPr marL="342900" indent="-342900">
              <a:spcAft>
                <a:spcPts val="600"/>
              </a:spcAft>
              <a:buSzPct val="100000"/>
              <a:buChar char="•"/>
            </a:pPr>
            <a:r>
              <a:rPr lang="en-US" sz="1150" dirty="0">
                <a:solidFill>
                  <a:schemeClr val="tx1"/>
                </a:solidFill>
              </a:rPr>
              <a:t>Moran, P.A.P. (1950). Notes on continuous stochastic phenomena. Biometrika 37.</a:t>
            </a:r>
            <a:endParaRPr lang="en-US" sz="1150" dirty="0"/>
          </a:p>
          <a:p>
            <a:pPr marL="342900" indent="-342900">
              <a:spcAft>
                <a:spcPts val="600"/>
              </a:spcAft>
              <a:buSzPct val="100000"/>
              <a:buChar char="•"/>
            </a:pPr>
            <a:r>
              <a:rPr lang="en-US" sz="1150" dirty="0">
                <a:solidFill>
                  <a:schemeClr val="tx1"/>
                </a:solidFill>
              </a:rPr>
              <a:t>Rey &amp; Anselin (2007). PySAL: A Python library of spatial analytical methods. scikit-learn 1.9 documentation.</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Flood Analytics">
  <a:themeElements>
    <a:clrScheme name="Flood Analytics">
      <a:dk1>
        <a:srgbClr val="1B2631"/>
      </a:dk1>
      <a:lt1>
        <a:srgbClr val="FFFFFF"/>
      </a:lt1>
      <a:dk2>
        <a:srgbClr val="0B3C5D"/>
      </a:dk2>
      <a:lt2>
        <a:srgbClr val="EAF2F8"/>
      </a:lt2>
      <a:accent1>
        <a:srgbClr val="1D7874"/>
      </a:accent1>
      <a:accent2>
        <a:srgbClr val="D7191C"/>
      </a:accent2>
      <a:accent3>
        <a:srgbClr val="FDAE61"/>
      </a:accent3>
      <a:accent4>
        <a:srgbClr val="2C7BB6"/>
      </a:accent4>
      <a:accent5>
        <a:srgbClr val="7B3294"/>
      </a:accent5>
      <a:accent6>
        <a:srgbClr val="5D6D7E"/>
      </a:accent6>
      <a:hlink>
        <a:srgbClr val="1D7874"/>
      </a:hlink>
      <a:folHlink>
        <a:srgbClr val="7B3294"/>
      </a:folHlink>
    </a:clrScheme>
    <a:fontScheme name="Flood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Spatial Clustering of Flood Impact in Thailand 2019-2024</dc:title>
  <dc:subject>PptxGenJS Presentation</dc:subject>
  <dc:creator>PptxGenJS</dc:creator>
  <cp:lastModifiedBy>PptxGenJS</cp:lastModifiedBy>
  <cp:revision>1</cp:revision>
  <dcterms:created xsi:type="dcterms:W3CDTF">2026-10-07T08:16:39Z</dcterms:created>
  <dcterms:modified xsi:type="dcterms:W3CDTF">2026-10-07T08:16:39Z</dcterms:modified>
</cp:coreProperties>
</file>